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147482658" r:id="rId5"/>
    <p:sldId id="2147482657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C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21F68-0494-496A-BD4B-43C0DD56B880}" v="32" dt="2025-10-31T21:53:34.360"/>
    <p1510:client id="{F8B6DB93-B16F-4284-82B1-E93DAFE73FFA}" v="1" dt="2025-10-31T23:27:17.724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924" autoAdjust="0"/>
  </p:normalViewPr>
  <p:slideViewPr>
    <p:cSldViewPr snapToGrid="0" showGuides="1">
      <p:cViewPr varScale="1">
        <p:scale>
          <a:sx n="70" d="100"/>
          <a:sy n="70" d="100"/>
        </p:scale>
        <p:origin x="1157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41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FF053D-F28D-430E-0239-CE8ED6566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3971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FF053D-F28D-430E-0239-CE8ED6566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C06DB281-EA53-C29C-C70A-13D0082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1B7B8-2FCE-B823-1046-0985C007FC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0FA015-B515-8D42-24DE-DB142CE72A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313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791592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2FA907-42B9-6FA1-C4DF-A540BFE3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8C3AE-678A-48F5-EE59-84E1AE2D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-subtitle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0420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08927"/>
            <a:ext cx="11430000" cy="3240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50247"/>
            <a:ext cx="11430000" cy="432000"/>
          </a:xfrm>
        </p:spPr>
        <p:txBody>
          <a:bodyPr vert="horz"/>
          <a:lstStyle/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pt-BR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F9C570-8ADD-BDD4-0CD9-C5A9C02D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63760-62E3-11BA-AEE9-E17FF19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94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5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47848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9FC1387-F76A-5CD9-1471-AB709200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9038AC-B619-5EB1-8D41-D4C38DB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469A7-C007-9466-EA28-F04CC2C2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825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2B6B66-FB75-271B-FA63-2A6910A3EC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762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2B6B66-FB75-271B-FA63-2A6910A3E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BC61A9-92B1-2D35-4680-3DE1FE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B625-43D1-998E-66A4-B8CE5FAFEB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D165934-B8D2-4C21-F9C2-1627B2EF33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DC4781-B865-275D-5751-79BD02EA4E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703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4499A4D-E1EC-608F-9006-A468770F68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5529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99A4D-E1EC-608F-9006-A468770F6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(32pt, min 28pt)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(copy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45" r:id="rId2"/>
    <p:sldLayoutId id="2147483747" r:id="rId3"/>
    <p:sldLayoutId id="2147483746" r:id="rId4"/>
    <p:sldLayoutId id="2147483741" r:id="rId5"/>
    <p:sldLayoutId id="2147483748" r:id="rId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2.emf"/><Relationship Id="rId4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81EE33-68E4-D530-ED14-0C9E7644BF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094122-BFCD-19DA-FF1B-23A9414B8B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FBA4217-3527-F335-2393-FABE3AE0D8B1}"/>
              </a:ext>
            </a:extLst>
          </p:cNvPr>
          <p:cNvGrpSpPr/>
          <p:nvPr/>
        </p:nvGrpSpPr>
        <p:grpSpPr>
          <a:xfrm>
            <a:off x="381000" y="1391268"/>
            <a:ext cx="11476800" cy="5008121"/>
            <a:chOff x="380999" y="1421748"/>
            <a:chExt cx="11476800" cy="5008121"/>
          </a:xfrm>
        </p:grpSpPr>
        <p:sp>
          <p:nvSpPr>
            <p:cNvPr id="5" name="Isosceles Triangle 4">
              <a:extLst>
                <a:ext uri="{FF2B5EF4-FFF2-40B4-BE49-F238E27FC236}">
                  <a16:creationId xmlns:a16="http://schemas.microsoft.com/office/drawing/2014/main" id="{C5BBB273-07A8-B63D-BA21-E598DFC64FB8}"/>
                </a:ext>
              </a:extLst>
            </p:cNvPr>
            <p:cNvSpPr/>
            <p:nvPr/>
          </p:nvSpPr>
          <p:spPr>
            <a:xfrm>
              <a:off x="8890001" y="5287898"/>
              <a:ext cx="596907" cy="870505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err="1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68012DF-6686-3D1F-5F0D-B6DC36B1B4E5}"/>
                </a:ext>
              </a:extLst>
            </p:cNvPr>
            <p:cNvSpPr/>
            <p:nvPr/>
          </p:nvSpPr>
          <p:spPr>
            <a:xfrm>
              <a:off x="2230494" y="2693784"/>
              <a:ext cx="1061903" cy="1114579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050" b="1" dirty="0">
                  <a:solidFill>
                    <a:schemeClr val="accent3"/>
                  </a:solidFill>
                </a:rPr>
                <a:t>Cenário 1</a:t>
              </a:r>
            </a:p>
            <a:p>
              <a:pPr algn="ctr"/>
              <a:r>
                <a:rPr lang="pt-BR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(ex. descentralizar)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3B4736C-B890-0480-A759-CDD793295A37}"/>
                </a:ext>
              </a:extLst>
            </p:cNvPr>
            <p:cNvSpPr/>
            <p:nvPr/>
          </p:nvSpPr>
          <p:spPr>
            <a:xfrm>
              <a:off x="2230494" y="3995206"/>
              <a:ext cx="1061903" cy="1114579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050" b="1" dirty="0">
                  <a:solidFill>
                    <a:schemeClr val="accent3"/>
                  </a:solidFill>
                </a:rPr>
                <a:t>Cenário 2</a:t>
              </a:r>
            </a:p>
            <a:p>
              <a:pPr algn="ctr"/>
              <a:r>
                <a:rPr lang="pt-BR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(ex. híbrido)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13C254-54CF-893A-6C0A-2DECBF0E2BA4}"/>
                </a:ext>
              </a:extLst>
            </p:cNvPr>
            <p:cNvSpPr/>
            <p:nvPr/>
          </p:nvSpPr>
          <p:spPr>
            <a:xfrm>
              <a:off x="2230494" y="5296628"/>
              <a:ext cx="1061903" cy="1114579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050" b="1" dirty="0">
                  <a:solidFill>
                    <a:schemeClr val="accent3"/>
                  </a:solidFill>
                </a:rPr>
                <a:t>Cenário 3</a:t>
              </a:r>
            </a:p>
            <a:p>
              <a:pPr algn="ctr"/>
              <a:r>
                <a:rPr lang="pt-BR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(ex. centralizar)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918A2A9-70B1-5594-FCD4-1F8386029996}"/>
                </a:ext>
              </a:extLst>
            </p:cNvPr>
            <p:cNvSpPr/>
            <p:nvPr/>
          </p:nvSpPr>
          <p:spPr>
            <a:xfrm>
              <a:off x="4043109" y="3876348"/>
              <a:ext cx="343347" cy="343347"/>
            </a:xfrm>
            <a:prstGeom prst="rect">
              <a:avLst/>
            </a:prstGeom>
            <a:solidFill>
              <a:srgbClr val="F2F2F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800" b="1">
                <a:solidFill>
                  <a:schemeClr val="bg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AB1A37-FD23-B0F4-BEFA-72789FA4D46B}"/>
                </a:ext>
              </a:extLst>
            </p:cNvPr>
            <p:cNvSpPr/>
            <p:nvPr/>
          </p:nvSpPr>
          <p:spPr>
            <a:xfrm>
              <a:off x="4043109" y="4243278"/>
              <a:ext cx="343347" cy="343347"/>
            </a:xfrm>
            <a:prstGeom prst="rect">
              <a:avLst/>
            </a:prstGeom>
            <a:solidFill>
              <a:srgbClr val="F2F2F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800" b="1">
                <a:solidFill>
                  <a:schemeClr val="bg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1FD444B-3ADA-EAFE-CE23-8B741B07CD1A}"/>
                </a:ext>
              </a:extLst>
            </p:cNvPr>
            <p:cNvSpPr/>
            <p:nvPr/>
          </p:nvSpPr>
          <p:spPr>
            <a:xfrm>
              <a:off x="4043109" y="4610208"/>
              <a:ext cx="343347" cy="343347"/>
            </a:xfrm>
            <a:prstGeom prst="rect">
              <a:avLst/>
            </a:prstGeom>
            <a:solidFill>
              <a:srgbClr val="F2F2F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800" b="1">
                <a:solidFill>
                  <a:schemeClr val="bg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60772B-9CF3-4F81-94E4-0D3AE8CE1669}"/>
                </a:ext>
              </a:extLst>
            </p:cNvPr>
            <p:cNvSpPr/>
            <p:nvPr/>
          </p:nvSpPr>
          <p:spPr>
            <a:xfrm>
              <a:off x="4415069" y="3876348"/>
              <a:ext cx="343347" cy="343347"/>
            </a:xfrm>
            <a:prstGeom prst="rect">
              <a:avLst/>
            </a:prstGeom>
            <a:solidFill>
              <a:srgbClr val="F2F2F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800" b="1">
                <a:solidFill>
                  <a:schemeClr val="bg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00D03E6-473C-C262-0165-C3C835055E29}"/>
                </a:ext>
              </a:extLst>
            </p:cNvPr>
            <p:cNvSpPr/>
            <p:nvPr/>
          </p:nvSpPr>
          <p:spPr>
            <a:xfrm>
              <a:off x="4415069" y="4243278"/>
              <a:ext cx="343347" cy="343347"/>
            </a:xfrm>
            <a:prstGeom prst="rect">
              <a:avLst/>
            </a:prstGeom>
            <a:solidFill>
              <a:srgbClr val="F2F2F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800" b="1">
                <a:solidFill>
                  <a:schemeClr val="bg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12FCF6A-8FF8-9045-8590-BA571BBA155E}"/>
                </a:ext>
              </a:extLst>
            </p:cNvPr>
            <p:cNvSpPr/>
            <p:nvPr/>
          </p:nvSpPr>
          <p:spPr>
            <a:xfrm>
              <a:off x="4415069" y="4610208"/>
              <a:ext cx="343347" cy="343347"/>
            </a:xfrm>
            <a:prstGeom prst="rect">
              <a:avLst/>
            </a:prstGeom>
            <a:solidFill>
              <a:srgbClr val="F2F2F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800" b="1">
                <a:solidFill>
                  <a:schemeClr val="bg1"/>
                </a:solidFill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9B5B07E-08A2-08B7-F407-7DAABEA57593}"/>
                </a:ext>
              </a:extLst>
            </p:cNvPr>
            <p:cNvGrpSpPr/>
            <p:nvPr/>
          </p:nvGrpSpPr>
          <p:grpSpPr>
            <a:xfrm>
              <a:off x="4787029" y="3876347"/>
              <a:ext cx="343347" cy="1077209"/>
              <a:chOff x="5730236" y="2365120"/>
              <a:chExt cx="438910" cy="1377024"/>
            </a:xfrm>
            <a:solidFill>
              <a:srgbClr val="F2F2F2"/>
            </a:solidFill>
          </p:grpSpPr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2D295346-C29E-D8E3-FB79-B346621A887F}"/>
                  </a:ext>
                </a:extLst>
              </p:cNvPr>
              <p:cNvSpPr/>
              <p:nvPr/>
            </p:nvSpPr>
            <p:spPr>
              <a:xfrm>
                <a:off x="5730236" y="2365120"/>
                <a:ext cx="438910" cy="438909"/>
              </a:xfrm>
              <a:prstGeom prst="rect">
                <a:avLst/>
              </a:prstGeom>
              <a:grp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8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E3D36620-FC4F-BCF6-7D19-15EA2DF21343}"/>
                  </a:ext>
                </a:extLst>
              </p:cNvPr>
              <p:cNvSpPr/>
              <p:nvPr/>
            </p:nvSpPr>
            <p:spPr>
              <a:xfrm>
                <a:off x="5730236" y="2834175"/>
                <a:ext cx="438910" cy="438909"/>
              </a:xfrm>
              <a:prstGeom prst="rect">
                <a:avLst/>
              </a:prstGeom>
              <a:grp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8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095377A5-93BA-9A98-8845-00B679EE4568}"/>
                  </a:ext>
                </a:extLst>
              </p:cNvPr>
              <p:cNvSpPr/>
              <p:nvPr/>
            </p:nvSpPr>
            <p:spPr>
              <a:xfrm>
                <a:off x="5730236" y="3303235"/>
                <a:ext cx="438910" cy="438909"/>
              </a:xfrm>
              <a:prstGeom prst="rect">
                <a:avLst/>
              </a:prstGeom>
              <a:grp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800" b="1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78CE526-3909-4E2F-C449-0DE026A4C8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6337" y="3738569"/>
              <a:ext cx="0" cy="130595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24735B3-4FCF-24A7-5B29-972DD10E4E91}"/>
                </a:ext>
              </a:extLst>
            </p:cNvPr>
            <p:cNvCxnSpPr>
              <a:cxnSpLocks/>
            </p:cNvCxnSpPr>
            <p:nvPr/>
          </p:nvCxnSpPr>
          <p:spPr>
            <a:xfrm>
              <a:off x="3946337" y="5044102"/>
              <a:ext cx="139466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9BE3B80-9C09-96D9-BB1D-5BFD0481D31A}"/>
                </a:ext>
              </a:extLst>
            </p:cNvPr>
            <p:cNvSpPr txBox="1"/>
            <p:nvPr/>
          </p:nvSpPr>
          <p:spPr>
            <a:xfrm>
              <a:off x="4083332" y="4975237"/>
              <a:ext cx="936000" cy="138499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0" tIns="0" rIns="0" bIns="0" rtlCol="0" anchor="ctr">
              <a:spAutoFit/>
            </a:bodyPr>
            <a:lstStyle/>
            <a:p>
              <a:pPr algn="ctr"/>
              <a:r>
                <a:rPr lang="pt-BR" sz="900">
                  <a:solidFill>
                    <a:schemeClr val="accent2"/>
                  </a:solidFill>
                </a:rPr>
                <a:t>Complexidade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6558FA3-44C1-7F17-239C-60D372A04C1E}"/>
                </a:ext>
              </a:extLst>
            </p:cNvPr>
            <p:cNvSpPr txBox="1"/>
            <p:nvPr/>
          </p:nvSpPr>
          <p:spPr>
            <a:xfrm rot="16200000">
              <a:off x="3588681" y="4345701"/>
              <a:ext cx="715310" cy="138499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0" tIns="0" rIns="0" bIns="0" rtlCol="0" anchor="ctr">
              <a:spAutoFit/>
            </a:bodyPr>
            <a:lstStyle/>
            <a:p>
              <a:pPr algn="ctr"/>
              <a:r>
                <a:rPr lang="pt-BR" sz="900">
                  <a:solidFill>
                    <a:schemeClr val="accent2"/>
                  </a:solidFill>
                </a:rPr>
                <a:t>Benefícios</a:t>
              </a:r>
            </a:p>
          </p:txBody>
        </p:sp>
        <p:sp>
          <p:nvSpPr>
            <p:cNvPr id="20" name="Star: 5 Points 19">
              <a:extLst>
                <a:ext uri="{FF2B5EF4-FFF2-40B4-BE49-F238E27FC236}">
                  <a16:creationId xmlns:a16="http://schemas.microsoft.com/office/drawing/2014/main" id="{EB80C56D-F2CF-DA5F-6643-5F5764AACEFE}"/>
                </a:ext>
              </a:extLst>
            </p:cNvPr>
            <p:cNvSpPr/>
            <p:nvPr/>
          </p:nvSpPr>
          <p:spPr>
            <a:xfrm>
              <a:off x="4894643" y="3867946"/>
              <a:ext cx="217549" cy="217549"/>
            </a:xfrm>
            <a:prstGeom prst="star5">
              <a:avLst/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800" b="1">
                <a:solidFill>
                  <a:schemeClr val="bg1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7E4F6A0-019C-8B07-D386-BCD27C39F2A9}"/>
                </a:ext>
              </a:extLst>
            </p:cNvPr>
            <p:cNvSpPr/>
            <p:nvPr/>
          </p:nvSpPr>
          <p:spPr>
            <a:xfrm>
              <a:off x="4540867" y="4374539"/>
              <a:ext cx="112773" cy="112773"/>
            </a:xfrm>
            <a:prstGeom prst="ellipse">
              <a:avLst/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800" b="1">
                <a:solidFill>
                  <a:schemeClr val="bg1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4A4F1C2-D888-9AFD-0C67-4E76466EB9EF}"/>
                </a:ext>
              </a:extLst>
            </p:cNvPr>
            <p:cNvSpPr/>
            <p:nvPr/>
          </p:nvSpPr>
          <p:spPr>
            <a:xfrm>
              <a:off x="4226273" y="4669003"/>
              <a:ext cx="112773" cy="112773"/>
            </a:xfrm>
            <a:prstGeom prst="ellipse">
              <a:avLst/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800" b="1">
                <a:solidFill>
                  <a:schemeClr val="bg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BF6BAA3-A46D-BF50-DBCC-44E914DB58E8}"/>
                </a:ext>
              </a:extLst>
            </p:cNvPr>
            <p:cNvSpPr txBox="1"/>
            <p:nvPr/>
          </p:nvSpPr>
          <p:spPr>
            <a:xfrm>
              <a:off x="2159675" y="1743207"/>
              <a:ext cx="1175745" cy="467820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300"/>
                </a:spcAft>
              </a:pPr>
              <a:r>
                <a:rPr lang="pt-BR" sz="1100" b="1" dirty="0"/>
                <a:t>Definição dos cenários </a:t>
              </a:r>
              <a:br>
                <a:rPr lang="pt-BR" sz="1100" b="1" dirty="0"/>
              </a:br>
              <a:r>
                <a:rPr lang="pt-BR" sz="1000" dirty="0"/>
                <a:t>(</a:t>
              </a:r>
              <a:r>
                <a:rPr lang="pt-BR" sz="1000" i="1" dirty="0"/>
                <a:t>trade-</a:t>
              </a:r>
              <a:r>
                <a:rPr lang="pt-BR" sz="1000" i="1" dirty="0" err="1"/>
                <a:t>offs</a:t>
              </a:r>
              <a:r>
                <a:rPr lang="pt-BR" sz="1000" i="1" dirty="0"/>
                <a:t>)</a:t>
              </a:r>
              <a:endParaRPr lang="pt-BR" sz="10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419B00C-6A18-D3BE-5330-CD6D997A5324}"/>
                </a:ext>
              </a:extLst>
            </p:cNvPr>
            <p:cNvSpPr txBox="1"/>
            <p:nvPr/>
          </p:nvSpPr>
          <p:spPr>
            <a:xfrm>
              <a:off x="3544576" y="1743207"/>
              <a:ext cx="2082906" cy="467820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300"/>
                </a:spcAft>
              </a:pPr>
              <a:r>
                <a:rPr lang="pt-BR" sz="1100" b="1" dirty="0"/>
                <a:t>Seleção de cenário </a:t>
              </a:r>
              <a:br>
                <a:rPr lang="pt-BR" sz="1100" b="1" dirty="0"/>
              </a:br>
              <a:r>
                <a:rPr lang="pt-BR" sz="1000" dirty="0"/>
                <a:t>(de acordo com os critérios estabelecidos)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CCAA18C-17CF-B6DD-B27B-FF4CB91F725F}"/>
                </a:ext>
              </a:extLst>
            </p:cNvPr>
            <p:cNvSpPr txBox="1"/>
            <p:nvPr/>
          </p:nvSpPr>
          <p:spPr>
            <a:xfrm>
              <a:off x="5867619" y="1743207"/>
              <a:ext cx="4529014" cy="467820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300"/>
                </a:spcAft>
              </a:pPr>
              <a:r>
                <a:rPr lang="pt-BR" sz="1100" b="1" dirty="0"/>
                <a:t>Detalhamento de cenário escolhido</a:t>
              </a:r>
              <a:br>
                <a:rPr lang="pt-BR" sz="1100" b="1" dirty="0"/>
              </a:br>
              <a:r>
                <a:rPr lang="pt-BR" sz="1000" dirty="0"/>
                <a:t>(modelo operacional da ADH e </a:t>
              </a:r>
              <a:r>
                <a:rPr lang="pt-BR" sz="1000" dirty="0" err="1"/>
                <a:t>Educon</a:t>
              </a:r>
              <a:r>
                <a:rPr lang="pt-BR" sz="1000" dirty="0"/>
                <a:t>, estrutura organizacional, gestão de portifólio – governança, e tecnologia e dados)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8D581CF-EF4B-E9AD-E8AD-4CC67AB0D09F}"/>
                </a:ext>
              </a:extLst>
            </p:cNvPr>
            <p:cNvCxnSpPr>
              <a:cxnSpLocks/>
              <a:stCxn id="27" idx="2"/>
              <a:endCxn id="20" idx="0"/>
            </p:cNvCxnSpPr>
            <p:nvPr/>
          </p:nvCxnSpPr>
          <p:spPr>
            <a:xfrm>
              <a:off x="4837351" y="3602226"/>
              <a:ext cx="166067" cy="26572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516923A-8AF4-6656-4EB7-9236EABD6DD7}"/>
                </a:ext>
              </a:extLst>
            </p:cNvPr>
            <p:cNvSpPr txBox="1"/>
            <p:nvPr/>
          </p:nvSpPr>
          <p:spPr>
            <a:xfrm>
              <a:off x="4221901" y="3440643"/>
              <a:ext cx="1230899" cy="161583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spAutoFit/>
            </a:bodyPr>
            <a:lstStyle/>
            <a:p>
              <a:pPr algn="ctr"/>
              <a:r>
                <a:rPr lang="pt-BR" sz="1050"/>
                <a:t>Cenário escolhido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0D0B5E03-81C8-9A33-67BB-9B8031DEE0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3731" y="5106680"/>
              <a:ext cx="269752" cy="394088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E769EFE-43A6-E02B-D520-A63C1D7884CF}"/>
                </a:ext>
              </a:extLst>
            </p:cNvPr>
            <p:cNvSpPr txBox="1"/>
            <p:nvPr/>
          </p:nvSpPr>
          <p:spPr>
            <a:xfrm>
              <a:off x="3601742" y="5560975"/>
              <a:ext cx="1492536" cy="769441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spAutoFit/>
            </a:bodyPr>
            <a:lstStyle/>
            <a:p>
              <a:r>
                <a:rPr lang="pt-BR" sz="10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EXEMPLOS:</a:t>
              </a:r>
            </a:p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pt-BR" sz="10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Riscos de Execução</a:t>
              </a:r>
            </a:p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pt-BR" sz="10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Gestão de Mudanças</a:t>
              </a:r>
            </a:p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pt-BR" sz="10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Custo e Investimento</a:t>
              </a:r>
            </a:p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pt-BR" sz="10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Perda de agilidade</a:t>
              </a:r>
            </a:p>
          </p:txBody>
        </p:sp>
        <p:sp>
          <p:nvSpPr>
            <p:cNvPr id="30" name="Arrow: Pentagon 29">
              <a:extLst>
                <a:ext uri="{FF2B5EF4-FFF2-40B4-BE49-F238E27FC236}">
                  <a16:creationId xmlns:a16="http://schemas.microsoft.com/office/drawing/2014/main" id="{2333E0A0-24C8-1E28-18F4-56FCAA947229}"/>
                </a:ext>
              </a:extLst>
            </p:cNvPr>
            <p:cNvSpPr/>
            <p:nvPr/>
          </p:nvSpPr>
          <p:spPr>
            <a:xfrm>
              <a:off x="381000" y="2532525"/>
              <a:ext cx="1547121" cy="2022585"/>
            </a:xfrm>
            <a:prstGeom prst="homePlate">
              <a:avLst>
                <a:gd name="adj" fmla="val 11526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2000" tIns="0" rIns="0" bIns="0" numCol="1" spcCol="1270" anchor="ctr" anchorCtr="0">
              <a:noAutofit/>
            </a:bodyPr>
            <a:lstStyle/>
            <a:p>
              <a:pPr marL="0" lvl="0" indent="0" defTabSz="622300">
                <a:spcBef>
                  <a:spcPct val="0"/>
                </a:spcBef>
                <a:spcAft>
                  <a:spcPts val="300"/>
                </a:spcAft>
                <a:buNone/>
              </a:pPr>
              <a:r>
                <a:rPr lang="pt-BR" sz="1050" b="1" kern="1200" dirty="0">
                  <a:solidFill>
                    <a:schemeClr val="tx1"/>
                  </a:solidFill>
                </a:rPr>
                <a:t>Direcionadores estratégicos</a:t>
              </a:r>
            </a:p>
            <a:p>
              <a:pPr marL="144000" lvl="0" indent="-144000" defTabSz="622300">
                <a:spcBef>
                  <a:spcPct val="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</a:rPr>
                <a:t>Expectativas</a:t>
              </a:r>
            </a:p>
            <a:p>
              <a:pPr marL="144000" lvl="0" indent="-144000" defTabSz="622300">
                <a:spcBef>
                  <a:spcPct val="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</a:rPr>
                <a:t>Hipóteses de cenários de solução</a:t>
              </a:r>
            </a:p>
            <a:p>
              <a:pPr marL="144000" lvl="0" indent="-144000" defTabSz="622300">
                <a:spcBef>
                  <a:spcPct val="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</a:rPr>
                <a:t>Critérios para seleção de cenário alvo</a:t>
              </a:r>
            </a:p>
            <a:p>
              <a:pPr lvl="0" algn="ctr" defTabSz="622300">
                <a:spcBef>
                  <a:spcPct val="0"/>
                </a:spcBef>
                <a:spcAft>
                  <a:spcPts val="300"/>
                </a:spcAft>
              </a:pPr>
              <a:r>
                <a:rPr lang="pt-BR" sz="900" i="1" dirty="0">
                  <a:solidFill>
                    <a:schemeClr val="tx1"/>
                  </a:solidFill>
                </a:rPr>
                <a:t>(Capturados em entrevistas)</a:t>
              </a:r>
            </a:p>
          </p:txBody>
        </p:sp>
        <p:sp>
          <p:nvSpPr>
            <p:cNvPr id="31" name="Arrow: Pentagon 30">
              <a:extLst>
                <a:ext uri="{FF2B5EF4-FFF2-40B4-BE49-F238E27FC236}">
                  <a16:creationId xmlns:a16="http://schemas.microsoft.com/office/drawing/2014/main" id="{18067F1D-E446-CDD6-AD64-979B98E0EF58}"/>
                </a:ext>
              </a:extLst>
            </p:cNvPr>
            <p:cNvSpPr/>
            <p:nvPr/>
          </p:nvSpPr>
          <p:spPr>
            <a:xfrm>
              <a:off x="381000" y="4612253"/>
              <a:ext cx="1547121" cy="1817616"/>
            </a:xfrm>
            <a:prstGeom prst="homePlate">
              <a:avLst>
                <a:gd name="adj" fmla="val 10358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2000" tIns="72000" rIns="72000" bIns="72000" numCol="1" spcCol="1270" anchor="ctr" anchorCtr="0">
              <a:noAutofit/>
            </a:bodyPr>
            <a:lstStyle/>
            <a:p>
              <a:pPr marL="0" lvl="0" indent="0" defTabSz="622300">
                <a:spcBef>
                  <a:spcPct val="0"/>
                </a:spcBef>
                <a:spcAft>
                  <a:spcPts val="300"/>
                </a:spcAft>
                <a:buNone/>
              </a:pPr>
              <a:r>
                <a:rPr lang="pt-BR" sz="1050" b="1" kern="1200">
                  <a:solidFill>
                    <a:schemeClr val="tx1"/>
                  </a:solidFill>
                </a:rPr>
                <a:t>Assessment da situação atual</a:t>
              </a:r>
            </a:p>
            <a:p>
              <a:pPr marL="144000" lvl="0" indent="-144000" defTabSz="622300">
                <a:spcBef>
                  <a:spcPct val="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pt-BR" sz="1000">
                  <a:solidFill>
                    <a:schemeClr val="tx1"/>
                  </a:solidFill>
                </a:rPr>
                <a:t>Modelo operacional ADH e </a:t>
              </a:r>
              <a:r>
                <a:rPr lang="pt-BR" sz="1000" err="1">
                  <a:solidFill>
                    <a:schemeClr val="tx1"/>
                  </a:solidFill>
                </a:rPr>
                <a:t>Educon</a:t>
              </a:r>
              <a:endParaRPr lang="pt-BR" sz="1000">
                <a:solidFill>
                  <a:schemeClr val="tx1"/>
                </a:solidFill>
              </a:endParaRPr>
            </a:p>
            <a:p>
              <a:pPr marL="144000" lvl="0" indent="-144000" defTabSz="622300">
                <a:spcBef>
                  <a:spcPct val="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pt-BR" sz="1000">
                  <a:solidFill>
                    <a:schemeClr val="tx1"/>
                  </a:solidFill>
                </a:rPr>
                <a:t>Arquitetura técnica</a:t>
              </a:r>
            </a:p>
            <a:p>
              <a:pPr lvl="0" algn="ctr" defTabSz="622300">
                <a:spcBef>
                  <a:spcPct val="0"/>
                </a:spcBef>
                <a:spcAft>
                  <a:spcPts val="300"/>
                </a:spcAft>
              </a:pPr>
              <a:r>
                <a:rPr lang="pt-BR" sz="800" i="1">
                  <a:solidFill>
                    <a:schemeClr val="tx1"/>
                  </a:solidFill>
                </a:rPr>
                <a:t>(Capturados em entrevistas &amp; data </a:t>
              </a:r>
              <a:r>
                <a:rPr lang="pt-BR" sz="800" i="1" err="1">
                  <a:solidFill>
                    <a:schemeClr val="tx1"/>
                  </a:solidFill>
                </a:rPr>
                <a:t>request</a:t>
              </a:r>
              <a:r>
                <a:rPr lang="pt-BR" sz="800" i="1">
                  <a:solidFill>
                    <a:schemeClr val="tx1"/>
                  </a:solidFill>
                </a:rPr>
                <a:t>)</a:t>
              </a: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89A3C305-31E5-48A5-6991-031E636E40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alphaModFix amt="50000"/>
              <a:duotone>
                <a:prstClr val="black"/>
                <a:schemeClr val="tx2">
                  <a:tint val="45000"/>
                  <a:satMod val="400000"/>
                </a:schemeClr>
              </a:duotone>
              <a:lum bright="-40000" contrast="-4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1927703" y="4241998"/>
              <a:ext cx="245547" cy="319001"/>
            </a:xfrm>
            <a:prstGeom prst="rect">
              <a:avLst/>
            </a:prstGeom>
            <a:ln>
              <a:noFill/>
            </a:ln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DC7E4DB-ACE3-A6FD-5B15-41487ED02173}"/>
                </a:ext>
              </a:extLst>
            </p:cNvPr>
            <p:cNvSpPr txBox="1"/>
            <p:nvPr/>
          </p:nvSpPr>
          <p:spPr>
            <a:xfrm>
              <a:off x="380999" y="1743207"/>
              <a:ext cx="1548000" cy="467820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300"/>
                </a:spcAft>
              </a:pPr>
              <a:r>
                <a:rPr lang="pt-BR" sz="1100" b="1" dirty="0"/>
                <a:t>Assessment &amp; </a:t>
              </a:r>
              <a:r>
                <a:rPr lang="pt-BR" sz="1100" b="1" dirty="0" err="1"/>
                <a:t>Bench</a:t>
              </a:r>
              <a:r>
                <a:rPr lang="pt-BR" sz="1100" b="1" dirty="0"/>
                <a:t>.</a:t>
              </a:r>
            </a:p>
            <a:p>
              <a:pPr algn="ctr">
                <a:lnSpc>
                  <a:spcPct val="90000"/>
                </a:lnSpc>
                <a:spcAft>
                  <a:spcPts val="300"/>
                </a:spcAft>
              </a:pPr>
              <a:r>
                <a:rPr lang="pt-BR" sz="1000" dirty="0"/>
                <a:t>(direcionadores, hipóteses, dores)</a:t>
              </a: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E8CC8220-227F-0D34-8A70-E04202D494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alphaModFix amt="50000"/>
              <a:duotone>
                <a:prstClr val="black"/>
                <a:schemeClr val="tx2">
                  <a:tint val="45000"/>
                  <a:satMod val="400000"/>
                </a:schemeClr>
              </a:duotone>
              <a:lum bright="-40000" contrast="-4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3349800" y="4241998"/>
              <a:ext cx="245547" cy="31900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06D2527C-168F-6162-800E-526B4D4913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alphaModFix amt="50000"/>
              <a:duotone>
                <a:prstClr val="black"/>
                <a:schemeClr val="tx2">
                  <a:tint val="45000"/>
                  <a:satMod val="400000"/>
                </a:schemeClr>
              </a:duotone>
              <a:lum bright="-40000" contrast="-4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5549249" y="4241997"/>
              <a:ext cx="245547" cy="319001"/>
            </a:xfrm>
            <a:prstGeom prst="rect">
              <a:avLst/>
            </a:prstGeom>
            <a:ln>
              <a:noFill/>
            </a:ln>
          </p:spPr>
        </p:pic>
        <p:sp>
          <p:nvSpPr>
            <p:cNvPr id="36" name="Arrow: Chevron 35">
              <a:extLst>
                <a:ext uri="{FF2B5EF4-FFF2-40B4-BE49-F238E27FC236}">
                  <a16:creationId xmlns:a16="http://schemas.microsoft.com/office/drawing/2014/main" id="{DA62B1B6-418A-D53F-9AAC-6B7AAE1E6C3B}"/>
                </a:ext>
              </a:extLst>
            </p:cNvPr>
            <p:cNvSpPr/>
            <p:nvPr/>
          </p:nvSpPr>
          <p:spPr>
            <a:xfrm>
              <a:off x="1978460" y="1765370"/>
              <a:ext cx="131753" cy="423495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800" b="1">
                <a:solidFill>
                  <a:schemeClr val="bg1"/>
                </a:solidFill>
              </a:endParaRPr>
            </a:p>
          </p:txBody>
        </p:sp>
        <p:sp>
          <p:nvSpPr>
            <p:cNvPr id="37" name="Arrow: Chevron 36">
              <a:extLst>
                <a:ext uri="{FF2B5EF4-FFF2-40B4-BE49-F238E27FC236}">
                  <a16:creationId xmlns:a16="http://schemas.microsoft.com/office/drawing/2014/main" id="{9C6F20D9-A280-14DA-0B11-0345115BB399}"/>
                </a:ext>
              </a:extLst>
            </p:cNvPr>
            <p:cNvSpPr/>
            <p:nvPr/>
          </p:nvSpPr>
          <p:spPr>
            <a:xfrm>
              <a:off x="3374121" y="1765370"/>
              <a:ext cx="131753" cy="423495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800" b="1">
                <a:solidFill>
                  <a:schemeClr val="bg1"/>
                </a:solidFill>
              </a:endParaRPr>
            </a:p>
          </p:txBody>
        </p:sp>
        <p:sp>
          <p:nvSpPr>
            <p:cNvPr id="38" name="Arrow: Chevron 37">
              <a:extLst>
                <a:ext uri="{FF2B5EF4-FFF2-40B4-BE49-F238E27FC236}">
                  <a16:creationId xmlns:a16="http://schemas.microsoft.com/office/drawing/2014/main" id="{1890A3D9-12C2-F465-C4C5-63ABC448B221}"/>
                </a:ext>
              </a:extLst>
            </p:cNvPr>
            <p:cNvSpPr/>
            <p:nvPr/>
          </p:nvSpPr>
          <p:spPr>
            <a:xfrm>
              <a:off x="5681674" y="1765370"/>
              <a:ext cx="131753" cy="423495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800" b="1">
                <a:solidFill>
                  <a:schemeClr val="bg1"/>
                </a:solidFill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BBAF079-5AB4-4A83-55A6-041139374D04}"/>
                </a:ext>
              </a:extLst>
            </p:cNvPr>
            <p:cNvGrpSpPr/>
            <p:nvPr/>
          </p:nvGrpSpPr>
          <p:grpSpPr>
            <a:xfrm>
              <a:off x="2064452" y="2386085"/>
              <a:ext cx="1" cy="4030827"/>
              <a:chOff x="1961667" y="2684411"/>
              <a:chExt cx="1" cy="2901946"/>
            </a:xfrm>
          </p:grpSpPr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2EC26873-320A-CF66-C6ED-8AF3F8029D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61667" y="4292485"/>
                <a:ext cx="0" cy="1293872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01D06146-71AC-FE71-DB00-2CDB43592D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1668" y="2684411"/>
                <a:ext cx="0" cy="1293872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8F9B0154-2535-8A2A-4E24-F62864E7F335}"/>
                </a:ext>
              </a:extLst>
            </p:cNvPr>
            <p:cNvGrpSpPr/>
            <p:nvPr/>
          </p:nvGrpSpPr>
          <p:grpSpPr>
            <a:xfrm>
              <a:off x="3463103" y="2386085"/>
              <a:ext cx="1" cy="4030827"/>
              <a:chOff x="1961667" y="2684411"/>
              <a:chExt cx="1" cy="2901946"/>
            </a:xfrm>
          </p:grpSpPr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C803F490-FA1B-6719-07C5-61863F7012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61667" y="4292485"/>
                <a:ext cx="0" cy="1293872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A37ABC07-065F-AAAD-0717-46E0042EF7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1668" y="2684411"/>
                <a:ext cx="0" cy="1293872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0C23371-871E-9F18-F676-CD6FE313BEAD}"/>
                </a:ext>
              </a:extLst>
            </p:cNvPr>
            <p:cNvGrpSpPr/>
            <p:nvPr/>
          </p:nvGrpSpPr>
          <p:grpSpPr>
            <a:xfrm>
              <a:off x="5672022" y="2386085"/>
              <a:ext cx="1" cy="4030827"/>
              <a:chOff x="1961667" y="2684411"/>
              <a:chExt cx="1" cy="2901946"/>
            </a:xfrm>
          </p:grpSpPr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80B8C75C-CEBA-4953-47FC-E50207E352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61667" y="4292485"/>
                <a:ext cx="0" cy="1293872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F3D35A32-7CC8-13BE-0959-016597BA63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1668" y="2684411"/>
                <a:ext cx="0" cy="1293872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35553F1-7669-919E-C5BC-4E831F57925D}"/>
                </a:ext>
              </a:extLst>
            </p:cNvPr>
            <p:cNvGrpSpPr/>
            <p:nvPr/>
          </p:nvGrpSpPr>
          <p:grpSpPr>
            <a:xfrm>
              <a:off x="10647443" y="2386084"/>
              <a:ext cx="1" cy="4030828"/>
              <a:chOff x="1961667" y="2684411"/>
              <a:chExt cx="1" cy="2901948"/>
            </a:xfrm>
          </p:grpSpPr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38998876-B429-7B2D-F448-90EC7FB5A0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61667" y="4292487"/>
                <a:ext cx="0" cy="1293872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6195E6F5-3BF5-FE3F-F831-E110BA2130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1668" y="2684411"/>
                <a:ext cx="0" cy="1293872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6EB24453-A4A4-92D0-AF54-C45931A42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alphaModFix amt="50000"/>
              <a:duotone>
                <a:prstClr val="black"/>
                <a:schemeClr val="tx2">
                  <a:tint val="45000"/>
                  <a:satMod val="400000"/>
                </a:schemeClr>
              </a:duotone>
              <a:lum bright="-40000" contrast="-4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10524670" y="4241997"/>
              <a:ext cx="245547" cy="319001"/>
            </a:xfrm>
            <a:prstGeom prst="rect">
              <a:avLst/>
            </a:prstGeom>
            <a:ln>
              <a:noFill/>
            </a:ln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DD48E68-D7AC-2647-D9D6-FF2E00C3A875}"/>
                </a:ext>
              </a:extLst>
            </p:cNvPr>
            <p:cNvSpPr txBox="1"/>
            <p:nvPr/>
          </p:nvSpPr>
          <p:spPr>
            <a:xfrm>
              <a:off x="5959983" y="4786143"/>
              <a:ext cx="1813228" cy="402987"/>
            </a:xfrm>
            <a:prstGeom prst="rect">
              <a:avLst/>
            </a:prstGeom>
            <a:solidFill>
              <a:schemeClr val="accent3"/>
            </a:solidFill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pt-BR" sz="1000" b="1">
                  <a:solidFill>
                    <a:srgbClr val="FFFFFF"/>
                  </a:solidFill>
                </a:rPr>
                <a:t>TECNOLOGIA E DADOS</a:t>
              </a:r>
              <a:endParaRPr lang="pt-BR" sz="1000">
                <a:solidFill>
                  <a:srgbClr val="FFFFFF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E7C1369-E69B-E4B4-414E-D82571550CA0}"/>
                </a:ext>
              </a:extLst>
            </p:cNvPr>
            <p:cNvSpPr/>
            <p:nvPr/>
          </p:nvSpPr>
          <p:spPr>
            <a:xfrm>
              <a:off x="5959982" y="5245189"/>
              <a:ext cx="864000" cy="337597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pt-BR" sz="1000" b="1">
                  <a:solidFill>
                    <a:schemeClr val="tx1"/>
                  </a:solidFill>
                </a:rPr>
                <a:t>Produtos</a:t>
              </a:r>
            </a:p>
            <a:p>
              <a:r>
                <a:rPr lang="pt-BR" sz="1000" b="1">
                  <a:solidFill>
                    <a:schemeClr val="tx1"/>
                  </a:solidFill>
                </a:rPr>
                <a:t>B2B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8BB671A-ACCA-BE75-AF59-BB0C32A3CC44}"/>
                </a:ext>
              </a:extLst>
            </p:cNvPr>
            <p:cNvSpPr/>
            <p:nvPr/>
          </p:nvSpPr>
          <p:spPr>
            <a:xfrm>
              <a:off x="5959983" y="5620387"/>
              <a:ext cx="1813228" cy="337597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pt-BR" sz="1000" b="1">
                  <a:solidFill>
                    <a:schemeClr val="tx1"/>
                  </a:solidFill>
                </a:rPr>
                <a:t>Cross-Prod.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DECECEB-AF98-355E-407B-AA45CE85119E}"/>
                </a:ext>
              </a:extLst>
            </p:cNvPr>
            <p:cNvSpPr/>
            <p:nvPr/>
          </p:nvSpPr>
          <p:spPr>
            <a:xfrm>
              <a:off x="5959983" y="5995585"/>
              <a:ext cx="1813228" cy="337597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pt-BR" sz="1000" b="1">
                  <a:solidFill>
                    <a:schemeClr val="tx1"/>
                  </a:solidFill>
                </a:rPr>
                <a:t>Tech </a:t>
              </a:r>
              <a:r>
                <a:rPr lang="pt-BR" sz="1000" b="1" err="1">
                  <a:solidFill>
                    <a:schemeClr val="tx1"/>
                  </a:solidFill>
                </a:rPr>
                <a:t>Platf</a:t>
              </a:r>
              <a:r>
                <a:rPr lang="pt-BR" sz="1000" b="1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8EA55EF-E93F-21EF-FAC7-0379559100E7}"/>
                </a:ext>
              </a:extLst>
            </p:cNvPr>
            <p:cNvSpPr txBox="1"/>
            <p:nvPr/>
          </p:nvSpPr>
          <p:spPr>
            <a:xfrm>
              <a:off x="5959983" y="2634812"/>
              <a:ext cx="1813228" cy="402987"/>
            </a:xfrm>
            <a:prstGeom prst="rect">
              <a:avLst/>
            </a:prstGeom>
            <a:solidFill>
              <a:schemeClr val="accent3"/>
            </a:solidFill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pt-BR" sz="1000" b="1" dirty="0">
                  <a:solidFill>
                    <a:srgbClr val="FFFFFF"/>
                  </a:solidFill>
                </a:rPr>
                <a:t>MODELO OPERACIONAL </a:t>
              </a:r>
              <a:r>
                <a:rPr lang="pt-BR" sz="800" dirty="0">
                  <a:solidFill>
                    <a:srgbClr val="FFFFFF"/>
                  </a:solidFill>
                </a:rPr>
                <a:t>(Governança)</a:t>
              </a:r>
            </a:p>
          </p:txBody>
        </p:sp>
        <p:sp>
          <p:nvSpPr>
            <p:cNvPr id="49" name="Arrow: Pentagon 48">
              <a:extLst>
                <a:ext uri="{FF2B5EF4-FFF2-40B4-BE49-F238E27FC236}">
                  <a16:creationId xmlns:a16="http://schemas.microsoft.com/office/drawing/2014/main" id="{5A0CB15C-5674-81AA-4EF5-1610988D5030}"/>
                </a:ext>
              </a:extLst>
            </p:cNvPr>
            <p:cNvSpPr/>
            <p:nvPr/>
          </p:nvSpPr>
          <p:spPr>
            <a:xfrm>
              <a:off x="10942160" y="2466678"/>
              <a:ext cx="725813" cy="3944529"/>
            </a:xfrm>
            <a:prstGeom prst="homePlate">
              <a:avLst>
                <a:gd name="adj" fmla="val 27346"/>
              </a:avLst>
            </a:prstGeom>
            <a:solidFill>
              <a:schemeClr val="bg1">
                <a:lumMod val="95000"/>
              </a:schemeClr>
            </a:solidFill>
            <a:ln w="12700"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vert270" wrap="square" lIns="72000" tIns="0" rIns="0" bIns="0" numCol="1" spcCol="1270" anchor="ctr" anchorCtr="0">
              <a:noAutofit/>
            </a:bodyPr>
            <a:lstStyle/>
            <a:p>
              <a:pPr marL="0" lvl="0" indent="0" algn="ctr" defTabSz="622300">
                <a:spcBef>
                  <a:spcPct val="0"/>
                </a:spcBef>
                <a:spcAft>
                  <a:spcPts val="300"/>
                </a:spcAft>
                <a:buNone/>
              </a:pPr>
              <a:r>
                <a:rPr lang="pt-BR" sz="1050" b="1" dirty="0">
                  <a:solidFill>
                    <a:schemeClr val="tx1"/>
                  </a:solidFill>
                </a:rPr>
                <a:t>Plano </a:t>
              </a:r>
              <a:r>
                <a:rPr lang="pt-BR" sz="1050" b="1">
                  <a:solidFill>
                    <a:schemeClr val="tx1"/>
                  </a:solidFill>
                </a:rPr>
                <a:t>de Transformação</a:t>
              </a:r>
              <a:endParaRPr lang="pt-BR" sz="900" dirty="0">
                <a:solidFill>
                  <a:schemeClr val="tx1"/>
                </a:solidFill>
              </a:endParaRPr>
            </a:p>
          </p:txBody>
        </p:sp>
        <p:sp>
          <p:nvSpPr>
            <p:cNvPr id="50" name="Arrow: Chevron 49">
              <a:extLst>
                <a:ext uri="{FF2B5EF4-FFF2-40B4-BE49-F238E27FC236}">
                  <a16:creationId xmlns:a16="http://schemas.microsoft.com/office/drawing/2014/main" id="{A49B059F-D815-F026-E6B3-FF47C5D3772D}"/>
                </a:ext>
              </a:extLst>
            </p:cNvPr>
            <p:cNvSpPr/>
            <p:nvPr/>
          </p:nvSpPr>
          <p:spPr>
            <a:xfrm>
              <a:off x="10508607" y="1765370"/>
              <a:ext cx="131753" cy="423495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800" b="1">
                <a:solidFill>
                  <a:schemeClr val="bg1"/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B38A39E-A496-D3C3-1C4D-9A5523104BBC}"/>
                </a:ext>
              </a:extLst>
            </p:cNvPr>
            <p:cNvSpPr txBox="1"/>
            <p:nvPr/>
          </p:nvSpPr>
          <p:spPr>
            <a:xfrm>
              <a:off x="10752334" y="1743207"/>
              <a:ext cx="1105465" cy="467820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300"/>
                </a:spcAft>
              </a:pPr>
              <a:r>
                <a:rPr lang="pt-BR" sz="1100" b="1" dirty="0"/>
                <a:t>Plano </a:t>
              </a:r>
              <a:r>
                <a:rPr lang="pt-BR" sz="1100" b="1" dirty="0" err="1"/>
                <a:t>Transf</a:t>
              </a:r>
              <a:r>
                <a:rPr lang="pt-BR" sz="1100" b="1" dirty="0"/>
                <a:t>.</a:t>
              </a:r>
            </a:p>
            <a:p>
              <a:pPr algn="ctr">
                <a:lnSpc>
                  <a:spcPct val="90000"/>
                </a:lnSpc>
                <a:spcAft>
                  <a:spcPts val="300"/>
                </a:spcAft>
              </a:pPr>
              <a:r>
                <a:rPr kumimoji="0" lang="pt-BR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(iniciativas, prazo, custo)</a:t>
              </a:r>
              <a:endParaRPr lang="pt-BR" sz="1000" b="1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232B62B-5874-F084-A8AF-8647855B7C2F}"/>
                </a:ext>
              </a:extLst>
            </p:cNvPr>
            <p:cNvSpPr txBox="1"/>
            <p:nvPr/>
          </p:nvSpPr>
          <p:spPr>
            <a:xfrm>
              <a:off x="4042558" y="3735379"/>
              <a:ext cx="477695" cy="12311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ilustrativo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4878153-C553-7947-A17D-DA559C85B461}"/>
                </a:ext>
              </a:extLst>
            </p:cNvPr>
            <p:cNvSpPr txBox="1"/>
            <p:nvPr/>
          </p:nvSpPr>
          <p:spPr>
            <a:xfrm>
              <a:off x="7295516" y="2466678"/>
              <a:ext cx="477695" cy="12311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ilustrativo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1371BD7-1EF9-00E6-397B-930ECF2215A2}"/>
                </a:ext>
              </a:extLst>
            </p:cNvPr>
            <p:cNvSpPr txBox="1"/>
            <p:nvPr/>
          </p:nvSpPr>
          <p:spPr>
            <a:xfrm>
              <a:off x="7295516" y="4642322"/>
              <a:ext cx="477695" cy="12311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ilustrativo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948ED53-0656-1A3C-47B7-F91D230C674F}"/>
                </a:ext>
              </a:extLst>
            </p:cNvPr>
            <p:cNvSpPr txBox="1"/>
            <p:nvPr/>
          </p:nvSpPr>
          <p:spPr>
            <a:xfrm>
              <a:off x="3567495" y="2457383"/>
              <a:ext cx="1634919" cy="692497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spAutoFit/>
            </a:bodyPr>
            <a:lstStyle/>
            <a:p>
              <a:r>
                <a:rPr lang="pt-BR" sz="9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EXEMPLOS:</a:t>
              </a:r>
            </a:p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pt-B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Viabilização de Tese</a:t>
              </a:r>
            </a:p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pt-B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Alinhamento estratégico</a:t>
              </a:r>
            </a:p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pt-B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Sinergia operacional</a:t>
              </a:r>
            </a:p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pt-B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Eficiência e crescimento</a:t>
              </a: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3F1DC5DF-F079-6ABF-6893-5DA598E896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13890" y="3176480"/>
              <a:ext cx="196061" cy="933377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4BEB0C5-3DC6-C469-A60A-0A2352C10A75}"/>
                </a:ext>
              </a:extLst>
            </p:cNvPr>
            <p:cNvSpPr/>
            <p:nvPr/>
          </p:nvSpPr>
          <p:spPr>
            <a:xfrm>
              <a:off x="5959983" y="3547653"/>
              <a:ext cx="513766" cy="27900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000" b="1">
                  <a:solidFill>
                    <a:schemeClr val="accent3"/>
                  </a:solidFill>
                </a:rPr>
                <a:t>B2B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FABF177-4791-E7CB-3181-68CB369D4E1C}"/>
                </a:ext>
              </a:extLst>
            </p:cNvPr>
            <p:cNvSpPr/>
            <p:nvPr/>
          </p:nvSpPr>
          <p:spPr>
            <a:xfrm>
              <a:off x="6600897" y="3547653"/>
              <a:ext cx="513766" cy="27900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000" b="1">
                  <a:solidFill>
                    <a:schemeClr val="accent3"/>
                  </a:solidFill>
                </a:rPr>
                <a:t>Cross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76B740A-4511-0CC3-F767-D022D77C7829}"/>
                </a:ext>
              </a:extLst>
            </p:cNvPr>
            <p:cNvSpPr/>
            <p:nvPr/>
          </p:nvSpPr>
          <p:spPr>
            <a:xfrm>
              <a:off x="7241813" y="3547653"/>
              <a:ext cx="513766" cy="27900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000" b="1">
                  <a:solidFill>
                    <a:schemeClr val="accent3"/>
                  </a:solidFill>
                </a:rPr>
                <a:t>B2P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92F1CC2A-E428-2493-49C8-FC8713F76676}"/>
                </a:ext>
              </a:extLst>
            </p:cNvPr>
            <p:cNvSpPr/>
            <p:nvPr/>
          </p:nvSpPr>
          <p:spPr>
            <a:xfrm>
              <a:off x="5959983" y="3959845"/>
              <a:ext cx="1795596" cy="27900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000" b="1">
                  <a:solidFill>
                    <a:schemeClr val="accent3"/>
                  </a:solidFill>
                </a:rPr>
                <a:t>Tech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64C34BA-5BAD-E58B-A135-A7CCE7C499A3}"/>
                </a:ext>
              </a:extLst>
            </p:cNvPr>
            <p:cNvSpPr/>
            <p:nvPr/>
          </p:nvSpPr>
          <p:spPr>
            <a:xfrm>
              <a:off x="5959983" y="3135462"/>
              <a:ext cx="1795596" cy="27900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000" b="1" dirty="0">
                  <a:solidFill>
                    <a:schemeClr val="accent3"/>
                  </a:solidFill>
                </a:rPr>
                <a:t>Governança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489D298-672D-3176-D1B0-D8E8F99230BD}"/>
                </a:ext>
              </a:extLst>
            </p:cNvPr>
            <p:cNvSpPr/>
            <p:nvPr/>
          </p:nvSpPr>
          <p:spPr>
            <a:xfrm>
              <a:off x="6832358" y="5699247"/>
              <a:ext cx="427716" cy="179876"/>
            </a:xfrm>
            <a:prstGeom prst="rect">
              <a:avLst/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900" b="1">
                  <a:solidFill>
                    <a:schemeClr val="bg1"/>
                  </a:solidFill>
                </a:rPr>
                <a:t>?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93D76AD-D534-EA81-8DB0-FADDFFB6FF2F}"/>
                </a:ext>
              </a:extLst>
            </p:cNvPr>
            <p:cNvSpPr/>
            <p:nvPr/>
          </p:nvSpPr>
          <p:spPr>
            <a:xfrm>
              <a:off x="7296282" y="5699247"/>
              <a:ext cx="427716" cy="179876"/>
            </a:xfrm>
            <a:prstGeom prst="rect">
              <a:avLst/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900" b="1">
                  <a:solidFill>
                    <a:schemeClr val="bg1"/>
                  </a:solidFill>
                </a:rPr>
                <a:t>?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C93511B-100A-510C-129B-F2A52B145BFC}"/>
                </a:ext>
              </a:extLst>
            </p:cNvPr>
            <p:cNvSpPr/>
            <p:nvPr/>
          </p:nvSpPr>
          <p:spPr>
            <a:xfrm>
              <a:off x="6832358" y="6074445"/>
              <a:ext cx="427716" cy="179876"/>
            </a:xfrm>
            <a:prstGeom prst="rect">
              <a:avLst/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900" b="1">
                  <a:solidFill>
                    <a:schemeClr val="bg1"/>
                  </a:solidFill>
                </a:rPr>
                <a:t>?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B582400A-62E0-CAAB-B44E-9C757D387377}"/>
                </a:ext>
              </a:extLst>
            </p:cNvPr>
            <p:cNvSpPr/>
            <p:nvPr/>
          </p:nvSpPr>
          <p:spPr>
            <a:xfrm>
              <a:off x="7296282" y="6074445"/>
              <a:ext cx="427716" cy="179876"/>
            </a:xfrm>
            <a:prstGeom prst="rect">
              <a:avLst/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900" b="1">
                  <a:solidFill>
                    <a:schemeClr val="bg1"/>
                  </a:solidFill>
                </a:rPr>
                <a:t>?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271F9295-D859-96BF-C5B2-7D06363E8154}"/>
                </a:ext>
              </a:extLst>
            </p:cNvPr>
            <p:cNvSpPr/>
            <p:nvPr/>
          </p:nvSpPr>
          <p:spPr>
            <a:xfrm>
              <a:off x="6909211" y="5245189"/>
              <a:ext cx="864000" cy="337597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pt-BR" sz="1000" b="1">
                  <a:solidFill>
                    <a:schemeClr val="tx1"/>
                  </a:solidFill>
                </a:rPr>
                <a:t>Produto</a:t>
              </a:r>
            </a:p>
            <a:p>
              <a:r>
                <a:rPr lang="pt-BR" sz="1000" b="1">
                  <a:solidFill>
                    <a:schemeClr val="tx1"/>
                  </a:solidFill>
                </a:rPr>
                <a:t>B2P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D596241-8ACE-611C-AF80-4677507E1239}"/>
                </a:ext>
              </a:extLst>
            </p:cNvPr>
            <p:cNvSpPr/>
            <p:nvPr/>
          </p:nvSpPr>
          <p:spPr>
            <a:xfrm>
              <a:off x="8636203" y="3600090"/>
              <a:ext cx="160396" cy="153303"/>
            </a:xfrm>
            <a:prstGeom prst="rect">
              <a:avLst/>
            </a:prstGeom>
            <a:solidFill>
              <a:schemeClr val="accent6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AC35B9B7-DF2D-C884-A403-B3281240D541}"/>
                </a:ext>
              </a:extLst>
            </p:cNvPr>
            <p:cNvSpPr/>
            <p:nvPr/>
          </p:nvSpPr>
          <p:spPr>
            <a:xfrm>
              <a:off x="8439629" y="3920046"/>
              <a:ext cx="160396" cy="153303"/>
            </a:xfrm>
            <a:prstGeom prst="rect">
              <a:avLst/>
            </a:prstGeom>
            <a:solidFill>
              <a:schemeClr val="accent6">
                <a:lumMod val="10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lIns="36000" tIns="0" rIns="36000" bIns="0" rtlCol="0" anchor="ctr"/>
            <a:lstStyle/>
            <a:p>
              <a:pPr algn="ctr">
                <a:spcBef>
                  <a:spcPts val="600"/>
                </a:spcBef>
              </a:pPr>
              <a:endParaRPr lang="en-US" sz="1100" kern="0" spc="-20">
                <a:solidFill>
                  <a:schemeClr val="tx1"/>
                </a:solidFill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99F90D9C-FBE4-1A62-E883-E3F3B7935BCC}"/>
                </a:ext>
              </a:extLst>
            </p:cNvPr>
            <p:cNvSpPr/>
            <p:nvPr/>
          </p:nvSpPr>
          <p:spPr>
            <a:xfrm>
              <a:off x="8636203" y="3920046"/>
              <a:ext cx="160396" cy="153303"/>
            </a:xfrm>
            <a:prstGeom prst="rect">
              <a:avLst/>
            </a:prstGeom>
            <a:solidFill>
              <a:schemeClr val="accent6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882BD2A4-570A-9284-F122-1DDA266A1D78}"/>
                </a:ext>
              </a:extLst>
            </p:cNvPr>
            <p:cNvSpPr/>
            <p:nvPr/>
          </p:nvSpPr>
          <p:spPr>
            <a:xfrm>
              <a:off x="8832777" y="3920046"/>
              <a:ext cx="160396" cy="153303"/>
            </a:xfrm>
            <a:prstGeom prst="rect">
              <a:avLst/>
            </a:prstGeom>
            <a:solidFill>
              <a:schemeClr val="accent6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1" name="Connector: Elbow 70">
              <a:extLst>
                <a:ext uri="{FF2B5EF4-FFF2-40B4-BE49-F238E27FC236}">
                  <a16:creationId xmlns:a16="http://schemas.microsoft.com/office/drawing/2014/main" id="{485C1A53-B133-4B5F-F6AA-52F274998AED}"/>
                </a:ext>
              </a:extLst>
            </p:cNvPr>
            <p:cNvCxnSpPr>
              <a:stCxn id="68" idx="0"/>
              <a:endCxn id="67" idx="2"/>
            </p:cNvCxnSpPr>
            <p:nvPr/>
          </p:nvCxnSpPr>
          <p:spPr>
            <a:xfrm rot="5400000" flipH="1" flipV="1">
              <a:off x="8534786" y="3738432"/>
              <a:ext cx="166656" cy="196574"/>
            </a:xfrm>
            <a:prstGeom prst="bentConnector3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: Elbow 71">
              <a:extLst>
                <a:ext uri="{FF2B5EF4-FFF2-40B4-BE49-F238E27FC236}">
                  <a16:creationId xmlns:a16="http://schemas.microsoft.com/office/drawing/2014/main" id="{587631B9-6AE0-1651-B88D-85C3A364E01F}"/>
                </a:ext>
              </a:extLst>
            </p:cNvPr>
            <p:cNvCxnSpPr>
              <a:cxnSpLocks/>
              <a:stCxn id="70" idx="0"/>
              <a:endCxn id="67" idx="2"/>
            </p:cNvCxnSpPr>
            <p:nvPr/>
          </p:nvCxnSpPr>
          <p:spPr>
            <a:xfrm rot="16200000" flipV="1">
              <a:off x="8731360" y="3738432"/>
              <a:ext cx="166656" cy="196574"/>
            </a:xfrm>
            <a:prstGeom prst="bentConnector3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ctor: Elbow 303">
              <a:extLst>
                <a:ext uri="{FF2B5EF4-FFF2-40B4-BE49-F238E27FC236}">
                  <a16:creationId xmlns:a16="http://schemas.microsoft.com/office/drawing/2014/main" id="{1A9E3E48-B181-59DE-FFCE-130581D854E3}"/>
                </a:ext>
              </a:extLst>
            </p:cNvPr>
            <p:cNvCxnSpPr>
              <a:cxnSpLocks/>
              <a:stCxn id="69" idx="0"/>
              <a:endCxn id="67" idx="2"/>
            </p:cNvCxnSpPr>
            <p:nvPr/>
          </p:nvCxnSpPr>
          <p:spPr>
            <a:xfrm flipV="1">
              <a:off x="8716401" y="3753393"/>
              <a:ext cx="0" cy="166656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E8E25E99-C5BD-7E4D-B18F-B4B5A2FFE00B}"/>
                </a:ext>
              </a:extLst>
            </p:cNvPr>
            <p:cNvSpPr/>
            <p:nvPr/>
          </p:nvSpPr>
          <p:spPr>
            <a:xfrm>
              <a:off x="9259192" y="3600090"/>
              <a:ext cx="160396" cy="153303"/>
            </a:xfrm>
            <a:prstGeom prst="rect">
              <a:avLst/>
            </a:prstGeom>
            <a:solidFill>
              <a:schemeClr val="accent6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A74F0E6-49F3-E55A-9582-3975114B51C7}"/>
                </a:ext>
              </a:extLst>
            </p:cNvPr>
            <p:cNvSpPr/>
            <p:nvPr/>
          </p:nvSpPr>
          <p:spPr>
            <a:xfrm>
              <a:off x="9062618" y="3920046"/>
              <a:ext cx="160396" cy="153303"/>
            </a:xfrm>
            <a:prstGeom prst="rect">
              <a:avLst/>
            </a:prstGeom>
            <a:solidFill>
              <a:schemeClr val="accent6">
                <a:lumMod val="10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lIns="36000" tIns="0" rIns="36000" bIns="0" rtlCol="0" anchor="ctr"/>
            <a:lstStyle/>
            <a:p>
              <a:pPr algn="ctr">
                <a:spcBef>
                  <a:spcPts val="600"/>
                </a:spcBef>
              </a:pPr>
              <a:endParaRPr lang="en-US" sz="1100" kern="0" spc="-20">
                <a:solidFill>
                  <a:schemeClr val="tx1"/>
                </a:solidFill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EB5AA1B9-5F42-7450-8E44-DAA8E6B11327}"/>
                </a:ext>
              </a:extLst>
            </p:cNvPr>
            <p:cNvSpPr/>
            <p:nvPr/>
          </p:nvSpPr>
          <p:spPr>
            <a:xfrm>
              <a:off x="9259192" y="3920046"/>
              <a:ext cx="160396" cy="153303"/>
            </a:xfrm>
            <a:prstGeom prst="rect">
              <a:avLst/>
            </a:prstGeom>
            <a:solidFill>
              <a:schemeClr val="accent6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9C36A594-416D-0694-CF10-5A01F0941EFA}"/>
                </a:ext>
              </a:extLst>
            </p:cNvPr>
            <p:cNvSpPr/>
            <p:nvPr/>
          </p:nvSpPr>
          <p:spPr>
            <a:xfrm>
              <a:off x="9455766" y="3920046"/>
              <a:ext cx="160396" cy="153303"/>
            </a:xfrm>
            <a:prstGeom prst="rect">
              <a:avLst/>
            </a:prstGeom>
            <a:solidFill>
              <a:schemeClr val="accent6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8" name="Connector: Elbow 77">
              <a:extLst>
                <a:ext uri="{FF2B5EF4-FFF2-40B4-BE49-F238E27FC236}">
                  <a16:creationId xmlns:a16="http://schemas.microsoft.com/office/drawing/2014/main" id="{D5E95B96-F1C2-8A9C-E65A-3951AED13366}"/>
                </a:ext>
              </a:extLst>
            </p:cNvPr>
            <p:cNvCxnSpPr>
              <a:stCxn id="75" idx="0"/>
              <a:endCxn id="74" idx="2"/>
            </p:cNvCxnSpPr>
            <p:nvPr/>
          </p:nvCxnSpPr>
          <p:spPr>
            <a:xfrm rot="5400000" flipH="1" flipV="1">
              <a:off x="9157777" y="3738434"/>
              <a:ext cx="166654" cy="196574"/>
            </a:xfrm>
            <a:prstGeom prst="bentConnector3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or: Elbow 78">
              <a:extLst>
                <a:ext uri="{FF2B5EF4-FFF2-40B4-BE49-F238E27FC236}">
                  <a16:creationId xmlns:a16="http://schemas.microsoft.com/office/drawing/2014/main" id="{D40452D6-5151-CFB5-252A-1D2694259124}"/>
                </a:ext>
              </a:extLst>
            </p:cNvPr>
            <p:cNvCxnSpPr>
              <a:cxnSpLocks/>
              <a:stCxn id="77" idx="0"/>
              <a:endCxn id="74" idx="2"/>
            </p:cNvCxnSpPr>
            <p:nvPr/>
          </p:nvCxnSpPr>
          <p:spPr>
            <a:xfrm rot="16200000" flipV="1">
              <a:off x="9354351" y="3738433"/>
              <a:ext cx="166654" cy="196573"/>
            </a:xfrm>
            <a:prstGeom prst="bentConnector3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or: Elbow 303">
              <a:extLst>
                <a:ext uri="{FF2B5EF4-FFF2-40B4-BE49-F238E27FC236}">
                  <a16:creationId xmlns:a16="http://schemas.microsoft.com/office/drawing/2014/main" id="{B1BB9F6D-A86C-CB22-46D3-166A65FB777E}"/>
                </a:ext>
              </a:extLst>
            </p:cNvPr>
            <p:cNvCxnSpPr>
              <a:cxnSpLocks/>
              <a:stCxn id="76" idx="0"/>
              <a:endCxn id="74" idx="2"/>
            </p:cNvCxnSpPr>
            <p:nvPr/>
          </p:nvCxnSpPr>
          <p:spPr>
            <a:xfrm flipV="1">
              <a:off x="9339391" y="3753393"/>
              <a:ext cx="0" cy="166654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D0C1DEBE-D659-E92C-6CF2-4C4B301ACD13}"/>
                </a:ext>
              </a:extLst>
            </p:cNvPr>
            <p:cNvSpPr/>
            <p:nvPr/>
          </p:nvSpPr>
          <p:spPr>
            <a:xfrm>
              <a:off x="9895888" y="3600090"/>
              <a:ext cx="160396" cy="153303"/>
            </a:xfrm>
            <a:prstGeom prst="rect">
              <a:avLst/>
            </a:prstGeom>
            <a:solidFill>
              <a:schemeClr val="accent6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960FEED0-904C-37D1-6B97-90442BAC464E}"/>
                </a:ext>
              </a:extLst>
            </p:cNvPr>
            <p:cNvSpPr/>
            <p:nvPr/>
          </p:nvSpPr>
          <p:spPr>
            <a:xfrm>
              <a:off x="9699313" y="3920046"/>
              <a:ext cx="160396" cy="153303"/>
            </a:xfrm>
            <a:prstGeom prst="rect">
              <a:avLst/>
            </a:prstGeom>
            <a:solidFill>
              <a:schemeClr val="accent6">
                <a:lumMod val="10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lIns="36000" tIns="0" rIns="36000" bIns="0" rtlCol="0" anchor="ctr"/>
            <a:lstStyle/>
            <a:p>
              <a:pPr algn="ctr">
                <a:spcBef>
                  <a:spcPts val="600"/>
                </a:spcBef>
              </a:pPr>
              <a:endParaRPr lang="en-US" sz="1100" kern="0" spc="-20">
                <a:solidFill>
                  <a:schemeClr val="tx1"/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1221B28C-C727-41AE-DD0B-FAC204F21646}"/>
                </a:ext>
              </a:extLst>
            </p:cNvPr>
            <p:cNvSpPr/>
            <p:nvPr/>
          </p:nvSpPr>
          <p:spPr>
            <a:xfrm>
              <a:off x="9895888" y="3920046"/>
              <a:ext cx="160396" cy="153303"/>
            </a:xfrm>
            <a:prstGeom prst="rect">
              <a:avLst/>
            </a:prstGeom>
            <a:solidFill>
              <a:schemeClr val="accent6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58FB128-243C-E9F7-83DB-2C8D48867BB2}"/>
                </a:ext>
              </a:extLst>
            </p:cNvPr>
            <p:cNvSpPr/>
            <p:nvPr/>
          </p:nvSpPr>
          <p:spPr>
            <a:xfrm>
              <a:off x="10092461" y="3920046"/>
              <a:ext cx="160396" cy="153303"/>
            </a:xfrm>
            <a:prstGeom prst="rect">
              <a:avLst/>
            </a:prstGeom>
            <a:solidFill>
              <a:schemeClr val="accent6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5" name="Connector: Elbow 84">
              <a:extLst>
                <a:ext uri="{FF2B5EF4-FFF2-40B4-BE49-F238E27FC236}">
                  <a16:creationId xmlns:a16="http://schemas.microsoft.com/office/drawing/2014/main" id="{36F19B64-3719-5DA7-6781-12CEB2319AE7}"/>
                </a:ext>
              </a:extLst>
            </p:cNvPr>
            <p:cNvCxnSpPr>
              <a:stCxn id="82" idx="0"/>
              <a:endCxn id="81" idx="2"/>
            </p:cNvCxnSpPr>
            <p:nvPr/>
          </p:nvCxnSpPr>
          <p:spPr>
            <a:xfrm rot="5400000" flipH="1" flipV="1">
              <a:off x="9794470" y="3738432"/>
              <a:ext cx="166656" cy="196574"/>
            </a:xfrm>
            <a:prstGeom prst="bentConnector3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ctor: Elbow 85">
              <a:extLst>
                <a:ext uri="{FF2B5EF4-FFF2-40B4-BE49-F238E27FC236}">
                  <a16:creationId xmlns:a16="http://schemas.microsoft.com/office/drawing/2014/main" id="{E10EE831-0319-0033-C8D2-8440946860EA}"/>
                </a:ext>
              </a:extLst>
            </p:cNvPr>
            <p:cNvCxnSpPr>
              <a:cxnSpLocks/>
              <a:stCxn id="84" idx="0"/>
              <a:endCxn id="81" idx="2"/>
            </p:cNvCxnSpPr>
            <p:nvPr/>
          </p:nvCxnSpPr>
          <p:spPr>
            <a:xfrm rot="16200000" flipV="1">
              <a:off x="9991044" y="3738432"/>
              <a:ext cx="166656" cy="196574"/>
            </a:xfrm>
            <a:prstGeom prst="bentConnector3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ctor: Elbow 303">
              <a:extLst>
                <a:ext uri="{FF2B5EF4-FFF2-40B4-BE49-F238E27FC236}">
                  <a16:creationId xmlns:a16="http://schemas.microsoft.com/office/drawing/2014/main" id="{4420FF77-A306-86BE-AC14-3C6CB44CF545}"/>
                </a:ext>
              </a:extLst>
            </p:cNvPr>
            <p:cNvCxnSpPr>
              <a:cxnSpLocks/>
              <a:stCxn id="83" idx="0"/>
              <a:endCxn id="81" idx="2"/>
            </p:cNvCxnSpPr>
            <p:nvPr/>
          </p:nvCxnSpPr>
          <p:spPr>
            <a:xfrm flipV="1">
              <a:off x="9976085" y="3753393"/>
              <a:ext cx="0" cy="166656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481753E-4567-8717-E882-0E483D49EDD4}"/>
                </a:ext>
              </a:extLst>
            </p:cNvPr>
            <p:cNvSpPr/>
            <p:nvPr/>
          </p:nvSpPr>
          <p:spPr>
            <a:xfrm>
              <a:off x="9259192" y="3202302"/>
              <a:ext cx="160396" cy="153303"/>
            </a:xfrm>
            <a:prstGeom prst="rect">
              <a:avLst/>
            </a:prstGeom>
            <a:solidFill>
              <a:schemeClr val="accent6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9" name="Connector: Elbow 303">
              <a:extLst>
                <a:ext uri="{FF2B5EF4-FFF2-40B4-BE49-F238E27FC236}">
                  <a16:creationId xmlns:a16="http://schemas.microsoft.com/office/drawing/2014/main" id="{96728097-C3AA-DDF5-1152-E8D28451FA58}"/>
                </a:ext>
              </a:extLst>
            </p:cNvPr>
            <p:cNvCxnSpPr>
              <a:cxnSpLocks/>
              <a:stCxn id="81" idx="0"/>
              <a:endCxn id="88" idx="2"/>
            </p:cNvCxnSpPr>
            <p:nvPr/>
          </p:nvCxnSpPr>
          <p:spPr>
            <a:xfrm rot="16200000" flipV="1">
              <a:off x="9535496" y="3159499"/>
              <a:ext cx="244486" cy="63669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: Elbow 303">
              <a:extLst>
                <a:ext uri="{FF2B5EF4-FFF2-40B4-BE49-F238E27FC236}">
                  <a16:creationId xmlns:a16="http://schemas.microsoft.com/office/drawing/2014/main" id="{103E7A5B-9146-1466-84FD-E077C4695D1F}"/>
                </a:ext>
              </a:extLst>
            </p:cNvPr>
            <p:cNvCxnSpPr>
              <a:cxnSpLocks/>
              <a:stCxn id="74" idx="0"/>
              <a:endCxn id="88" idx="2"/>
            </p:cNvCxnSpPr>
            <p:nvPr/>
          </p:nvCxnSpPr>
          <p:spPr>
            <a:xfrm flipV="1">
              <a:off x="9339391" y="3355605"/>
              <a:ext cx="0" cy="244486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or: Elbow 303">
              <a:extLst>
                <a:ext uri="{FF2B5EF4-FFF2-40B4-BE49-F238E27FC236}">
                  <a16:creationId xmlns:a16="http://schemas.microsoft.com/office/drawing/2014/main" id="{58B45C93-72D9-3F6A-324C-598D23D48BA5}"/>
                </a:ext>
              </a:extLst>
            </p:cNvPr>
            <p:cNvCxnSpPr>
              <a:cxnSpLocks/>
              <a:stCxn id="88" idx="2"/>
              <a:endCxn id="67" idx="0"/>
            </p:cNvCxnSpPr>
            <p:nvPr/>
          </p:nvCxnSpPr>
          <p:spPr>
            <a:xfrm rot="5400000">
              <a:off x="8905654" y="3166354"/>
              <a:ext cx="244486" cy="622989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7C4263DB-38CE-61B8-64E1-B6DC89BA1A10}"/>
                </a:ext>
              </a:extLst>
            </p:cNvPr>
            <p:cNvSpPr txBox="1"/>
            <p:nvPr/>
          </p:nvSpPr>
          <p:spPr>
            <a:xfrm>
              <a:off x="8474624" y="2634812"/>
              <a:ext cx="1813228" cy="402987"/>
            </a:xfrm>
            <a:prstGeom prst="rect">
              <a:avLst/>
            </a:prstGeom>
            <a:solidFill>
              <a:schemeClr val="accent3"/>
            </a:solidFill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pt-BR" sz="1000" b="1">
                  <a:solidFill>
                    <a:srgbClr val="FFFFFF"/>
                  </a:solidFill>
                </a:rPr>
                <a:t>ESTRUTURA ORGANIZACIONAL</a:t>
              </a:r>
              <a:endParaRPr lang="pt-BR" sz="1000">
                <a:solidFill>
                  <a:srgbClr val="FFFFFF"/>
                </a:solidFill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C934525-4362-6A06-7A33-9D460E88288D}"/>
                </a:ext>
              </a:extLst>
            </p:cNvPr>
            <p:cNvSpPr txBox="1"/>
            <p:nvPr/>
          </p:nvSpPr>
          <p:spPr>
            <a:xfrm>
              <a:off x="9810157" y="2466678"/>
              <a:ext cx="477695" cy="12311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ilustrativo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BA65A3E8-00F5-BE70-755B-E1CB945F6CF2}"/>
                </a:ext>
              </a:extLst>
            </p:cNvPr>
            <p:cNvSpPr txBox="1"/>
            <p:nvPr/>
          </p:nvSpPr>
          <p:spPr>
            <a:xfrm>
              <a:off x="8474624" y="4786143"/>
              <a:ext cx="1813228" cy="402987"/>
            </a:xfrm>
            <a:prstGeom prst="rect">
              <a:avLst/>
            </a:prstGeom>
            <a:solidFill>
              <a:schemeClr val="accent3"/>
            </a:solidFill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pt-BR" sz="1000" b="1">
                  <a:solidFill>
                    <a:srgbClr val="FFFFFF"/>
                  </a:solidFill>
                </a:rPr>
                <a:t>GESTÃO PORTFÓLIO</a:t>
              </a:r>
              <a:br>
                <a:rPr lang="pt-BR" sz="1000" b="1">
                  <a:solidFill>
                    <a:srgbClr val="FFFFFF"/>
                  </a:solidFill>
                </a:rPr>
              </a:br>
              <a:r>
                <a:rPr lang="pt-BR" sz="800">
                  <a:solidFill>
                    <a:srgbClr val="FFFFFF"/>
                  </a:solidFill>
                </a:rPr>
                <a:t>(prioridades e planos)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EBDF0DF-F5E0-6257-4FB7-359822505929}"/>
                </a:ext>
              </a:extLst>
            </p:cNvPr>
            <p:cNvSpPr txBox="1"/>
            <p:nvPr/>
          </p:nvSpPr>
          <p:spPr>
            <a:xfrm>
              <a:off x="9810157" y="4642322"/>
              <a:ext cx="477695" cy="12311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ilustrativo</a:t>
              </a:r>
            </a:p>
          </p:txBody>
        </p:sp>
        <p:sp>
          <p:nvSpPr>
            <p:cNvPr id="96" name="Arrow: Left-Right 95">
              <a:extLst>
                <a:ext uri="{FF2B5EF4-FFF2-40B4-BE49-F238E27FC236}">
                  <a16:creationId xmlns:a16="http://schemas.microsoft.com/office/drawing/2014/main" id="{1888D37E-23EF-08EB-4D23-6FBD7B0BAD4A}"/>
                </a:ext>
              </a:extLst>
            </p:cNvPr>
            <p:cNvSpPr/>
            <p:nvPr/>
          </p:nvSpPr>
          <p:spPr>
            <a:xfrm>
              <a:off x="7915061" y="3588269"/>
              <a:ext cx="417712" cy="175032"/>
            </a:xfrm>
            <a:prstGeom prst="left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err="1"/>
            </a:p>
          </p:txBody>
        </p:sp>
        <p:sp>
          <p:nvSpPr>
            <p:cNvPr id="97" name="Arrow: Left-Right 96">
              <a:extLst>
                <a:ext uri="{FF2B5EF4-FFF2-40B4-BE49-F238E27FC236}">
                  <a16:creationId xmlns:a16="http://schemas.microsoft.com/office/drawing/2014/main" id="{F22FBBEC-1147-7C41-88D2-D897A4B87A3F}"/>
                </a:ext>
              </a:extLst>
            </p:cNvPr>
            <p:cNvSpPr/>
            <p:nvPr/>
          </p:nvSpPr>
          <p:spPr>
            <a:xfrm>
              <a:off x="7915061" y="5541384"/>
              <a:ext cx="417712" cy="175032"/>
            </a:xfrm>
            <a:prstGeom prst="left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err="1"/>
            </a:p>
          </p:txBody>
        </p:sp>
        <p:sp>
          <p:nvSpPr>
            <p:cNvPr id="98" name="Arrow: Left-Right 97">
              <a:extLst>
                <a:ext uri="{FF2B5EF4-FFF2-40B4-BE49-F238E27FC236}">
                  <a16:creationId xmlns:a16="http://schemas.microsoft.com/office/drawing/2014/main" id="{B55F6795-D8E3-95A1-B9DE-3DEC65F61F91}"/>
                </a:ext>
              </a:extLst>
            </p:cNvPr>
            <p:cNvSpPr/>
            <p:nvPr/>
          </p:nvSpPr>
          <p:spPr>
            <a:xfrm rot="5400000">
              <a:off x="9172382" y="4424982"/>
              <a:ext cx="417712" cy="175032"/>
            </a:xfrm>
            <a:prstGeom prst="left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err="1"/>
            </a:p>
          </p:txBody>
        </p:sp>
        <p:sp>
          <p:nvSpPr>
            <p:cNvPr id="99" name="Arrow: Left-Right 98">
              <a:extLst>
                <a:ext uri="{FF2B5EF4-FFF2-40B4-BE49-F238E27FC236}">
                  <a16:creationId xmlns:a16="http://schemas.microsoft.com/office/drawing/2014/main" id="{54432278-C61B-D246-0F27-F2C246721B87}"/>
                </a:ext>
              </a:extLst>
            </p:cNvPr>
            <p:cNvSpPr/>
            <p:nvPr/>
          </p:nvSpPr>
          <p:spPr>
            <a:xfrm rot="5400000">
              <a:off x="6657741" y="4424983"/>
              <a:ext cx="417712" cy="175032"/>
            </a:xfrm>
            <a:prstGeom prst="left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err="1"/>
            </a:p>
          </p:txBody>
        </p:sp>
        <p:sp>
          <p:nvSpPr>
            <p:cNvPr id="100" name="Arrow: Left-Right 99">
              <a:extLst>
                <a:ext uri="{FF2B5EF4-FFF2-40B4-BE49-F238E27FC236}">
                  <a16:creationId xmlns:a16="http://schemas.microsoft.com/office/drawing/2014/main" id="{E3F7889F-8084-C21F-8403-BA72BA5D5690}"/>
                </a:ext>
              </a:extLst>
            </p:cNvPr>
            <p:cNvSpPr/>
            <p:nvPr/>
          </p:nvSpPr>
          <p:spPr>
            <a:xfrm rot="2700000">
              <a:off x="7787553" y="4439068"/>
              <a:ext cx="672728" cy="175032"/>
            </a:xfrm>
            <a:prstGeom prst="left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err="1"/>
            </a:p>
          </p:txBody>
        </p:sp>
        <p:sp>
          <p:nvSpPr>
            <p:cNvPr id="101" name="Arrow: Left-Right 100">
              <a:extLst>
                <a:ext uri="{FF2B5EF4-FFF2-40B4-BE49-F238E27FC236}">
                  <a16:creationId xmlns:a16="http://schemas.microsoft.com/office/drawing/2014/main" id="{79419F95-7EEC-81DD-04C7-0BEFF4336082}"/>
                </a:ext>
              </a:extLst>
            </p:cNvPr>
            <p:cNvSpPr/>
            <p:nvPr/>
          </p:nvSpPr>
          <p:spPr>
            <a:xfrm rot="18900000">
              <a:off x="7787553" y="4439069"/>
              <a:ext cx="672728" cy="175032"/>
            </a:xfrm>
            <a:prstGeom prst="left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err="1"/>
            </a:p>
          </p:txBody>
        </p:sp>
        <p:sp>
          <p:nvSpPr>
            <p:cNvPr id="102" name="Isosceles Triangle 101">
              <a:extLst>
                <a:ext uri="{FF2B5EF4-FFF2-40B4-BE49-F238E27FC236}">
                  <a16:creationId xmlns:a16="http://schemas.microsoft.com/office/drawing/2014/main" id="{F514CE5E-4830-2F9F-DC58-7CF631EF8F19}"/>
                </a:ext>
              </a:extLst>
            </p:cNvPr>
            <p:cNvSpPr/>
            <p:nvPr/>
          </p:nvSpPr>
          <p:spPr>
            <a:xfrm>
              <a:off x="8474624" y="5245189"/>
              <a:ext cx="230133" cy="1085227"/>
            </a:xfrm>
            <a:prstGeom prst="triangle">
              <a:avLst/>
            </a:prstGeom>
            <a:gradFill>
              <a:gsLst>
                <a:gs pos="0">
                  <a:schemeClr val="accent2"/>
                </a:gs>
                <a:gs pos="50000">
                  <a:schemeClr val="accent3"/>
                </a:gs>
                <a:gs pos="100000">
                  <a:schemeClr val="accent4">
                    <a:lumMod val="7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err="1"/>
            </a:p>
          </p:txBody>
        </p:sp>
        <p:sp>
          <p:nvSpPr>
            <p:cNvPr id="103" name="Arrow: Left-Right 102">
              <a:extLst>
                <a:ext uri="{FF2B5EF4-FFF2-40B4-BE49-F238E27FC236}">
                  <a16:creationId xmlns:a16="http://schemas.microsoft.com/office/drawing/2014/main" id="{C5B413CC-CC34-52D5-44BF-66CC87A38877}"/>
                </a:ext>
              </a:extLst>
            </p:cNvPr>
            <p:cNvSpPr/>
            <p:nvPr/>
          </p:nvSpPr>
          <p:spPr>
            <a:xfrm rot="5400000">
              <a:off x="6107879" y="3867206"/>
              <a:ext cx="235787" cy="89820"/>
            </a:xfrm>
            <a:prstGeom prst="leftRightArrow">
              <a:avLst/>
            </a:prstGeom>
            <a:solidFill>
              <a:schemeClr val="accent6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err="1"/>
            </a:p>
          </p:txBody>
        </p:sp>
        <p:sp>
          <p:nvSpPr>
            <p:cNvPr id="104" name="Arrow: Left-Right 103">
              <a:extLst>
                <a:ext uri="{FF2B5EF4-FFF2-40B4-BE49-F238E27FC236}">
                  <a16:creationId xmlns:a16="http://schemas.microsoft.com/office/drawing/2014/main" id="{A7F8319D-66F2-F28C-705C-BE7F1D416C60}"/>
                </a:ext>
              </a:extLst>
            </p:cNvPr>
            <p:cNvSpPr/>
            <p:nvPr/>
          </p:nvSpPr>
          <p:spPr>
            <a:xfrm rot="5400000">
              <a:off x="6739887" y="3867207"/>
              <a:ext cx="235787" cy="89820"/>
            </a:xfrm>
            <a:prstGeom prst="leftRightArrow">
              <a:avLst/>
            </a:prstGeom>
            <a:solidFill>
              <a:schemeClr val="accent6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err="1"/>
            </a:p>
          </p:txBody>
        </p:sp>
        <p:sp>
          <p:nvSpPr>
            <p:cNvPr id="105" name="Arrow: Left-Right 104">
              <a:extLst>
                <a:ext uri="{FF2B5EF4-FFF2-40B4-BE49-F238E27FC236}">
                  <a16:creationId xmlns:a16="http://schemas.microsoft.com/office/drawing/2014/main" id="{FA53C858-7D79-8AFB-86DA-8685661B9972}"/>
                </a:ext>
              </a:extLst>
            </p:cNvPr>
            <p:cNvSpPr/>
            <p:nvPr/>
          </p:nvSpPr>
          <p:spPr>
            <a:xfrm rot="5400000">
              <a:off x="7380803" y="3867208"/>
              <a:ext cx="235787" cy="89820"/>
            </a:xfrm>
            <a:prstGeom prst="leftRightArrow">
              <a:avLst/>
            </a:prstGeom>
            <a:solidFill>
              <a:schemeClr val="accent6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err="1"/>
            </a:p>
          </p:txBody>
        </p:sp>
        <p:sp>
          <p:nvSpPr>
            <p:cNvPr id="106" name="Arrow: Left-Right 105">
              <a:extLst>
                <a:ext uri="{FF2B5EF4-FFF2-40B4-BE49-F238E27FC236}">
                  <a16:creationId xmlns:a16="http://schemas.microsoft.com/office/drawing/2014/main" id="{0CD105AF-3D88-4ED7-7187-7307BB34B456}"/>
                </a:ext>
              </a:extLst>
            </p:cNvPr>
            <p:cNvSpPr/>
            <p:nvPr/>
          </p:nvSpPr>
          <p:spPr>
            <a:xfrm rot="5400000">
              <a:off x="6107879" y="3423880"/>
              <a:ext cx="235787" cy="89820"/>
            </a:xfrm>
            <a:prstGeom prst="leftRightArrow">
              <a:avLst/>
            </a:prstGeom>
            <a:solidFill>
              <a:schemeClr val="accent6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err="1"/>
            </a:p>
          </p:txBody>
        </p:sp>
        <p:sp>
          <p:nvSpPr>
            <p:cNvPr id="107" name="Arrow: Left-Right 106">
              <a:extLst>
                <a:ext uri="{FF2B5EF4-FFF2-40B4-BE49-F238E27FC236}">
                  <a16:creationId xmlns:a16="http://schemas.microsoft.com/office/drawing/2014/main" id="{91816F0B-4FE9-BEC4-FACE-7C663CB6B01C}"/>
                </a:ext>
              </a:extLst>
            </p:cNvPr>
            <p:cNvSpPr/>
            <p:nvPr/>
          </p:nvSpPr>
          <p:spPr>
            <a:xfrm rot="5400000">
              <a:off x="6739887" y="3423881"/>
              <a:ext cx="235787" cy="89820"/>
            </a:xfrm>
            <a:prstGeom prst="leftRightArrow">
              <a:avLst/>
            </a:prstGeom>
            <a:solidFill>
              <a:schemeClr val="accent6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err="1"/>
            </a:p>
          </p:txBody>
        </p:sp>
        <p:sp>
          <p:nvSpPr>
            <p:cNvPr id="108" name="Arrow: Left-Right 107">
              <a:extLst>
                <a:ext uri="{FF2B5EF4-FFF2-40B4-BE49-F238E27FC236}">
                  <a16:creationId xmlns:a16="http://schemas.microsoft.com/office/drawing/2014/main" id="{06992593-1386-D1AF-78BC-DD26819E3783}"/>
                </a:ext>
              </a:extLst>
            </p:cNvPr>
            <p:cNvSpPr/>
            <p:nvPr/>
          </p:nvSpPr>
          <p:spPr>
            <a:xfrm rot="5400000">
              <a:off x="7380803" y="3423882"/>
              <a:ext cx="235787" cy="89820"/>
            </a:xfrm>
            <a:prstGeom prst="leftRightArrow">
              <a:avLst/>
            </a:prstGeom>
            <a:solidFill>
              <a:schemeClr val="accent6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err="1"/>
            </a:p>
          </p:txBody>
        </p:sp>
        <p:sp>
          <p:nvSpPr>
            <p:cNvPr id="109" name="Arrow: Left-Right 108">
              <a:extLst>
                <a:ext uri="{FF2B5EF4-FFF2-40B4-BE49-F238E27FC236}">
                  <a16:creationId xmlns:a16="http://schemas.microsoft.com/office/drawing/2014/main" id="{15153870-EDFF-4729-C076-39B1B98DE6BA}"/>
                </a:ext>
              </a:extLst>
            </p:cNvPr>
            <p:cNvSpPr/>
            <p:nvPr/>
          </p:nvSpPr>
          <p:spPr>
            <a:xfrm rot="5400000">
              <a:off x="6197767" y="3645544"/>
              <a:ext cx="679111" cy="89820"/>
            </a:xfrm>
            <a:prstGeom prst="leftRightArrow">
              <a:avLst/>
            </a:prstGeom>
            <a:solidFill>
              <a:schemeClr val="accent6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err="1"/>
            </a:p>
          </p:txBody>
        </p:sp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5D889DBB-9A6A-F401-9293-BDBF3D24780A}"/>
                </a:ext>
              </a:extLst>
            </p:cNvPr>
            <p:cNvSpPr/>
            <p:nvPr/>
          </p:nvSpPr>
          <p:spPr>
            <a:xfrm>
              <a:off x="9041334" y="5245154"/>
              <a:ext cx="294240" cy="179876"/>
            </a:xfrm>
            <a:prstGeom prst="roundRect">
              <a:avLst/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700">
                  <a:solidFill>
                    <a:schemeClr val="bg1"/>
                  </a:solidFill>
                </a:rPr>
                <a:t>OKR</a:t>
              </a:r>
            </a:p>
          </p:txBody>
        </p:sp>
        <p:sp>
          <p:nvSpPr>
            <p:cNvPr id="111" name="Rectangle: Rounded Corners 110">
              <a:extLst>
                <a:ext uri="{FF2B5EF4-FFF2-40B4-BE49-F238E27FC236}">
                  <a16:creationId xmlns:a16="http://schemas.microsoft.com/office/drawing/2014/main" id="{0BBC91B4-24DC-B037-EF35-1E37288FC88F}"/>
                </a:ext>
              </a:extLst>
            </p:cNvPr>
            <p:cNvSpPr/>
            <p:nvPr/>
          </p:nvSpPr>
          <p:spPr>
            <a:xfrm>
              <a:off x="8882040" y="5660806"/>
              <a:ext cx="294240" cy="179876"/>
            </a:xfrm>
            <a:prstGeom prst="roundRect">
              <a:avLst/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700">
                  <a:solidFill>
                    <a:schemeClr val="bg1"/>
                  </a:solidFill>
                </a:rPr>
                <a:t>OKR</a:t>
              </a:r>
            </a:p>
          </p:txBody>
        </p:sp>
        <p:sp>
          <p:nvSpPr>
            <p:cNvPr id="112" name="Rectangle: Rounded Corners 111">
              <a:extLst>
                <a:ext uri="{FF2B5EF4-FFF2-40B4-BE49-F238E27FC236}">
                  <a16:creationId xmlns:a16="http://schemas.microsoft.com/office/drawing/2014/main" id="{95A2CE7C-B793-B230-193A-F9DADD72F5EE}"/>
                </a:ext>
              </a:extLst>
            </p:cNvPr>
            <p:cNvSpPr/>
            <p:nvPr/>
          </p:nvSpPr>
          <p:spPr>
            <a:xfrm>
              <a:off x="9200628" y="5660806"/>
              <a:ext cx="294240" cy="179876"/>
            </a:xfrm>
            <a:prstGeom prst="roundRect">
              <a:avLst/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700">
                  <a:solidFill>
                    <a:schemeClr val="bg1"/>
                  </a:solidFill>
                </a:rPr>
                <a:t>OKR</a:t>
              </a:r>
            </a:p>
          </p:txBody>
        </p:sp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BBFC777F-8ACA-6B00-13CC-5A14616A670A}"/>
                </a:ext>
              </a:extLst>
            </p:cNvPr>
            <p:cNvSpPr/>
            <p:nvPr/>
          </p:nvSpPr>
          <p:spPr>
            <a:xfrm>
              <a:off x="8722746" y="6074445"/>
              <a:ext cx="294240" cy="179876"/>
            </a:xfrm>
            <a:prstGeom prst="roundRect">
              <a:avLst/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700">
                  <a:solidFill>
                    <a:schemeClr val="bg1"/>
                  </a:solidFill>
                </a:rPr>
                <a:t>OKR</a:t>
              </a:r>
            </a:p>
          </p:txBody>
        </p:sp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49AD18C5-3BD7-68BF-A95C-006424E72447}"/>
                </a:ext>
              </a:extLst>
            </p:cNvPr>
            <p:cNvSpPr/>
            <p:nvPr/>
          </p:nvSpPr>
          <p:spPr>
            <a:xfrm>
              <a:off x="9041334" y="6074445"/>
              <a:ext cx="294240" cy="179876"/>
            </a:xfrm>
            <a:prstGeom prst="roundRect">
              <a:avLst/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700">
                  <a:solidFill>
                    <a:schemeClr val="bg1"/>
                  </a:solidFill>
                </a:rPr>
                <a:t>OKR</a:t>
              </a:r>
            </a:p>
          </p:txBody>
        </p:sp>
        <p:sp>
          <p:nvSpPr>
            <p:cNvPr id="115" name="Rectangle: Rounded Corners 114">
              <a:extLst>
                <a:ext uri="{FF2B5EF4-FFF2-40B4-BE49-F238E27FC236}">
                  <a16:creationId xmlns:a16="http://schemas.microsoft.com/office/drawing/2014/main" id="{832AE1D2-A0E2-30C8-571D-D23EF368F1CD}"/>
                </a:ext>
              </a:extLst>
            </p:cNvPr>
            <p:cNvSpPr/>
            <p:nvPr/>
          </p:nvSpPr>
          <p:spPr>
            <a:xfrm>
              <a:off x="9359922" y="6074445"/>
              <a:ext cx="294240" cy="179876"/>
            </a:xfrm>
            <a:prstGeom prst="roundRect">
              <a:avLst/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700">
                  <a:solidFill>
                    <a:schemeClr val="bg1"/>
                  </a:solidFill>
                </a:rPr>
                <a:t>OKR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30AFA5B-2E16-0F77-7ACA-4DDACFCFAE45}"/>
                </a:ext>
              </a:extLst>
            </p:cNvPr>
            <p:cNvSpPr txBox="1"/>
            <p:nvPr/>
          </p:nvSpPr>
          <p:spPr>
            <a:xfrm>
              <a:off x="10047402" y="5238532"/>
              <a:ext cx="240450" cy="24622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Tese</a:t>
              </a:r>
              <a:b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B2B?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8872ADD6-0ED1-9960-9440-0BF9377A5BFF}"/>
                </a:ext>
              </a:extLst>
            </p:cNvPr>
            <p:cNvSpPr txBox="1"/>
            <p:nvPr/>
          </p:nvSpPr>
          <p:spPr>
            <a:xfrm>
              <a:off x="9712373" y="5238532"/>
              <a:ext cx="235642" cy="24622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Tese</a:t>
              </a:r>
            </a:p>
            <a:p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B2P?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B8DF7FB3-C181-B843-47EE-984CA3533B89}"/>
                </a:ext>
              </a:extLst>
            </p:cNvPr>
            <p:cNvSpPr txBox="1"/>
            <p:nvPr/>
          </p:nvSpPr>
          <p:spPr>
            <a:xfrm>
              <a:off x="9712373" y="5603136"/>
              <a:ext cx="575479" cy="24622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Tese das</a:t>
              </a:r>
              <a:b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Aquisições?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7C6E61E-101B-CE8C-1674-0D19400950A2}"/>
                </a:ext>
              </a:extLst>
            </p:cNvPr>
            <p:cNvSpPr txBox="1"/>
            <p:nvPr/>
          </p:nvSpPr>
          <p:spPr>
            <a:xfrm>
              <a:off x="9699549" y="6008100"/>
              <a:ext cx="588303" cy="24622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Evolução de</a:t>
              </a:r>
              <a:b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Produto?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A8D04EB2-989A-FAB5-3B32-C9BCE1DB7A92}"/>
                </a:ext>
              </a:extLst>
            </p:cNvPr>
            <p:cNvSpPr txBox="1"/>
            <p:nvPr/>
          </p:nvSpPr>
          <p:spPr>
            <a:xfrm>
              <a:off x="8098270" y="5686963"/>
              <a:ext cx="51296" cy="12311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pPr algn="ctr"/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?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28C60201-0AD4-B525-38C4-9DD5093F097E}"/>
                </a:ext>
              </a:extLst>
            </p:cNvPr>
            <p:cNvSpPr txBox="1"/>
            <p:nvPr/>
          </p:nvSpPr>
          <p:spPr>
            <a:xfrm>
              <a:off x="9468754" y="4449188"/>
              <a:ext cx="51296" cy="12311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pPr algn="ctr"/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?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4C98B915-0629-884A-0737-A6D11EA697A6}"/>
                </a:ext>
              </a:extLst>
            </p:cNvPr>
            <p:cNvSpPr txBox="1"/>
            <p:nvPr/>
          </p:nvSpPr>
          <p:spPr>
            <a:xfrm>
              <a:off x="6951734" y="4449188"/>
              <a:ext cx="51296" cy="12311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pPr algn="ctr"/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?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CC0F3CC-A3D5-5A2A-06C3-F00343768A24}"/>
                </a:ext>
              </a:extLst>
            </p:cNvPr>
            <p:cNvSpPr txBox="1"/>
            <p:nvPr/>
          </p:nvSpPr>
          <p:spPr>
            <a:xfrm>
              <a:off x="8098270" y="3459878"/>
              <a:ext cx="51296" cy="12311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pPr algn="ctr"/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?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4E931C24-018E-4AA4-6C97-F294C8C77269}"/>
                </a:ext>
              </a:extLst>
            </p:cNvPr>
            <p:cNvSpPr txBox="1"/>
            <p:nvPr/>
          </p:nvSpPr>
          <p:spPr>
            <a:xfrm>
              <a:off x="8098270" y="4266842"/>
              <a:ext cx="51296" cy="12311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pPr algn="ctr"/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?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D273949D-CA1E-C35F-64E6-0EB86029A4B6}"/>
                </a:ext>
              </a:extLst>
            </p:cNvPr>
            <p:cNvSpPr txBox="1"/>
            <p:nvPr/>
          </p:nvSpPr>
          <p:spPr>
            <a:xfrm>
              <a:off x="2848894" y="2559000"/>
              <a:ext cx="477695" cy="12311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ilustrativo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A3F920E6-D857-8178-A29E-6EBD1F805222}"/>
                </a:ext>
              </a:extLst>
            </p:cNvPr>
            <p:cNvSpPr txBox="1"/>
            <p:nvPr/>
          </p:nvSpPr>
          <p:spPr>
            <a:xfrm>
              <a:off x="2848894" y="3872095"/>
              <a:ext cx="477695" cy="12311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ilustrativo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660E6EBA-1B00-5BFD-DEEC-6B7810B941D9}"/>
                </a:ext>
              </a:extLst>
            </p:cNvPr>
            <p:cNvSpPr txBox="1"/>
            <p:nvPr/>
          </p:nvSpPr>
          <p:spPr>
            <a:xfrm>
              <a:off x="2848894" y="5155904"/>
              <a:ext cx="477695" cy="12311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ilustrativo</a:t>
              </a:r>
            </a:p>
          </p:txBody>
        </p:sp>
        <p:sp>
          <p:nvSpPr>
            <p:cNvPr id="128" name="AutoShape 16">
              <a:extLst>
                <a:ext uri="{FF2B5EF4-FFF2-40B4-BE49-F238E27FC236}">
                  <a16:creationId xmlns:a16="http://schemas.microsoft.com/office/drawing/2014/main" id="{871CB67C-9D4C-F5C7-BF73-840423B6638C}"/>
                </a:ext>
              </a:extLst>
            </p:cNvPr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381000" y="1421748"/>
              <a:ext cx="1683452" cy="264552"/>
            </a:xfrm>
            <a:prstGeom prst="chevron">
              <a:avLst>
                <a:gd name="adj" fmla="val 39046"/>
              </a:avLst>
            </a:prstGeom>
            <a:solidFill>
              <a:schemeClr val="accent6">
                <a:lumMod val="25000"/>
              </a:schemeClr>
            </a:solidFill>
            <a:ln w="12700" algn="ctr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 lIns="91440" anchor="ctr" anchorCtr="0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Arial" charset="0"/>
                </a:rPr>
                <a:t>1. ASSESSMENT</a:t>
              </a:r>
            </a:p>
          </p:txBody>
        </p:sp>
        <p:sp>
          <p:nvSpPr>
            <p:cNvPr id="129" name="AutoShape 17">
              <a:extLst>
                <a:ext uri="{FF2B5EF4-FFF2-40B4-BE49-F238E27FC236}">
                  <a16:creationId xmlns:a16="http://schemas.microsoft.com/office/drawing/2014/main" id="{B157F340-52F4-25AD-4DCC-080592963B6D}"/>
                </a:ext>
              </a:extLst>
            </p:cNvPr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064451" y="1421748"/>
              <a:ext cx="8545273" cy="264552"/>
            </a:xfrm>
            <a:prstGeom prst="chevron">
              <a:avLst>
                <a:gd name="adj" fmla="val 39140"/>
              </a:avLst>
            </a:prstGeom>
            <a:solidFill>
              <a:schemeClr val="accent6">
                <a:lumMod val="25000"/>
              </a:schemeClr>
            </a:solidFill>
            <a:ln w="12700" algn="ctr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 lIns="91440" anchor="ctr" anchorCtr="0"/>
            <a:lstStyle/>
            <a:p>
              <a:pPr eaLnBrk="0" hangingPunct="0"/>
              <a:r>
                <a:rPr lang="pt-BR" sz="1200" b="1" kern="0" dirty="0">
                  <a:solidFill>
                    <a:prstClr val="white"/>
                  </a:solidFill>
                  <a:cs typeface="Arial" charset="0"/>
                </a:rPr>
                <a:t>2. DESENHO</a:t>
              </a:r>
            </a:p>
          </p:txBody>
        </p:sp>
        <p:sp>
          <p:nvSpPr>
            <p:cNvPr id="130" name="AutoShape 18">
              <a:extLst>
                <a:ext uri="{FF2B5EF4-FFF2-40B4-BE49-F238E27FC236}">
                  <a16:creationId xmlns:a16="http://schemas.microsoft.com/office/drawing/2014/main" id="{5B8F5259-2F9A-63DC-E40A-D104B61F9A07}"/>
                </a:ext>
              </a:extLst>
            </p:cNvPr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0609725" y="1421748"/>
              <a:ext cx="1209474" cy="264552"/>
            </a:xfrm>
            <a:prstGeom prst="chevron">
              <a:avLst>
                <a:gd name="adj" fmla="val 39982"/>
              </a:avLst>
            </a:prstGeom>
            <a:solidFill>
              <a:schemeClr val="accent6">
                <a:lumMod val="25000"/>
              </a:schemeClr>
            </a:solidFill>
            <a:ln w="12700" algn="ctr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 lIns="91440" anchor="ctr" anchorCtr="0"/>
            <a:lstStyle/>
            <a:p>
              <a:pPr eaLnBrk="0" hangingPunct="0"/>
              <a:r>
                <a:rPr lang="pt-BR" sz="1200" b="1" kern="0" dirty="0">
                  <a:solidFill>
                    <a:prstClr val="white"/>
                  </a:solidFill>
                  <a:cs typeface="Arial" charset="0"/>
                </a:rPr>
                <a:t>3. PLANO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2932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AB4E39-E30E-FE93-5468-AC30FEF3C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D22CC-C406-A8CC-9585-FDF8E782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73F8-AB97-C846-60CB-202117F9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E802C8-6229-F9CD-D8EB-539C5F89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276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nzcNbZ28E6g8Tqzcyrk5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.HWbRAbaEiVkSveg4dGw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GgaMh9ucEaNmBuSeeIeLw"/>
</p:tagLst>
</file>

<file path=ppt/theme/theme1.xml><?xml version="1.0" encoding="utf-8"?>
<a:theme xmlns:a="http://schemas.openxmlformats.org/drawingml/2006/main" name="Accenture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Graphik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FB95095-D3DE-4DE5-BB17-E1EF8BB26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Acc_PPT_Template_Graphik</Template>
  <TotalTime>68</TotalTime>
  <Words>260</Words>
  <Application>Microsoft Office PowerPoint</Application>
  <PresentationFormat>Widescreen</PresentationFormat>
  <Paragraphs>86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Graphik</vt:lpstr>
      <vt:lpstr>Graphik Semibold</vt:lpstr>
      <vt:lpstr>Accenture Template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Accenture PowerPoint Template 16x9 Graphik</dc:subject>
  <dc:creator>Graciotti, Brenno</dc:creator>
  <cp:lastModifiedBy>Graciotti, Brenno</cp:lastModifiedBy>
  <cp:revision>5</cp:revision>
  <cp:lastPrinted>2020-11-17T04:05:48Z</cp:lastPrinted>
  <dcterms:created xsi:type="dcterms:W3CDTF">2023-07-17T21:32:38Z</dcterms:created>
  <dcterms:modified xsi:type="dcterms:W3CDTF">2026-04-10T18:41:42Z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