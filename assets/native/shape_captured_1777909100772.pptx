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76D6-826A-1BCC-9151-59AF208B1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C8460B-BF2F-F7CB-C690-08DC3DF27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7566D-4D01-7CC4-4BE0-4B174EB64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5A26-C25B-49C6-BF76-B2D9C42095A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78771-918E-4F5B-E335-36F41BA7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42896-824D-E924-4D48-7401ED26C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F47B-E7EB-47E7-8B7E-7CEEB21DC7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1333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A9E5-05E0-90CB-97F0-4E4D6A4A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87C79-5489-EA12-8C3A-03ED722F2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CA66B-D33A-E7CA-C582-02BFE5F64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5A26-C25B-49C6-BF76-B2D9C42095A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1B165-E092-431F-42F8-43DBC931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5B522-D810-D7FF-0860-814537FE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F47B-E7EB-47E7-8B7E-7CEEB21DC7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50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13DA0-1314-7BEE-5898-5BA55C68B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25EC3-4A07-22F3-EF4F-979316B4A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681F1-C724-544B-455C-B526F8F99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5A26-C25B-49C6-BF76-B2D9C42095A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A6BBF-EA17-D7DA-4FA9-1EEDF070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B7F23-48C2-4CFD-032A-BEFF71D0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F47B-E7EB-47E7-8B7E-7CEEB21DC7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99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F079-FD87-A965-A9ED-59A559ED9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B5C9C-E9B8-B2F3-A243-A81F70B28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F5892-EFB6-23B6-64CF-DB2F7F509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DE73A-B331-9933-97B4-77778F2E7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5A26-C25B-49C6-BF76-B2D9C42095A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6A301-A82E-1DB8-B6F8-116B69EF4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60092-4391-5839-1BF7-FD23D347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F47B-E7EB-47E7-8B7E-7CEEB21DC7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450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A38-95F8-3E1D-1B03-6EAC6393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7C1A0-851F-0277-B160-271CE2ECE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175C7-882E-2F24-5165-D89F81335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EC66B-4747-D71D-830F-25704F5D5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3B5ECD-44D6-AAC0-FD71-354443D94E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A3C5C-4FD9-7B83-619D-B2001C6C3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5A26-C25B-49C6-BF76-B2D9C42095A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825986-4CB1-6CC8-BA17-AE378D8BA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557B6-1294-25AC-4E3A-0B3D2B42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F47B-E7EB-47E7-8B7E-7CEEB21DC7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2245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2D83-FECB-AF22-920E-E1F34E39D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28CA20-FA80-2862-2595-577C3CFFE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5A26-C25B-49C6-BF76-B2D9C42095A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FA31F7-553E-8270-55DA-B7C570383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8B08C-033A-65C9-78F0-4EB1535A8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F47B-E7EB-47E7-8B7E-7CEEB21DC7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2183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5D7AF8-13DB-C12A-0CDB-63E1DE89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5A26-C25B-49C6-BF76-B2D9C42095A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6E67E-3C3E-C410-55D5-6BE09BEBD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9934A-F71E-983C-C038-3EA93FCA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F47B-E7EB-47E7-8B7E-7CEEB21DC7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07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13A78-4015-EB19-C266-D81F39A9C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882CB-9AEF-5661-D501-126E2F297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94E54-7990-4A95-4F55-08FB7AECC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A12A6-FD36-AE60-A5A8-4F596B9B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5A26-C25B-49C6-BF76-B2D9C42095A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A3745-B9F2-E0E1-7256-61EA7365D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8C69E-2A4C-473C-0798-45839159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F47B-E7EB-47E7-8B7E-7CEEB21DC7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174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F5D5-C6D5-DD52-42F0-B0012992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F1E586-6836-1785-509C-E7131D6685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97BE0-0C96-CF35-7B2F-459394FC4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036FB-E0ED-5B7E-D104-F5F971D8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5A26-C25B-49C6-BF76-B2D9C42095A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4692F-E252-EC31-0224-BD26E54C6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8EA89-391D-167F-B87C-F275BD96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F47B-E7EB-47E7-8B7E-7CEEB21DC7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9250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5877-DDB4-D7FC-8A61-CEC8FA96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E278C-5409-0BC1-FBBA-F9097170F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5002A-6BB6-5E9C-7BE6-40BFE854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5A26-C25B-49C6-BF76-B2D9C42095A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34195-18AE-B588-ADB8-8C740D13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F19D6-0E2C-FF03-AB99-9B56C8AD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F47B-E7EB-47E7-8B7E-7CEEB21DC7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6261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40BD2D-A281-886B-AAAC-D024E5A4E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A32F1-FF3D-BCCA-B1D3-0FB809B5F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B105D-8BF4-DDFC-9B74-21F7441E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25A26-C25B-49C6-BF76-B2D9C42095A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3BBDF-85C6-4458-5123-A7019229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241E4-FBA8-8431-382B-E48BE311F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0F47B-E7EB-47E7-8B7E-7CEEB21DC7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520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9AF0D3-5A1C-2DD7-BB02-BCA579BC6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6DAF0-E38B-661E-000B-79ACE8C19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FB1AF-2BCB-A5AE-0B0E-5CDBAB9B65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25A26-C25B-49C6-BF76-B2D9C42095AB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96CD6-DDEE-F96A-D061-4BE6C2F6B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03B13-1C57-C91F-532F-4F3CE689D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0F47B-E7EB-47E7-8B7E-7CEEB21DC7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915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40EFA40-E6B7-34FD-ED9A-64FC72745957}"/>
              </a:ext>
            </a:extLst>
          </p:cNvPr>
          <p:cNvGrpSpPr/>
          <p:nvPr/>
        </p:nvGrpSpPr>
        <p:grpSpPr>
          <a:xfrm>
            <a:off x="381000" y="432956"/>
            <a:ext cx="11430000" cy="5828948"/>
            <a:chOff x="381000" y="432956"/>
            <a:chExt cx="11430000" cy="5828948"/>
          </a:xfrm>
        </p:grpSpPr>
        <p:sp>
          <p:nvSpPr>
            <p:cNvPr id="3" name="Text Placeholder 18">
              <a:extLst>
                <a:ext uri="{FF2B5EF4-FFF2-40B4-BE49-F238E27FC236}">
                  <a16:creationId xmlns:a16="http://schemas.microsoft.com/office/drawing/2014/main" id="{5FBB661E-ABD1-5D4A-03E9-2F83C622FE55}"/>
                </a:ext>
              </a:extLst>
            </p:cNvPr>
            <p:cNvSpPr txBox="1">
              <a:spLocks/>
            </p:cNvSpPr>
            <p:nvPr/>
          </p:nvSpPr>
          <p:spPr>
            <a:xfrm>
              <a:off x="381000" y="432956"/>
              <a:ext cx="5760000" cy="315520"/>
            </a:xfrm>
            <a:prstGeom prst="rect">
              <a:avLst/>
            </a:prstGeom>
          </p:spPr>
          <p:txBody>
            <a:bodyPr wrap="square" lIns="0" tIns="0" rIns="0" bIns="0" anchor="t"/>
            <a:lstStyle>
              <a:lvl1pPr marL="0" indent="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rPr>
                <a:t>Informação Confidencial</a:t>
              </a:r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8D89F848-ABF9-0C7F-D9DA-25B73D2C1B0A}"/>
                </a:ext>
              </a:extLst>
            </p:cNvPr>
            <p:cNvSpPr txBox="1">
              <a:spLocks/>
            </p:cNvSpPr>
            <p:nvPr/>
          </p:nvSpPr>
          <p:spPr>
            <a:xfrm>
              <a:off x="381000" y="961524"/>
              <a:ext cx="5760000" cy="51480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spcCol="360000" anchor="t" anchorCtr="0">
              <a:noAutofit/>
            </a:bodyPr>
            <a:lstStyle>
              <a:lvl1pPr defTabSz="914400">
                <a:lnSpc>
                  <a:spcPct val="90000"/>
                </a:lnSpc>
                <a:defRPr sz="3200" b="1">
                  <a:solidFill>
                    <a:srgbClr val="653296"/>
                  </a:solidFill>
                  <a:latin typeface="Officina Serif ITC TT"/>
                  <a:ea typeface="Officina Serif ITC TT"/>
                  <a:cs typeface="Officina Serif ITC TT"/>
                  <a:sym typeface="Officina Serif ITC TT"/>
                </a:defRPr>
              </a:lvl1pPr>
            </a:lstStyle>
            <a:p>
              <a:pPr lvl="0" algn="just" defTabSz="968375">
                <a:lnSpc>
                  <a:spcPct val="100000"/>
                </a:lnSpc>
                <a:defRPr/>
              </a:pPr>
              <a:r>
                <a:rPr lang="pt-BR" sz="1400" b="0" noProof="1">
                  <a:solidFill>
                    <a:srgbClr val="000000"/>
                  </a:solidFill>
                  <a:latin typeface="Graphik Light" panose="020B0403030202060203" pitchFamily="34" charset="0"/>
                  <a:cs typeface="Calibri" panose="020F0502020204030204" pitchFamily="34" charset="0"/>
                </a:rPr>
                <a:t>O conteúdo desta Proposta Técnica e Comercial (“Proposta”) é estritamente confidencial e inclui ideias e materiais de propriedade da Accenture do Brasil Ltda. inscrita no CNPJ/MF sob o No. 96.534.094/0001-58 (“Accenture”), devendo ser usado única e exclusivamente para avaliar a nossa capacitação técnica em assessorar o </a:t>
              </a:r>
              <a:r>
                <a:rPr lang="pt-BR" sz="1400" b="0" noProof="1">
                  <a:solidFill>
                    <a:srgbClr val="000000"/>
                  </a:solidFill>
                  <a:highlight>
                    <a:srgbClr val="FFFF00"/>
                  </a:highlight>
                  <a:latin typeface="Graphik Light" panose="020B0403030202060203" pitchFamily="34" charset="0"/>
                  <a:cs typeface="Calibri" panose="020F0502020204030204" pitchFamily="34" charset="0"/>
                </a:rPr>
                <a:t>Itaú Unibanco Holding S.A.</a:t>
              </a:r>
              <a:r>
                <a:rPr lang="pt-BR" sz="1400" b="0" noProof="1">
                  <a:solidFill>
                    <a:srgbClr val="000000"/>
                  </a:solidFill>
                  <a:latin typeface="Graphik Light" panose="020B0403030202060203" pitchFamily="34" charset="0"/>
                  <a:cs typeface="Calibri" panose="020F0502020204030204" pitchFamily="34" charset="0"/>
                </a:rPr>
                <a:t> inscrito no CNPJ/MF sob o No. </a:t>
              </a:r>
              <a:r>
                <a:rPr lang="pt-BR" sz="1400" b="0" noProof="1">
                  <a:solidFill>
                    <a:srgbClr val="000000"/>
                  </a:solidFill>
                  <a:highlight>
                    <a:srgbClr val="FFFF00"/>
                  </a:highlight>
                  <a:latin typeface="Graphik Light" panose="020B0403030202060203" pitchFamily="34" charset="0"/>
                  <a:cs typeface="Calibri" panose="020F0502020204030204" pitchFamily="34" charset="0"/>
                </a:rPr>
                <a:t>60.872.504/0001-23 (“Itaú”</a:t>
              </a:r>
              <a:r>
                <a:rPr lang="pt-BR" sz="1400" b="0" noProof="1">
                  <a:solidFill>
                    <a:srgbClr val="000000"/>
                  </a:solidFill>
                  <a:latin typeface="Graphik Light" panose="020B0403030202060203" pitchFamily="34" charset="0"/>
                  <a:cs typeface="Calibri" panose="020F0502020204030204" pitchFamily="34" charset="0"/>
                </a:rPr>
                <a:t> ou “Cliente”) na prestação dos serviços ora propostos no âmbito do projeto nomeado “</a:t>
              </a:r>
              <a:r>
                <a:rPr lang="pt-BR" sz="1400" b="0" noProof="1">
                  <a:solidFill>
                    <a:srgbClr val="000000"/>
                  </a:solidFill>
                  <a:highlight>
                    <a:srgbClr val="FFFF00"/>
                  </a:highlight>
                  <a:latin typeface="Graphik Light" panose="020B0403030202060203" pitchFamily="34" charset="0"/>
                  <a:cs typeface="Calibri" panose="020F0502020204030204" pitchFamily="34" charset="0"/>
                </a:rPr>
                <a:t>xxxx</a:t>
              </a:r>
              <a:r>
                <a:rPr lang="pt-BR" sz="1400" b="0" noProof="1">
                  <a:solidFill>
                    <a:srgbClr val="000000"/>
                  </a:solidFill>
                  <a:latin typeface="Graphik Light" panose="020B0403030202060203" pitchFamily="34" charset="0"/>
                  <a:cs typeface="Calibri" panose="020F0502020204030204" pitchFamily="34" charset="0"/>
                </a:rPr>
                <a:t>” (“Projeto”). </a:t>
              </a: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0"/>
                <a:cs typeface="Calibri" panose="020F0502020204030204" pitchFamily="34" charset="0"/>
                <a:sym typeface="Officina Serif ITC TT"/>
              </a:endParaRP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rPr>
                <a:t>Este material é estritamente confidencial e não poderá ser acessado por pessoas, dentro ou fora do Cliente que não estejam diretamente ligadas ao processo de avaliação ou ser utilizado para outros fins que não a própria avaliação.</a:t>
              </a: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0"/>
                <a:cs typeface="Calibri" panose="020F0502020204030204" pitchFamily="34" charset="0"/>
                <a:sym typeface="Officina Serif ITC TT"/>
              </a:endParaRP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rPr>
                <a:t>Sob nenhuma hipótese outra empresa que não o Cliente pode ter acesso a estes materiais sem a autorização prévia e explícita da Accenture.</a:t>
              </a: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Light" panose="020B0403030202060203" pitchFamily="34" charset="0"/>
                <a:cs typeface="Calibri" panose="020F0502020204030204" pitchFamily="34" charset="0"/>
                <a:sym typeface="Officina Serif ITC TT"/>
              </a:endParaRP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rPr>
                <a:t>Ao final do processo de avaliação, e caso nossa Proposta não seja aceita pelo Cliente, ela deverá ser retornada à Contratada ou destruída em sua totalidade pelo Cliente.</a:t>
              </a:r>
            </a:p>
          </p:txBody>
        </p:sp>
        <p:sp>
          <p:nvSpPr>
            <p:cNvPr id="5" name="Text Placeholder 18">
              <a:extLst>
                <a:ext uri="{FF2B5EF4-FFF2-40B4-BE49-F238E27FC236}">
                  <a16:creationId xmlns:a16="http://schemas.microsoft.com/office/drawing/2014/main" id="{16277DE3-93A0-BC03-6EBC-CE5A7EB48489}"/>
                </a:ext>
              </a:extLst>
            </p:cNvPr>
            <p:cNvSpPr txBox="1">
              <a:spLocks/>
            </p:cNvSpPr>
            <p:nvPr/>
          </p:nvSpPr>
          <p:spPr>
            <a:xfrm>
              <a:off x="6807000" y="432956"/>
              <a:ext cx="5004000" cy="315520"/>
            </a:xfrm>
            <a:prstGeom prst="rect">
              <a:avLst/>
            </a:prstGeom>
          </p:spPr>
          <p:txBody>
            <a:bodyPr wrap="square" lIns="0" tIns="0" rIns="0" bIns="0" anchor="t"/>
            <a:lstStyle>
              <a:lvl1pPr marL="0" indent="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rPr>
                <a:t>Termos e condições</a:t>
              </a: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22A8AD32-06AA-01E0-1F91-5143473B4203}"/>
                </a:ext>
              </a:extLst>
            </p:cNvPr>
            <p:cNvSpPr txBox="1">
              <a:spLocks/>
            </p:cNvSpPr>
            <p:nvPr/>
          </p:nvSpPr>
          <p:spPr>
            <a:xfrm>
              <a:off x="6807000" y="961524"/>
              <a:ext cx="5004000" cy="30853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spcCol="360000" anchor="t" anchorCtr="0">
              <a:noAutofit/>
            </a:bodyPr>
            <a:lstStyle>
              <a:lvl1pPr defTabSz="914400">
                <a:lnSpc>
                  <a:spcPct val="90000"/>
                </a:lnSpc>
                <a:defRPr sz="3200" b="1">
                  <a:solidFill>
                    <a:srgbClr val="653296"/>
                  </a:solidFill>
                  <a:latin typeface="Officina Serif ITC TT"/>
                  <a:ea typeface="Officina Serif ITC TT"/>
                  <a:cs typeface="Officina Serif ITC TT"/>
                  <a:sym typeface="Officina Serif ITC TT"/>
                </a:defRPr>
              </a:lvl1pPr>
            </a:lstStyle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rPr>
                <a:t>Os serviços objeto dessa Proposta serão regidos pelas disposições constantes neste documento e pelos Termos e Condições Gerais de Prestação de Serviços da Accenture e/ou suas Coligadas acessíveis pelo seguinte link (https://www.accenture.com/br-pt/about/legal/prestacao-de-servicos) (“Termos e Condições”). </a:t>
              </a: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Light" panose="020B0403030202060203" pitchFamily="34" charset="0"/>
                <a:cs typeface="Calibri" panose="020F0502020204030204" pitchFamily="34" charset="0"/>
                <a:sym typeface="Officina Serif ITC TT"/>
              </a:endParaRP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rPr>
                <a:t>Caso as Partes entendam necessária a celebração de um “Contrato de Prestação de Serviços”, este deverá ser negociado com base nos referidos Termos e Condições e nas premissas constantes desta Proposta. </a:t>
              </a: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Light" panose="020B0403030202060203" pitchFamily="34" charset="0"/>
                <a:cs typeface="Calibri" panose="020F0502020204030204" pitchFamily="34" charset="0"/>
                <a:sym typeface="Officina Serif ITC TT"/>
              </a:endParaRP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rPr>
                <a:t>Entretanto, em caso de conflito entre os Termos e Condições e as condições específicas contidas na Proposta, estas últimas prevalecerão e caso as Partes decidam firmar um contrato específico para a prestação dos Serviços após a aprovação da Proposta, as disposições do Contrato prevalecerão.</a:t>
              </a:r>
            </a:p>
          </p:txBody>
        </p:sp>
        <p:sp>
          <p:nvSpPr>
            <p:cNvPr id="7" name="Text Placeholder 18">
              <a:extLst>
                <a:ext uri="{FF2B5EF4-FFF2-40B4-BE49-F238E27FC236}">
                  <a16:creationId xmlns:a16="http://schemas.microsoft.com/office/drawing/2014/main" id="{5B7699CA-0AE7-4A7D-3CD3-DE69C2DDCFB5}"/>
                </a:ext>
              </a:extLst>
            </p:cNvPr>
            <p:cNvSpPr txBox="1">
              <a:spLocks/>
            </p:cNvSpPr>
            <p:nvPr/>
          </p:nvSpPr>
          <p:spPr>
            <a:xfrm>
              <a:off x="6807000" y="3825214"/>
              <a:ext cx="5004000" cy="315520"/>
            </a:xfrm>
            <a:prstGeom prst="rect">
              <a:avLst/>
            </a:prstGeom>
          </p:spPr>
          <p:txBody>
            <a:bodyPr wrap="square" lIns="0" tIns="0" rIns="0" bIns="0" anchor="t"/>
            <a:lstStyle>
              <a:lvl1pPr marL="0" indent="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System Font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286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rPr>
                <a:t>Non-</a:t>
              </a:r>
              <a:r>
                <a:rPr kumimoji="0" lang="pt-BR" sz="14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rPr>
                <a:t>Binding</a:t>
              </a:r>
              <a:r>
                <a:rPr kumimoji="0" lang="pt-BR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rPr>
                <a:t> </a:t>
              </a:r>
              <a:r>
                <a:rPr kumimoji="0" lang="pt-BR" sz="14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Graphik Semibold" panose="020B0703030202060203" pitchFamily="34" charset="0"/>
                  <a:ea typeface="+mn-ea"/>
                  <a:cs typeface="+mn-cs"/>
                </a:rPr>
                <a:t>Disclaimer</a:t>
              </a:r>
              <a:endPara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raphik Semibold" panose="020B0703030202060203" pitchFamily="34" charset="0"/>
                <a:ea typeface="+mn-ea"/>
                <a:cs typeface="+mn-cs"/>
              </a:endParaRP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FC7F5D52-58BB-960F-4409-C897C583742E}"/>
                </a:ext>
              </a:extLst>
            </p:cNvPr>
            <p:cNvSpPr txBox="1">
              <a:spLocks/>
            </p:cNvSpPr>
            <p:nvPr/>
          </p:nvSpPr>
          <p:spPr>
            <a:xfrm>
              <a:off x="6807000" y="4353782"/>
              <a:ext cx="5004000" cy="19081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spcCol="360000" anchor="t" anchorCtr="0">
              <a:noAutofit/>
            </a:bodyPr>
            <a:lstStyle>
              <a:lvl1pPr defTabSz="914400">
                <a:lnSpc>
                  <a:spcPct val="90000"/>
                </a:lnSpc>
                <a:defRPr sz="3200" b="1">
                  <a:solidFill>
                    <a:srgbClr val="653296"/>
                  </a:solidFill>
                  <a:latin typeface="Officina Serif ITC TT"/>
                  <a:ea typeface="Officina Serif ITC TT"/>
                  <a:cs typeface="Officina Serif ITC TT"/>
                  <a:sym typeface="Officina Serif ITC TT"/>
                </a:defRPr>
              </a:lvl1pPr>
            </a:lstStyle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rPr>
                <a:t>Ressaltamos que essa Proposta está sendo avaliada pela Accenture e ainda não foi aprovada. </a:t>
              </a: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Light" panose="020B0403030202060203" pitchFamily="34" charset="0"/>
                <a:cs typeface="Calibri" panose="020F0502020204030204" pitchFamily="34" charset="0"/>
                <a:sym typeface="Officina Serif ITC TT"/>
              </a:endParaRP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rPr>
                <a:t>Assim, fica desde já ressalvado que se, por qualquer razão, esta Proposta não for aprovada, ou for determinada alguma alteração a Accenture se reserva no direito de proceder com os ajustes necessários na Proposta e a submeterá à nova apreciação do Cliente. </a:t>
              </a: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Light" panose="020B0403030202060203" pitchFamily="34" charset="0"/>
                <a:cs typeface="Calibri" panose="020F0502020204030204" pitchFamily="34" charset="0"/>
                <a:sym typeface="Officina Serif ITC TT"/>
              </a:endParaRPr>
            </a:p>
            <a:p>
              <a:pPr marL="0" marR="0" lvl="0" indent="0" algn="l" defTabSz="96837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phik Light" panose="020B0403030202060203" pitchFamily="34" charset="0"/>
                  <a:cs typeface="Calibri" panose="020F0502020204030204" pitchFamily="34" charset="0"/>
                  <a:sym typeface="Officina Serif ITC TT"/>
                </a:rPr>
                <a:t>Caso as alterações não sejam aceitas pelo Cliente, esta Proposta perderá todos os seus efeitos, não sendo devida nenhuma indenização entre as Partes.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81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Graphik Light</vt:lpstr>
      <vt:lpstr>Graphik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2026-05-04T15:38:23Z</dcterms:created>
  <dcterms:modified xsi:type="dcterms:W3CDTF">2026-05-04T15:38:23Z</dcterms:modified>
</cp:coreProperties>
</file>