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CF08E-76BD-9D08-67BB-0B194D23F5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F4C52B-08A3-B028-5270-E82D8322EA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899317-FF03-B0FF-605C-3CF21C235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03F6F-F2AA-41BF-8348-113C6A40270E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99ED3-2E3A-FABB-555C-A1907EBB1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62700D-90AF-A2F1-BBAE-65633A5E8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4729-A599-45F4-B100-934D04D5570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4957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EDECD-9198-FEEA-4322-6B58FB9DA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FBD014-46A9-7DFC-809D-0E4A0CDEAF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F3C91F-56B0-13BE-E7D9-702491201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03F6F-F2AA-41BF-8348-113C6A40270E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EA3FD2-B25A-F549-D5BE-072840E02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501CBB-2FEE-E4EB-0E36-669DB5421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4729-A599-45F4-B100-934D04D5570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91495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BCB2E-E298-0A02-0500-082D7DC33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0665A7-13BC-B24A-474A-326888968B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8BEC88-A9A5-CE89-9278-C920EBE70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03F6F-F2AA-41BF-8348-113C6A40270E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71C951-208C-7925-3FBF-5A58BCA87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991CEB-A996-8503-4C2A-D290D3EF4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4729-A599-45F4-B100-934D04D5570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16144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48A88-2B77-B952-D5B2-5FBDF0AEB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995017-7280-646D-B028-F6D4F440A2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D8488A-2C93-531E-8BF1-410F72C3FB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D72977-2D8D-9F5E-4D6E-0DF2B36FB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03F6F-F2AA-41BF-8348-113C6A40270E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877738-41B1-FFCF-E8B5-FBA307A57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0ACB79-B286-845B-02DC-68F8FBC18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4729-A599-45F4-B100-934D04D5570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27135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FC37E-1AE7-8831-084B-3F16D404D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B448C2-8C21-00E1-FDC1-C8C07A332C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C4683B-39D8-F1C5-7459-3904903BAD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2F7739-58FA-C49B-71AB-DF04F66612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AF53E9-A597-E594-94DD-7F62FC57FE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C2A8F7B-A07E-AAA0-DAEA-EDF21E1FB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03F6F-F2AA-41BF-8348-113C6A40270E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4FF3D6-5D45-4F2B-A08B-8F7A6CC2C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7DF603-24A7-CEDA-1494-502B773AD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4729-A599-45F4-B100-934D04D5570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1128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E1E10-C2BF-B8FF-61CB-0B173E8E2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F17EAC-EE05-9C81-545B-9345727D8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03F6F-F2AA-41BF-8348-113C6A40270E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A5416E-D929-C0D9-963C-40C01D8A4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DFF841-677B-D601-6BCA-D7E695FF0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4729-A599-45F4-B100-934D04D5570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26747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C431E6-C608-EE4F-AE91-7E5E384CA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03F6F-F2AA-41BF-8348-113C6A40270E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B4EFE1-6CBD-3F5B-3776-05DE3BAC4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C9FCCC-9239-928F-7FD9-29412C708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4729-A599-45F4-B100-934D04D5570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8324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C1333-3597-334B-596A-CEF76FB7A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A77C93-4659-0E28-8377-FFC9DAED1E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74D609-A2E6-BC9C-89D3-DC11D16EF7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61A064-F7FD-4EEC-784A-0F99723D6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03F6F-F2AA-41BF-8348-113C6A40270E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6D7931-EC13-711F-DDB8-0EA71B3EB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46662A-C68D-475C-79B3-1251CC501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4729-A599-45F4-B100-934D04D5570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543291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3ABC6-98F3-FBCF-1FB0-B764D40C4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D7DACE-203E-15D3-1E06-487992B220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84E2CF-EF2C-8D34-31B3-3861E1F2E5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83165D-914E-5412-CDB9-CA33B9158A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03F6F-F2AA-41BF-8348-113C6A40270E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1C3981-277C-E236-42A6-4584E39F1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85D075-5195-C081-36CC-6DD216C52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4729-A599-45F4-B100-934D04D5570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613417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633DF-5914-6FC9-411B-41464D2BA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DBBF28-0219-297E-724A-24F8925FDD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EC7806-D958-4297-2BC2-196A9805B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03F6F-F2AA-41BF-8348-113C6A40270E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FC7EE8-745B-B01C-500C-AB966903E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450915-753A-3327-0430-519529929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4729-A599-45F4-B100-934D04D5570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2961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CC1252-9347-B865-7A8F-4EBBBEF773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255D75-F9C1-DFAA-9AEB-2D873AFAA6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C89CE4-DA78-C050-D982-E4BF525EE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03F6F-F2AA-41BF-8348-113C6A40270E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0BC53E-2D0A-6286-63FF-EB314537C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32885F-42B9-F704-8CD3-C44BCBBD0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4729-A599-45F4-B100-934D04D5570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66378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E3085D-E9FA-288E-434D-2C501394D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5E385F-B0E7-DB4F-92B3-89D7FC0983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352B38-8B4C-5D2A-A68A-788438DAC6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503F6F-F2AA-41BF-8348-113C6A40270E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2FFFCA-B92B-9427-551E-9E4870B9B9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68D945-32CD-B3D3-49C7-5824D3D329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914729-A599-45F4-B100-934D04D5570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28657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image" Target="../media/image2.png"/><Relationship Id="rId18" Type="http://schemas.microsoft.com/office/2007/relationships/hdphoto" Target="../media/hdphoto2.wdp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image" Target="../media/image1.svg"/><Relationship Id="rId17" Type="http://schemas.openxmlformats.org/officeDocument/2006/relationships/image" Target="../media/image5.png"/><Relationship Id="rId2" Type="http://schemas.openxmlformats.org/officeDocument/2006/relationships/tags" Target="../tags/tag2.xml"/><Relationship Id="rId16" Type="http://schemas.openxmlformats.org/officeDocument/2006/relationships/image" Target="../media/image4.jpeg"/><Relationship Id="rId20" Type="http://schemas.openxmlformats.org/officeDocument/2006/relationships/image" Target="../media/image7.jpe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slideLayout" Target="../slideLayouts/slideLayout7.xml"/><Relationship Id="rId5" Type="http://schemas.openxmlformats.org/officeDocument/2006/relationships/tags" Target="../tags/tag5.xml"/><Relationship Id="rId15" Type="http://schemas.openxmlformats.org/officeDocument/2006/relationships/image" Target="../media/image3.png"/><Relationship Id="rId10" Type="http://schemas.openxmlformats.org/officeDocument/2006/relationships/tags" Target="../tags/tag10.xml"/><Relationship Id="rId19" Type="http://schemas.openxmlformats.org/officeDocument/2006/relationships/image" Target="../media/image6.png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9060CA0-E2D0-4D55-5044-010FD9C98006}"/>
              </a:ext>
            </a:extLst>
          </p:cNvPr>
          <p:cNvGrpSpPr/>
          <p:nvPr/>
        </p:nvGrpSpPr>
        <p:grpSpPr>
          <a:xfrm>
            <a:off x="381000" y="1743550"/>
            <a:ext cx="11478868" cy="4166255"/>
            <a:chOff x="381000" y="1743550"/>
            <a:chExt cx="11478868" cy="4166255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6D26D0BE-7296-44DF-672F-C2148ECF4EFD}"/>
                </a:ext>
              </a:extLst>
            </p:cNvPr>
            <p:cNvSpPr/>
            <p:nvPr/>
          </p:nvSpPr>
          <p:spPr>
            <a:xfrm>
              <a:off x="381000" y="2229358"/>
              <a:ext cx="3204000" cy="1332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pt-BR" dirty="0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4A36973-32FE-7375-2462-0AC0BA85C2E7}"/>
                </a:ext>
              </a:extLst>
            </p:cNvPr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3758383" y="2229358"/>
              <a:ext cx="1548000" cy="1332000"/>
            </a:xfrm>
            <a:prstGeom prst="rect">
              <a:avLst/>
            </a:prstGeom>
            <a:solidFill>
              <a:schemeClr val="tx1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raphik" panose="020B0503030202060203" pitchFamily="34" charset="0"/>
                  <a:ea typeface="+mn-ea"/>
                  <a:cs typeface="Arial" panose="020B0604020202020204" pitchFamily="34" charset="0"/>
                </a:rPr>
                <a:t>Comitê 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raphik" panose="020B0503030202060203" pitchFamily="34" charset="0"/>
                  <a:ea typeface="+mn-ea"/>
                  <a:cs typeface="Arial" panose="020B0604020202020204" pitchFamily="34" charset="0"/>
                </a:rPr>
                <a:t>Executivo</a:t>
              </a:r>
            </a:p>
          </p:txBody>
        </p:sp>
        <p:cxnSp>
          <p:nvCxnSpPr>
            <p:cNvPr id="5" name="AutoShape 6">
              <a:extLst>
                <a:ext uri="{FF2B5EF4-FFF2-40B4-BE49-F238E27FC236}">
                  <a16:creationId xmlns:a16="http://schemas.microsoft.com/office/drawing/2014/main" id="{E3DF125C-09D4-9777-C365-87AA0D123445}"/>
                </a:ext>
              </a:extLst>
            </p:cNvPr>
            <p:cNvCxnSpPr>
              <a:cxnSpLocks noChangeShapeType="1"/>
              <a:stCxn id="4" idx="2"/>
              <a:endCxn id="9" idx="0"/>
            </p:cNvCxnSpPr>
            <p:nvPr>
              <p:custDataLst>
                <p:tags r:id="rId2"/>
              </p:custDataLst>
            </p:nvPr>
          </p:nvCxnSpPr>
          <p:spPr bwMode="auto">
            <a:xfrm>
              <a:off x="4532383" y="3561358"/>
              <a:ext cx="0" cy="1429534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B0D90C7-2138-403A-2A31-4452806AFD83}"/>
                </a:ext>
              </a:extLst>
            </p:cNvPr>
            <p:cNvSpPr/>
            <p:nvPr/>
          </p:nvSpPr>
          <p:spPr>
            <a:xfrm>
              <a:off x="381000" y="3682126"/>
              <a:ext cx="3204000" cy="118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pt-BR" dirty="0"/>
            </a:p>
          </p:txBody>
        </p:sp>
        <p:sp>
          <p:nvSpPr>
            <p:cNvPr id="7" name="Rectangle 5">
              <a:extLst>
                <a:ext uri="{FF2B5EF4-FFF2-40B4-BE49-F238E27FC236}">
                  <a16:creationId xmlns:a16="http://schemas.microsoft.com/office/drawing/2014/main" id="{6F77C8AE-BB8A-CCD0-8815-2B20C2BE5A3E}"/>
                </a:ext>
              </a:extLst>
            </p:cNvPr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3758383" y="3682125"/>
              <a:ext cx="1548000" cy="11880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raphik" panose="020B0503030202060203" pitchFamily="34" charset="0"/>
                  <a:ea typeface="+mn-ea"/>
                  <a:cs typeface="Arial" panose="020B0604020202020204" pitchFamily="34" charset="0"/>
                </a:rPr>
                <a:t>Liderança Técnica</a:t>
              </a:r>
              <a:r>
                <a:rPr lang="pt-BR" sz="1200" b="1" kern="0" dirty="0">
                  <a:solidFill>
                    <a:srgbClr val="FFFFFF"/>
                  </a:solidFill>
                  <a:latin typeface="Graphik" panose="020B0503030202060203" pitchFamily="34" charset="0"/>
                  <a:cs typeface="Arial" panose="020B0604020202020204" pitchFamily="34" charset="0"/>
                </a:rPr>
                <a:t> &amp; Especialistas</a:t>
              </a:r>
              <a:endParaRPr kumimoji="0" lang="pt-BR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E6B44C1-0450-D182-178E-48356E3B2A30}"/>
                </a:ext>
              </a:extLst>
            </p:cNvPr>
            <p:cNvSpPr/>
            <p:nvPr/>
          </p:nvSpPr>
          <p:spPr>
            <a:xfrm>
              <a:off x="381000" y="4990894"/>
              <a:ext cx="3204000" cy="88518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pt-BR" dirty="0"/>
            </a:p>
          </p:txBody>
        </p:sp>
        <p:sp>
          <p:nvSpPr>
            <p:cNvPr id="9" name="Rectangle 5">
              <a:extLst>
                <a:ext uri="{FF2B5EF4-FFF2-40B4-BE49-F238E27FC236}">
                  <a16:creationId xmlns:a16="http://schemas.microsoft.com/office/drawing/2014/main" id="{19024A25-B451-8F25-B8E7-140C1B2367F0}"/>
                </a:ext>
              </a:extLst>
            </p:cNvPr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3758383" y="4990892"/>
              <a:ext cx="1548000" cy="885187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raphik" panose="020B0503030202060203" pitchFamily="34" charset="0"/>
                  <a:ea typeface="+mn-ea"/>
                  <a:cs typeface="Arial" panose="020B0604020202020204" pitchFamily="34" charset="0"/>
                </a:rPr>
                <a:t>Time de Projeto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9E06FAE-F7FB-3286-1CA3-2AEF62A283C2}"/>
                </a:ext>
              </a:extLst>
            </p:cNvPr>
            <p:cNvSpPr/>
            <p:nvPr/>
          </p:nvSpPr>
          <p:spPr>
            <a:xfrm>
              <a:off x="5479766" y="2249505"/>
              <a:ext cx="3204000" cy="1332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pt-BR" dirty="0"/>
            </a:p>
          </p:txBody>
        </p: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C25A3AD4-BF8B-0848-77BE-FDF73A30E790}"/>
                </a:ext>
              </a:extLst>
            </p:cNvPr>
            <p:cNvPicPr>
              <a:picLocks noChangeAspect="1"/>
            </p:cNvPicPr>
            <p:nvPr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5563585" y="1743550"/>
              <a:ext cx="1080000" cy="295715"/>
            </a:xfrm>
            <a:prstGeom prst="rect">
              <a:avLst/>
            </a:prstGeom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3EF8206-0A82-E676-D276-B0FB3989B889}"/>
                </a:ext>
              </a:extLst>
            </p:cNvPr>
            <p:cNvSpPr/>
            <p:nvPr/>
          </p:nvSpPr>
          <p:spPr>
            <a:xfrm>
              <a:off x="5479766" y="3696904"/>
              <a:ext cx="3204000" cy="118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pt-BR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7F0D320-CC0E-B9B0-3687-951A800BD02B}"/>
                </a:ext>
              </a:extLst>
            </p:cNvPr>
            <p:cNvSpPr/>
            <p:nvPr/>
          </p:nvSpPr>
          <p:spPr>
            <a:xfrm>
              <a:off x="5479766" y="4990894"/>
              <a:ext cx="3204000" cy="88518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pt-BR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1E080C0-FB9B-4339-9FDB-C4A493160678}"/>
                </a:ext>
              </a:extLst>
            </p:cNvPr>
            <p:cNvSpPr txBox="1"/>
            <p:nvPr/>
          </p:nvSpPr>
          <p:spPr>
            <a:xfrm>
              <a:off x="5604141" y="5248821"/>
              <a:ext cx="2916000" cy="36933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defPPr>
                <a:defRPr lang="en-US"/>
              </a:defPPr>
              <a:lvl1pPr marL="288000" marR="0" lvl="0" indent="-180000" defTabSz="228600" fontAlgn="auto">
                <a:lnSpc>
                  <a:spcPct val="100000"/>
                </a:lnSpc>
                <a:spcBef>
                  <a:spcPts val="0"/>
                </a:spcBef>
                <a:spcAft>
                  <a:spcPts val="1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 kumimoji="0" sz="1200" b="1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</a:defRPr>
              </a:lvl1pPr>
            </a:lstStyle>
            <a:p>
              <a:r>
                <a:rPr lang="pt-BR" dirty="0"/>
                <a:t>4 Profissionais </a:t>
              </a:r>
              <a:r>
                <a:rPr lang="pt-BR" b="0" dirty="0"/>
                <a:t>de Serviços Financeiro (Estratégia e Tecnologia)</a:t>
              </a: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49A4EF29-D68B-FB2C-B118-38FCA383833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651768" y="5269616"/>
              <a:ext cx="144000" cy="144000"/>
              <a:chOff x="4684098" y="4254033"/>
              <a:chExt cx="162000" cy="162000"/>
            </a:xfrm>
          </p:grpSpPr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67DBB2B7-D9E7-8B1B-4F7E-788C1E98FFDA}"/>
                  </a:ext>
                </a:extLst>
              </p:cNvPr>
              <p:cNvSpPr/>
              <p:nvPr/>
            </p:nvSpPr>
            <p:spPr>
              <a:xfrm>
                <a:off x="4684098" y="4254033"/>
                <a:ext cx="162000" cy="162000"/>
              </a:xfrm>
              <a:prstGeom prst="ellipse">
                <a:avLst/>
              </a:prstGeom>
              <a:solidFill>
                <a:schemeClr val="bg1"/>
              </a:solidFill>
              <a:ln w="6350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91440" bIns="91440" rtlCol="0" anchor="ctr"/>
              <a:lstStyle/>
              <a:p>
                <a:pPr algn="ctr"/>
                <a:endParaRPr lang="pt-BR" err="1"/>
              </a:p>
            </p:txBody>
          </p:sp>
          <p:sp>
            <p:nvSpPr>
              <p:cNvPr id="38" name="Arc 37">
                <a:extLst>
                  <a:ext uri="{FF2B5EF4-FFF2-40B4-BE49-F238E27FC236}">
                    <a16:creationId xmlns:a16="http://schemas.microsoft.com/office/drawing/2014/main" id="{DE36EE6C-D045-D732-329D-E2EE0449964B}"/>
                  </a:ext>
                </a:extLst>
              </p:cNvPr>
              <p:cNvSpPr/>
              <p:nvPr/>
            </p:nvSpPr>
            <p:spPr>
              <a:xfrm>
                <a:off x="4684098" y="4254033"/>
                <a:ext cx="162000" cy="162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tx1"/>
              </a:solidFill>
              <a:ln w="6350">
                <a:solidFill>
                  <a:schemeClr val="tx1"/>
                </a:solidFill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sp>
          <p:nvSpPr>
            <p:cNvPr id="16" name="Retângulo 4">
              <a:extLst>
                <a:ext uri="{FF2B5EF4-FFF2-40B4-BE49-F238E27FC236}">
                  <a16:creationId xmlns:a16="http://schemas.microsoft.com/office/drawing/2014/main" id="{198886DA-7837-73CB-026D-5EFCA2A13131}"/>
                </a:ext>
              </a:extLst>
            </p:cNvPr>
            <p:cNvSpPr/>
            <p:nvPr/>
          </p:nvSpPr>
          <p:spPr>
            <a:xfrm>
              <a:off x="6096000" y="2420204"/>
              <a:ext cx="2491654" cy="959237"/>
            </a:xfrm>
            <a:prstGeom prst="rect">
              <a:avLst/>
            </a:prstGeom>
            <a:noFill/>
            <a:ln w="12700">
              <a:noFill/>
              <a:prstDash val="solid"/>
              <a:headEnd type="none" w="med" len="med"/>
              <a:tailEnd type="oval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lIns="0" tIns="0" rIns="0" bIns="0" rtlCol="0" anchor="t">
              <a:spAutoFit/>
            </a:bodyPr>
            <a:lstStyle/>
            <a:p>
              <a:pPr marR="0" lvl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tabLst/>
                <a:defRPr/>
              </a:pPr>
              <a:r>
                <a:rPr lang="pt-BR" sz="1200" b="1" dirty="0">
                  <a:cs typeface="Arial" pitchFamily="34" charset="0"/>
                </a:rPr>
                <a:t>Rogério Mascarenhas</a:t>
              </a:r>
              <a:endParaRPr lang="pt-BR" sz="1600" dirty="0">
                <a:latin typeface="Graphik"/>
              </a:endParaRPr>
            </a:p>
            <a:p>
              <a:pPr marR="0" lvl="0" fontAlgn="auto">
                <a:lnSpc>
                  <a:spcPct val="100000"/>
                </a:lnSpc>
                <a:spcAft>
                  <a:spcPts val="1800"/>
                </a:spcAft>
                <a:buClr>
                  <a:prstClr val="black"/>
                </a:buClr>
                <a:buSzPct val="100000"/>
                <a:tabLst/>
                <a:defRPr/>
              </a:pPr>
              <a:r>
                <a:rPr lang="pt-BR" sz="1000" dirty="0" err="1">
                  <a:latin typeface="Graphik"/>
                  <a:cs typeface="Arial" pitchFamily="34" charset="0"/>
                </a:rPr>
                <a:t>Executive</a:t>
              </a:r>
              <a:r>
                <a:rPr lang="pt-BR" sz="1000" dirty="0">
                  <a:latin typeface="Graphik"/>
                  <a:cs typeface="Arial" pitchFamily="34" charset="0"/>
                </a:rPr>
                <a:t> </a:t>
              </a:r>
              <a:r>
                <a:rPr lang="pt-BR" sz="1000" dirty="0" err="1">
                  <a:latin typeface="Graphik"/>
                  <a:cs typeface="Arial" pitchFamily="34" charset="0"/>
                </a:rPr>
                <a:t>Client</a:t>
              </a:r>
              <a:r>
                <a:rPr lang="pt-BR" sz="1000" dirty="0">
                  <a:latin typeface="Graphik"/>
                  <a:cs typeface="Arial" pitchFamily="34" charset="0"/>
                </a:rPr>
                <a:t> </a:t>
              </a:r>
              <a:r>
                <a:rPr lang="pt-BR" sz="1000" dirty="0" err="1">
                  <a:latin typeface="Graphik"/>
                  <a:cs typeface="Arial" pitchFamily="34" charset="0"/>
                </a:rPr>
                <a:t>Sponsor</a:t>
              </a:r>
              <a:endParaRPr lang="pt-BR" sz="1000" dirty="0">
                <a:latin typeface="Graphik"/>
                <a:cs typeface="Arial" pitchFamily="34" charset="0"/>
              </a:endParaRPr>
            </a:p>
            <a:p>
              <a:pPr marR="0" lvl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tabLst/>
                <a:defRPr/>
              </a:pPr>
              <a:r>
                <a:rPr lang="pt-BR" sz="1200" b="1" dirty="0">
                  <a:cs typeface="Arial" pitchFamily="34" charset="0"/>
                </a:rPr>
                <a:t>Douglas F. Silva</a:t>
              </a:r>
            </a:p>
            <a:p>
              <a:pPr>
                <a:spcBef>
                  <a:spcPts val="0"/>
                </a:spcBef>
                <a:spcAft>
                  <a:spcPts val="600"/>
                </a:spcAft>
                <a:buClr>
                  <a:prstClr val="black"/>
                </a:buClr>
                <a:buSzPct val="100000"/>
                <a:defRPr/>
              </a:pPr>
              <a:r>
                <a:rPr lang="pt-BR" sz="1000" dirty="0" err="1">
                  <a:latin typeface="Graphik"/>
                  <a:cs typeface="Arial" pitchFamily="34" charset="0"/>
                </a:rPr>
                <a:t>Managing</a:t>
              </a:r>
              <a:r>
                <a:rPr lang="pt-BR" sz="1000" dirty="0">
                  <a:latin typeface="Graphik"/>
                  <a:cs typeface="Arial" pitchFamily="34" charset="0"/>
                </a:rPr>
                <a:t> </a:t>
              </a:r>
              <a:r>
                <a:rPr lang="pt-BR" sz="1000" dirty="0" err="1">
                  <a:latin typeface="Graphik"/>
                  <a:cs typeface="Arial" pitchFamily="34" charset="0"/>
                </a:rPr>
                <a:t>Director</a:t>
              </a:r>
              <a:endParaRPr lang="pt-BR" sz="1000" dirty="0">
                <a:latin typeface="Graphik"/>
                <a:cs typeface="Arial" pitchFamily="34" charset="0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9399DCC-B8F2-8A5F-262D-5D767DBFFA11}"/>
                </a:ext>
              </a:extLst>
            </p:cNvPr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10469272" y="2671168"/>
              <a:ext cx="1341727" cy="80791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square" lIns="0" tIns="0" rIns="0" bIns="0">
              <a:spAutoFit/>
            </a:bodyPr>
            <a:lstStyle/>
            <a:p>
              <a:pPr defTabSz="914583" fontAlgn="base">
                <a:spcBef>
                  <a:spcPct val="0"/>
                </a:spcBef>
                <a:spcAft>
                  <a:spcPct val="0"/>
                </a:spcAft>
                <a:buClr>
                  <a:srgbClr val="145EB3"/>
                </a:buClr>
              </a:pPr>
              <a:r>
                <a:rPr lang="pt-BR" sz="1050" dirty="0">
                  <a:latin typeface="Graphik" panose="020B0503030202060203" pitchFamily="34" charset="0"/>
                  <a:cs typeface="Arial" panose="020B0604020202020204" pitchFamily="34" charset="0"/>
                </a:rPr>
                <a:t>Estabelecer direcionadores e  auxiliar em decisões estratégicas para o projeto</a:t>
              </a:r>
              <a:endParaRPr lang="pt-BR" sz="1050" dirty="0">
                <a:highlight>
                  <a:srgbClr val="FFFF00"/>
                </a:highlight>
                <a:latin typeface="Graphik" panose="020B0503030202060203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Rectangle 16">
              <a:extLst>
                <a:ext uri="{FF2B5EF4-FFF2-40B4-BE49-F238E27FC236}">
                  <a16:creationId xmlns:a16="http://schemas.microsoft.com/office/drawing/2014/main" id="{DAC6B543-1210-DC2F-75AE-AEB6658D910A}"/>
                </a:ext>
              </a:extLst>
            </p:cNvPr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8857148" y="2671168"/>
              <a:ext cx="1264178" cy="64633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square" lIns="0" tIns="0" rIns="0" bIns="0">
              <a:spAutoFit/>
            </a:bodyPr>
            <a:lstStyle/>
            <a:p>
              <a:pPr defTabSz="914583" fontAlgn="base">
                <a:spcBef>
                  <a:spcPct val="0"/>
                </a:spcBef>
                <a:spcAft>
                  <a:spcPct val="0"/>
                </a:spcAft>
                <a:buClr>
                  <a:srgbClr val="145EB3"/>
                </a:buClr>
              </a:pPr>
              <a:r>
                <a:rPr lang="pt-BR" sz="1050" dirty="0">
                  <a:latin typeface="Graphik" panose="020B0503030202060203" pitchFamily="34" charset="0"/>
                  <a:cs typeface="Arial" panose="020B0604020202020204" pitchFamily="34" charset="0"/>
                </a:rPr>
                <a:t>Responsabilidade sobre a validação de entregáveis do projeto</a:t>
              </a:r>
              <a:endParaRPr lang="pt-BR" sz="1050" dirty="0">
                <a:highlight>
                  <a:srgbClr val="FFFF00"/>
                </a:highlight>
                <a:latin typeface="Graphik" panose="020B0503030202060203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Rectangle 16">
              <a:extLst>
                <a:ext uri="{FF2B5EF4-FFF2-40B4-BE49-F238E27FC236}">
                  <a16:creationId xmlns:a16="http://schemas.microsoft.com/office/drawing/2014/main" id="{93DFC823-DE90-AB13-4718-7CDF0E76ADE1}"/>
                </a:ext>
              </a:extLst>
            </p:cNvPr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10469272" y="3783800"/>
              <a:ext cx="1390596" cy="96949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square" lIns="0" tIns="0" rIns="0" bIns="0">
              <a:spAutoFit/>
            </a:bodyPr>
            <a:lstStyle/>
            <a:p>
              <a:pPr defTabSz="914583" fontAlgn="base">
                <a:spcBef>
                  <a:spcPct val="0"/>
                </a:spcBef>
                <a:spcAft>
                  <a:spcPct val="0"/>
                </a:spcAft>
                <a:buClr>
                  <a:srgbClr val="145EB3"/>
                </a:buClr>
              </a:pPr>
              <a:r>
                <a:rPr lang="pt-BR" sz="1050" dirty="0">
                  <a:latin typeface="Graphik" panose="020B0503030202060203" pitchFamily="34" charset="0"/>
                  <a:cs typeface="Arial" panose="020B0604020202020204" pitchFamily="34" charset="0"/>
                </a:rPr>
                <a:t>Liderança técnica no dia-a-dia do projeto</a:t>
              </a:r>
            </a:p>
            <a:p>
              <a:pPr defTabSz="914583" fontAlgn="base">
                <a:spcBef>
                  <a:spcPct val="0"/>
                </a:spcBef>
                <a:spcAft>
                  <a:spcPct val="0"/>
                </a:spcAft>
                <a:buClr>
                  <a:srgbClr val="145EB3"/>
                </a:buClr>
              </a:pPr>
              <a:endParaRPr lang="pt-BR" sz="1050" dirty="0">
                <a:latin typeface="Graphik" panose="020B0503030202060203" pitchFamily="34" charset="0"/>
                <a:cs typeface="Arial" panose="020B0604020202020204" pitchFamily="34" charset="0"/>
              </a:endParaRPr>
            </a:p>
            <a:p>
              <a:pPr defTabSz="914583" fontAlgn="base">
                <a:spcBef>
                  <a:spcPct val="0"/>
                </a:spcBef>
                <a:spcAft>
                  <a:spcPct val="0"/>
                </a:spcAft>
                <a:buClr>
                  <a:srgbClr val="145EB3"/>
                </a:buClr>
              </a:pPr>
              <a:r>
                <a:rPr lang="pt-BR" sz="1050" dirty="0">
                  <a:latin typeface="Graphik" panose="020B0503030202060203" pitchFamily="34" charset="0"/>
                  <a:cs typeface="Arial" panose="020B0604020202020204" pitchFamily="34" charset="0"/>
                </a:rPr>
                <a:t>Aporte de conhecimento especializado</a:t>
              </a:r>
            </a:p>
          </p:txBody>
        </p:sp>
        <p:sp>
          <p:nvSpPr>
            <p:cNvPr id="20" name="Rectangle 16">
              <a:extLst>
                <a:ext uri="{FF2B5EF4-FFF2-40B4-BE49-F238E27FC236}">
                  <a16:creationId xmlns:a16="http://schemas.microsoft.com/office/drawing/2014/main" id="{3EDF6502-0EDF-F1E0-20F2-06B9D90DDE9B}"/>
                </a:ext>
              </a:extLst>
            </p:cNvPr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10469272" y="5182682"/>
              <a:ext cx="1264178" cy="64633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square" lIns="0" tIns="0" rIns="0" bIns="0">
              <a:spAutoFit/>
            </a:bodyPr>
            <a:lstStyle/>
            <a:p>
              <a:pPr defTabSz="914583" fontAlgn="base">
                <a:spcBef>
                  <a:spcPct val="0"/>
                </a:spcBef>
                <a:spcAft>
                  <a:spcPct val="0"/>
                </a:spcAft>
                <a:buClr>
                  <a:srgbClr val="145EB3"/>
                </a:buClr>
              </a:pPr>
              <a:r>
                <a:rPr lang="pt-BR" sz="1050" dirty="0">
                  <a:latin typeface="Graphik" panose="020B0503030202060203" pitchFamily="34" charset="0"/>
                  <a:cs typeface="Arial" panose="020B0604020202020204" pitchFamily="34" charset="0"/>
                </a:rPr>
                <a:t>Conduzir os trabalhos previstos no dia-a-dia do projeto</a:t>
              </a:r>
            </a:p>
          </p:txBody>
        </p:sp>
        <p:sp>
          <p:nvSpPr>
            <p:cNvPr id="21" name="Rectangle 16">
              <a:extLst>
                <a:ext uri="{FF2B5EF4-FFF2-40B4-BE49-F238E27FC236}">
                  <a16:creationId xmlns:a16="http://schemas.microsoft.com/office/drawing/2014/main" id="{D487D928-AED6-F919-62BD-EA1F95526C33}"/>
                </a:ext>
              </a:extLst>
            </p:cNvPr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8857148" y="3909138"/>
              <a:ext cx="1264178" cy="32316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square" lIns="0" tIns="0" rIns="0" bIns="0">
              <a:spAutoFit/>
            </a:bodyPr>
            <a:lstStyle/>
            <a:p>
              <a:pPr defTabSz="914583" fontAlgn="base">
                <a:spcBef>
                  <a:spcPct val="0"/>
                </a:spcBef>
                <a:spcAft>
                  <a:spcPct val="0"/>
                </a:spcAft>
                <a:buClr>
                  <a:srgbClr val="145EB3"/>
                </a:buClr>
              </a:pPr>
              <a:r>
                <a:rPr lang="pt-BR" sz="1050" dirty="0">
                  <a:latin typeface="Graphik" panose="020B0503030202060203" pitchFamily="34" charset="0"/>
                  <a:cs typeface="Arial" panose="020B0604020202020204" pitchFamily="34" charset="0"/>
                </a:rPr>
                <a:t>Liderança técnica do projeto</a:t>
              </a:r>
            </a:p>
          </p:txBody>
        </p:sp>
        <p:sp>
          <p:nvSpPr>
            <p:cNvPr id="22" name="Rectangle 16">
              <a:extLst>
                <a:ext uri="{FF2B5EF4-FFF2-40B4-BE49-F238E27FC236}">
                  <a16:creationId xmlns:a16="http://schemas.microsoft.com/office/drawing/2014/main" id="{31ACBE79-3CBE-45D1-0911-ED1EC938B1D1}"/>
                </a:ext>
              </a:extLst>
            </p:cNvPr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8857148" y="5101892"/>
              <a:ext cx="1264178" cy="80791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square" lIns="0" tIns="0" rIns="0" bIns="0">
              <a:spAutoFit/>
            </a:bodyPr>
            <a:lstStyle/>
            <a:p>
              <a:pPr defTabSz="914583" fontAlgn="base">
                <a:spcBef>
                  <a:spcPct val="0"/>
                </a:spcBef>
                <a:spcAft>
                  <a:spcPct val="0"/>
                </a:spcAft>
                <a:buClr>
                  <a:srgbClr val="145EB3"/>
                </a:buClr>
              </a:pPr>
              <a:r>
                <a:rPr lang="pt-BR" sz="1050" dirty="0">
                  <a:latin typeface="Graphik" panose="020B0503030202060203" pitchFamily="34" charset="0"/>
                  <a:cs typeface="Arial" panose="020B0604020202020204" pitchFamily="34" charset="0"/>
                </a:rPr>
                <a:t>Estruturar e facilitar os ciclos de entrevistas com os demais intervenientes</a:t>
              </a:r>
            </a:p>
          </p:txBody>
        </p:sp>
        <p:sp>
          <p:nvSpPr>
            <p:cNvPr id="23" name="Line 14">
              <a:extLst>
                <a:ext uri="{FF2B5EF4-FFF2-40B4-BE49-F238E27FC236}">
                  <a16:creationId xmlns:a16="http://schemas.microsoft.com/office/drawing/2014/main" id="{2C03AFC9-0AE5-282C-8002-ACB13CD7E1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57148" y="3639204"/>
              <a:ext cx="2953851" cy="0"/>
            </a:xfrm>
            <a:prstGeom prst="line">
              <a:avLst/>
            </a:prstGeom>
            <a:noFill/>
            <a:ln w="12700">
              <a:solidFill>
                <a:schemeClr val="bg1">
                  <a:lumMod val="85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endParaRPr lang="pt-BR" dirty="0">
                <a:latin typeface="Graphik" panose="020B0503030202060203" pitchFamily="34" charset="0"/>
              </a:endParaRPr>
            </a:p>
          </p:txBody>
        </p:sp>
        <p:sp>
          <p:nvSpPr>
            <p:cNvPr id="24" name="Line 14">
              <a:extLst>
                <a:ext uri="{FF2B5EF4-FFF2-40B4-BE49-F238E27FC236}">
                  <a16:creationId xmlns:a16="http://schemas.microsoft.com/office/drawing/2014/main" id="{6760DF2D-A580-B295-B281-E4199630C3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57148" y="4951658"/>
              <a:ext cx="2953851" cy="0"/>
            </a:xfrm>
            <a:prstGeom prst="line">
              <a:avLst/>
            </a:prstGeom>
            <a:noFill/>
            <a:ln w="12700">
              <a:solidFill>
                <a:schemeClr val="bg1">
                  <a:lumMod val="85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endParaRPr lang="pt-BR" dirty="0">
                <a:latin typeface="Graphik" panose="020B0503030202060203" pitchFamily="34" charset="0"/>
              </a:endParaRPr>
            </a:p>
          </p:txBody>
        </p:sp>
        <p:pic>
          <p:nvPicPr>
            <p:cNvPr id="25" name="Graphic 24">
              <a:extLst>
                <a:ext uri="{FF2B5EF4-FFF2-40B4-BE49-F238E27FC236}">
                  <a16:creationId xmlns:a16="http://schemas.microsoft.com/office/drawing/2014/main" id="{A167CBC4-5994-6726-1113-2AA31E607768}"/>
                </a:ext>
              </a:extLst>
            </p:cNvPr>
            <p:cNvPicPr>
              <a:picLocks noChangeAspect="1"/>
            </p:cNvPicPr>
            <p:nvPr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0518711" y="2401235"/>
              <a:ext cx="637161" cy="174461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455E8DB-9B29-C39E-7E99-FEAE9D9961BE}"/>
                </a:ext>
              </a:extLst>
            </p:cNvPr>
            <p:cNvSpPr txBox="1"/>
            <p:nvPr/>
          </p:nvSpPr>
          <p:spPr>
            <a:xfrm>
              <a:off x="8857148" y="1869276"/>
              <a:ext cx="2953851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 defTabSz="228600">
                <a:spcAft>
                  <a:spcPts val="1200"/>
                </a:spcAft>
              </a:pPr>
              <a:r>
                <a:rPr lang="pt-BR" sz="1600" b="1" dirty="0"/>
                <a:t>Responsabilidades</a:t>
              </a:r>
              <a:endParaRPr lang="pt-BR" sz="1600" b="1" noProof="0" dirty="0"/>
            </a:p>
          </p:txBody>
        </p:sp>
        <p:sp>
          <p:nvSpPr>
            <p:cNvPr id="27" name="Retângulo 4">
              <a:extLst>
                <a:ext uri="{FF2B5EF4-FFF2-40B4-BE49-F238E27FC236}">
                  <a16:creationId xmlns:a16="http://schemas.microsoft.com/office/drawing/2014/main" id="{2D35FF56-514A-C8F5-58A3-F1E531585F28}"/>
                </a:ext>
              </a:extLst>
            </p:cNvPr>
            <p:cNvSpPr/>
            <p:nvPr/>
          </p:nvSpPr>
          <p:spPr>
            <a:xfrm>
              <a:off x="457251" y="2497393"/>
              <a:ext cx="3061739" cy="795930"/>
            </a:xfrm>
            <a:prstGeom prst="roundRect">
              <a:avLst>
                <a:gd name="adj" fmla="val 5585"/>
              </a:avLst>
            </a:prstGeom>
            <a:solidFill>
              <a:schemeClr val="bg1">
                <a:lumMod val="95000"/>
              </a:schemeClr>
            </a:solidFill>
            <a:ln w="12700">
              <a:noFill/>
              <a:prstDash val="solid"/>
              <a:headEnd type="none" w="med" len="med"/>
              <a:tailEnd type="oval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285750" lvl="0" indent="-285750">
                <a:lnSpc>
                  <a:spcPct val="85000"/>
                </a:lnSpc>
                <a:spcBef>
                  <a:spcPts val="200"/>
                </a:spcBef>
                <a:buClr>
                  <a:srgbClr val="000000"/>
                </a:buClr>
                <a:buSzPct val="100000"/>
                <a:buFont typeface="Wingdings" panose="05000000000000000000" pitchFamily="2" charset="2"/>
                <a:buChar char="¤"/>
              </a:pPr>
              <a:r>
                <a:rPr lang="pt-BR" sz="1200" b="1" dirty="0">
                  <a:solidFill>
                    <a:srgbClr val="000000">
                      <a:lumMod val="95000"/>
                      <a:lumOff val="5000"/>
                    </a:srgbClr>
                  </a:solidFill>
                  <a:latin typeface="Graphik" panose="020B0503030202060203" pitchFamily="34" charset="0"/>
                  <a:cs typeface="Arial" pitchFamily="34" charset="0"/>
                </a:rPr>
                <a:t>Executivos Avenue</a:t>
              </a:r>
            </a:p>
          </p:txBody>
        </p:sp>
        <p:sp>
          <p:nvSpPr>
            <p:cNvPr id="28" name="Retângulo 4">
              <a:extLst>
                <a:ext uri="{FF2B5EF4-FFF2-40B4-BE49-F238E27FC236}">
                  <a16:creationId xmlns:a16="http://schemas.microsoft.com/office/drawing/2014/main" id="{7908A85E-1028-B439-F945-F817EBC04ABC}"/>
                </a:ext>
              </a:extLst>
            </p:cNvPr>
            <p:cNvSpPr/>
            <p:nvPr/>
          </p:nvSpPr>
          <p:spPr>
            <a:xfrm>
              <a:off x="457251" y="4054513"/>
              <a:ext cx="3061739" cy="443227"/>
            </a:xfrm>
            <a:prstGeom prst="roundRect">
              <a:avLst>
                <a:gd name="adj" fmla="val 10828"/>
              </a:avLst>
            </a:prstGeom>
            <a:solidFill>
              <a:schemeClr val="bg1">
                <a:lumMod val="95000"/>
              </a:schemeClr>
            </a:solidFill>
            <a:ln w="12700">
              <a:noFill/>
              <a:prstDash val="solid"/>
              <a:headEnd type="none" w="med" len="med"/>
              <a:tailEnd type="oval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Ins="72000" rtlCol="0" anchor="ctr"/>
            <a:lstStyle/>
            <a:p>
              <a:pPr marL="288000" lvl="0" indent="-288000">
                <a:spcBef>
                  <a:spcPts val="200"/>
                </a:spcBef>
                <a:buClr>
                  <a:srgbClr val="000000"/>
                </a:buClr>
                <a:buSzPct val="100000"/>
                <a:buFont typeface="Wingdings" panose="05000000000000000000" pitchFamily="2" charset="2"/>
                <a:buChar char=""/>
              </a:pPr>
              <a:r>
                <a:rPr lang="pt-BR" sz="1200" b="1" dirty="0">
                  <a:solidFill>
                    <a:srgbClr val="000000"/>
                  </a:solidFill>
                  <a:latin typeface="Graphik" panose="020B0503030202060203" pitchFamily="34" charset="0"/>
                  <a:cs typeface="Arial" pitchFamily="34" charset="0"/>
                </a:rPr>
                <a:t>Líder do Projeto Avenue</a:t>
              </a:r>
            </a:p>
          </p:txBody>
        </p:sp>
        <p:sp>
          <p:nvSpPr>
            <p:cNvPr id="29" name="Retângulo 4">
              <a:extLst>
                <a:ext uri="{FF2B5EF4-FFF2-40B4-BE49-F238E27FC236}">
                  <a16:creationId xmlns:a16="http://schemas.microsoft.com/office/drawing/2014/main" id="{1EFF6EEE-B505-3E01-9B58-E5478ED7FAC2}"/>
                </a:ext>
              </a:extLst>
            </p:cNvPr>
            <p:cNvSpPr/>
            <p:nvPr/>
          </p:nvSpPr>
          <p:spPr>
            <a:xfrm>
              <a:off x="457251" y="5071805"/>
              <a:ext cx="3061739" cy="723364"/>
            </a:xfrm>
            <a:prstGeom prst="roundRect">
              <a:avLst>
                <a:gd name="adj" fmla="val 5553"/>
              </a:avLst>
            </a:prstGeom>
            <a:solidFill>
              <a:schemeClr val="bg1">
                <a:lumMod val="95000"/>
              </a:schemeClr>
            </a:solidFill>
            <a:ln w="12700">
              <a:noFill/>
              <a:prstDash val="solid"/>
              <a:headEnd type="none" w="med" len="med"/>
              <a:tailEnd type="oval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Ins="72000" rtlCol="0" anchor="ctr"/>
            <a:lstStyle/>
            <a:p>
              <a:pPr marL="285750" lvl="0" indent="-285750">
                <a:lnSpc>
                  <a:spcPct val="85000"/>
                </a:lnSpc>
                <a:spcBef>
                  <a:spcPts val="200"/>
                </a:spcBef>
                <a:buClr>
                  <a:prstClr val="black"/>
                </a:buClr>
                <a:buSzPct val="100000"/>
                <a:buFont typeface="Wingdings" panose="05000000000000000000" pitchFamily="2" charset="2"/>
                <a:buChar char="¤"/>
                <a:defRPr/>
              </a:pPr>
              <a:r>
                <a:rPr lang="pt-BR" sz="1200" b="1" dirty="0">
                  <a:solidFill>
                    <a:prstClr val="black">
                      <a:lumMod val="95000"/>
                      <a:lumOff val="5000"/>
                    </a:prstClr>
                  </a:solidFill>
                  <a:latin typeface="Graphik" panose="020B0503030202060203" pitchFamily="34" charset="0"/>
                  <a:cs typeface="Arial" pitchFamily="34" charset="0"/>
                </a:rPr>
                <a:t>Equipe do Avenue </a:t>
              </a:r>
              <a:r>
                <a:rPr lang="pt-BR" sz="1200" dirty="0">
                  <a:solidFill>
                    <a:prstClr val="black">
                      <a:lumMod val="95000"/>
                      <a:lumOff val="5000"/>
                    </a:prstClr>
                  </a:solidFill>
                  <a:latin typeface="Graphik" panose="020B0503030202060203" pitchFamily="34" charset="0"/>
                  <a:cs typeface="Arial" pitchFamily="34" charset="0"/>
                </a:rPr>
                <a:t>que terá interação no dia a dia para facilitar a coleta de dados e as interações necessárias</a:t>
              </a:r>
              <a:endParaRPr kumimoji="0" lang="pt-BR" sz="1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itchFamily="34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25ECEFFC-8DD2-F301-3760-DFB76A621019}"/>
                </a:ext>
              </a:extLst>
            </p:cNvPr>
            <p:cNvSpPr txBox="1"/>
            <p:nvPr/>
          </p:nvSpPr>
          <p:spPr>
            <a:xfrm>
              <a:off x="5651767" y="4349242"/>
              <a:ext cx="2735149" cy="41203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defPPr>
                <a:defRPr lang="en-US"/>
              </a:defPPr>
              <a:lvl1pPr marL="288000" marR="0" lvl="0" indent="-180000" defTabSz="228600" fontAlgn="auto">
                <a:lnSpc>
                  <a:spcPct val="100000"/>
                </a:lnSpc>
                <a:spcBef>
                  <a:spcPts val="0"/>
                </a:spcBef>
                <a:spcAft>
                  <a:spcPts val="1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 kumimoji="0" sz="1200" b="1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</a:defRPr>
              </a:lvl1pPr>
            </a:lstStyle>
            <a:p>
              <a:pPr marL="252000" indent="-252000" defTabSz="914400">
                <a:lnSpc>
                  <a:spcPct val="85000"/>
                </a:lnSpc>
                <a:spcBef>
                  <a:spcPts val="200"/>
                </a:spcBef>
                <a:buClr>
                  <a:prstClr val="black"/>
                </a:buClr>
                <a:buSzPct val="100000"/>
                <a:buFont typeface="Wingdings" panose="05000000000000000000" pitchFamily="2" charset="2"/>
                <a:buChar char="¤"/>
                <a:defRPr/>
              </a:pPr>
              <a:r>
                <a:rPr lang="pt-BR" sz="1050" dirty="0">
                  <a:solidFill>
                    <a:prstClr val="black">
                      <a:lumMod val="95000"/>
                      <a:lumOff val="5000"/>
                    </a:prstClr>
                  </a:solidFill>
                  <a:latin typeface="Graphik" panose="020B0503030202060203" pitchFamily="34" charset="0"/>
                  <a:cs typeface="Arial" pitchFamily="34" charset="0"/>
                </a:rPr>
                <a:t>Especialistas em </a:t>
              </a:r>
              <a:r>
                <a:rPr lang="pt-BR" sz="1050" b="0" dirty="0">
                  <a:solidFill>
                    <a:prstClr val="black">
                      <a:lumMod val="95000"/>
                      <a:lumOff val="5000"/>
                    </a:prstClr>
                  </a:solidFill>
                  <a:latin typeface="Graphik" panose="020B0503030202060203" pitchFamily="34" charset="0"/>
                  <a:cs typeface="Arial" pitchFamily="34" charset="0"/>
                </a:rPr>
                <a:t>Mercado de Capitais, Experiência Digital e Marca/Posicionamento</a:t>
              </a:r>
            </a:p>
          </p:txBody>
        </p:sp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C9964A0D-3D0E-B017-F4A7-26B338B1FD39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BEBA8EAE-BF5A-486C-A8C5-ECC9F3942E4B}">
                  <a14:imgProps xmlns:a14="http://schemas.microsoft.com/office/drawing/2010/main">
                    <a14:imgLayer r:embed="rId14">
                      <a14:imgEffect>
                        <a14:brightnessContrast bright="-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381000" y="1804411"/>
              <a:ext cx="1089826" cy="201505"/>
            </a:xfrm>
            <a:prstGeom prst="rect">
              <a:avLst/>
            </a:prstGeom>
          </p:spPr>
        </p:pic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4EC8F83F-3189-F611-3208-22BFB9093777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BEBA8EAE-BF5A-486C-A8C5-ECC9F3942E4B}">
                  <a14:imgProps xmlns:a14="http://schemas.microsoft.com/office/drawing/2010/main">
                    <a14:imgLayer r:embed="rId14">
                      <a14:imgEffect>
                        <a14:brightnessContrast bright="-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821474" y="2353701"/>
              <a:ext cx="744366" cy="137631"/>
            </a:xfrm>
            <a:prstGeom prst="rect">
              <a:avLst/>
            </a:prstGeom>
          </p:spPr>
        </p:pic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D2826E68-91AC-79AC-3B34-D6C249AC1E6D}"/>
                </a:ext>
              </a:extLst>
            </p:cNvPr>
            <p:cNvPicPr preferRelativeResize="0">
              <a:picLocks noChangeAspect="1"/>
            </p:cNvPicPr>
            <p:nvPr/>
          </p:nvPicPr>
          <p:blipFill>
            <a:blip r:embed="rId15">
              <a:grayscl/>
            </a:blip>
            <a:stretch>
              <a:fillRect/>
            </a:stretch>
          </p:blipFill>
          <p:spPr>
            <a:xfrm>
              <a:off x="5586353" y="3044616"/>
              <a:ext cx="360000" cy="360000"/>
            </a:xfrm>
            <a:prstGeom prst="ellipse">
              <a:avLst/>
            </a:prstGeom>
            <a:blipFill>
              <a:blip r:embed="rId16">
                <a:grayscl/>
              </a:blip>
              <a:stretch>
                <a:fillRect/>
              </a:stretch>
            </a:blipFill>
            <a:ln>
              <a:noFill/>
            </a:ln>
          </p:spPr>
        </p:pic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E9C60334-88D9-E6CE-F84A-16C5E8F5EF38}"/>
                </a:ext>
              </a:extLst>
            </p:cNvPr>
            <p:cNvPicPr preferRelativeResize="0">
              <a:picLocks noChangeAspect="1"/>
            </p:cNvPicPr>
            <p:nvPr/>
          </p:nvPicPr>
          <p:blipFill>
            <a:blip r:embed="rId17">
              <a:extLst>
                <a:ext uri="{BEBA8EAE-BF5A-486C-A8C5-ECC9F3942E4B}">
                  <a14:imgProps xmlns:a14="http://schemas.microsoft.com/office/drawing/2010/main">
                    <a14:imgLayer r:embed="rId18">
                      <a14:imgEffect>
                        <a14:colorTemperature colorTemp="5900"/>
                      </a14:imgEffect>
                    </a14:imgLayer>
                  </a14:imgProps>
                </a:ext>
              </a:extLst>
            </a:blip>
            <a:srcRect l="18649" t="12512" r="21482" b="16944"/>
            <a:stretch/>
          </p:blipFill>
          <p:spPr>
            <a:xfrm>
              <a:off x="5586353" y="3804756"/>
              <a:ext cx="360000" cy="360000"/>
            </a:xfrm>
            <a:prstGeom prst="ellipse">
              <a:avLst/>
            </a:prstGeom>
            <a:blipFill>
              <a:blip r:embed="rId19"/>
              <a:stretch>
                <a:fillRect/>
              </a:stretch>
            </a:blipFill>
            <a:ln>
              <a:noFill/>
            </a:ln>
          </p:spPr>
        </p:pic>
        <p:pic>
          <p:nvPicPr>
            <p:cNvPr id="35" name="Picture 4" descr="Rogerio Mascarenhas Email &amp; Phone Number | McKinsey &amp; Company Sr Advisor  Contact Information">
              <a:extLst>
                <a:ext uri="{FF2B5EF4-FFF2-40B4-BE49-F238E27FC236}">
                  <a16:creationId xmlns:a16="http://schemas.microsoft.com/office/drawing/2014/main" id="{B7C9C3F1-B0F0-8A79-ACB6-73B4421789C6}"/>
                </a:ext>
              </a:extLst>
            </p:cNvPr>
            <p:cNvPicPr preferRelativeResize="0">
              <a:picLocks noChangeAspect="1" noChangeArrowheads="1"/>
            </p:cNvPicPr>
            <p:nvPr/>
          </p:nvPicPr>
          <p:blipFill>
            <a:blip r:embed="rId20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91873" y="2420204"/>
              <a:ext cx="360000" cy="360000"/>
            </a:xfrm>
            <a:prstGeom prst="ellipse">
              <a:avLst/>
            </a:prstGeom>
            <a:ln>
              <a:solidFill>
                <a:srgbClr val="FEF2E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6" name="Retângulo 4">
              <a:extLst>
                <a:ext uri="{FF2B5EF4-FFF2-40B4-BE49-F238E27FC236}">
                  <a16:creationId xmlns:a16="http://schemas.microsoft.com/office/drawing/2014/main" id="{F8B32D76-D65E-732A-9B23-559CAC5ACBD6}"/>
                </a:ext>
              </a:extLst>
            </p:cNvPr>
            <p:cNvSpPr/>
            <p:nvPr/>
          </p:nvSpPr>
          <p:spPr>
            <a:xfrm>
              <a:off x="6096000" y="3804756"/>
              <a:ext cx="2491654" cy="364202"/>
            </a:xfrm>
            <a:prstGeom prst="rect">
              <a:avLst/>
            </a:prstGeom>
            <a:noFill/>
            <a:ln w="12700">
              <a:noFill/>
              <a:prstDash val="solid"/>
              <a:headEnd type="none" w="med" len="med"/>
              <a:tailEnd type="oval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lIns="0" tIns="0" rIns="0" bIns="0" rtlCol="0" anchor="t">
              <a:spAutoFit/>
            </a:bodyPr>
            <a:lstStyle/>
            <a:p>
              <a:pPr marR="0" lvl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tabLst/>
                <a:defRPr/>
              </a:pPr>
              <a:r>
                <a:rPr lang="pt-BR" sz="1200" b="1" dirty="0">
                  <a:cs typeface="Arial" pitchFamily="34" charset="0"/>
                </a:rPr>
                <a:t>Brenno Graciotti</a:t>
              </a:r>
              <a:endParaRPr lang="pt-BR" sz="1600" dirty="0">
                <a:latin typeface="Graphik"/>
              </a:endParaRPr>
            </a:p>
            <a:p>
              <a:pPr marR="0" lvl="0" fontAlgn="auto">
                <a:lnSpc>
                  <a:spcPct val="100000"/>
                </a:lnSpc>
                <a:spcAft>
                  <a:spcPts val="1800"/>
                </a:spcAft>
                <a:buClr>
                  <a:prstClr val="black"/>
                </a:buClr>
                <a:buSzPct val="100000"/>
                <a:tabLst/>
                <a:defRPr/>
              </a:pPr>
              <a:r>
                <a:rPr lang="pt-BR" sz="1000" dirty="0">
                  <a:latin typeface="Graphik"/>
                  <a:cs typeface="Arial" pitchFamily="34" charset="0"/>
                </a:rPr>
                <a:t>Principal </a:t>
              </a:r>
              <a:r>
                <a:rPr lang="pt-BR" sz="1000" dirty="0" err="1">
                  <a:latin typeface="Graphik"/>
                  <a:cs typeface="Arial" pitchFamily="34" charset="0"/>
                </a:rPr>
                <a:t>Director</a:t>
              </a:r>
              <a:endParaRPr lang="pt-BR" sz="1000" dirty="0">
                <a:latin typeface="Graphik"/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7642494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UrSkSKeWNEa7zSnB14abNw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DEEVadl17EyyoFteVeJ.tg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UrSkSKeWNEa7zSnB14abNw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UrSkSKeWNEa7zSnB14abNw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S3xxiWgLUK.G61f.rbDBQ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S3xxiWgLUK.G61f.rbDBQ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S3xxiWgLUK.G61f.rbDBQ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S3xxiWgLUK.G61f.rbDBQ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S3xxiWgLUK.G61f.rbDBQ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S3xxiWgLUK.G61f.rbDBQ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124</Words>
  <Application>Microsoft Office PowerPoint</Application>
  <PresentationFormat>Widescreen</PresentationFormat>
  <Paragraphs>24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Graphik</vt:lpstr>
      <vt:lpstr>Wingdings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Graciotti, Brenno</dc:creator>
  <cp:lastModifiedBy>Graciotti, Brenno</cp:lastModifiedBy>
  <cp:revision>1</cp:revision>
  <dcterms:created xsi:type="dcterms:W3CDTF">2026-08-18T11:04:54Z</dcterms:created>
  <dcterms:modified xsi:type="dcterms:W3CDTF">2026-08-18T11:04:54Z</dcterms:modified>
</cp:coreProperties>
</file>