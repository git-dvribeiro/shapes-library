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D4AAE-E4F7-8C22-47D7-A1A33669E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358B6-9682-3056-7E38-7C7C98B6C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F8E53-AB12-4AE1-B261-F16CADE4E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EC5EA-02E5-4884-8AA9-2E0031FAB89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902AE-1944-3392-2A18-E7F8FBF50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22662-62AE-D775-7396-6B9D4A033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2F088-8240-43BE-935E-21ABC4E7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00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68011-CAC4-F950-081C-D47908C72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1B588-BB6B-F67C-5B82-1EC791770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E64DB-78C4-F9FB-C413-824A8551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EC5EA-02E5-4884-8AA9-2E0031FAB89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73510-0F26-CF6A-C241-3378B017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8E6D8-B834-A8C2-544D-D1121F8B3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2F088-8240-43BE-935E-21ABC4E7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02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5CBA8-5492-1684-6B6D-0BD2B1B9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AA485-C33D-E40C-84FE-ECF18E9F2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51622-0BF8-6CBD-74E0-E792EA2C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EC5EA-02E5-4884-8AA9-2E0031FAB89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3E0D0-13D6-F58C-3CD5-6F3AF7E4D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7F10B-4EA4-F3D5-FCD5-DD2B4CF28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2F088-8240-43BE-935E-21ABC4E7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1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C7CB7-7C3F-E583-CA55-1E9134BD4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A6BE8-79D1-E6BE-BC26-245C24450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568FB-21E1-BB63-4D2D-F056CF0FB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4AFC9-0DB5-F339-1E02-1D48E9E3B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EC5EA-02E5-4884-8AA9-2E0031FAB89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7950E-69BE-8ED6-84FD-10471568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94824-EC95-CF89-E997-819AD3135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2F088-8240-43BE-935E-21ABC4E7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3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FEB5-ACA8-5CA5-DA63-31BB38B5A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4269F-EBC3-B67C-0D64-16BAC84B3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87079-C3BD-082F-526B-93D422501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D4619-F44E-986F-CC67-C4F2093F6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0AC002-2F78-85D2-0D90-7C47A6829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7D1BB4-B570-AC05-69EF-C7A7899FB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EC5EA-02E5-4884-8AA9-2E0031FAB89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42A921-60B3-EC11-D7D2-1E26B0F9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26DD3E-FAD0-BB1C-DD2D-ED9DE318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2F088-8240-43BE-935E-21ABC4E7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6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4137E-0958-5328-528B-5E756D86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3AB96A-745A-D001-5C7A-13D3CCC1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EC5EA-02E5-4884-8AA9-2E0031FAB89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7910E-35F0-54F2-BBE7-07F02514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1780E-1777-C603-A76B-74ADE30A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2F088-8240-43BE-935E-21ABC4E7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5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590DD-0112-F28D-8A81-D20497E85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EC5EA-02E5-4884-8AA9-2E0031FAB89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20E932-9024-5C2B-179D-AAC71A32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E48E-7644-72AD-1564-5EB522121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2F088-8240-43BE-935E-21ABC4E7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85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928AF-58FF-AD3B-95DF-5ED816C1D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8E013-A2DC-33F1-AE5A-F722D9CF8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9E8FD-9440-55F6-D8D0-DF844FF7B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D3426-3953-28AE-0279-AA91B3167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EC5EA-02E5-4884-8AA9-2E0031FAB89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14E0A-F055-28FF-F358-AEB2768A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40D70-FC92-C183-97DB-173FEBBEC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2F088-8240-43BE-935E-21ABC4E7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92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D935-24C1-86CC-D833-81F1B5BCF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C9A7F2-4539-86F8-FB7F-99A2CFAB5F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F2D23-B28A-78B3-6194-32F67D364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DA586-49F3-C9DF-1730-055C3F4A3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EC5EA-02E5-4884-8AA9-2E0031FAB89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4DCEB-8338-DC1C-770C-D997AA826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165A1-39B8-5BCD-1922-775646148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2F088-8240-43BE-935E-21ABC4E7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33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B6F8C-D5ED-9E72-63A6-260E6311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D6BA0-6867-EEED-C5B0-E1AFC324B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051C4-E535-EA82-CFAE-F4078C1C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EC5EA-02E5-4884-8AA9-2E0031FAB89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F9FD5-C6C1-D97E-3937-B9CE28157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3A9AD-1839-A3E7-FD06-35DEE9D5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2F088-8240-43BE-935E-21ABC4E7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20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81B2DE-C6E6-C5E1-7982-2A8236B4B0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04541-9433-EB1D-3207-01CC5DC8D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D297C-C128-B7AB-AE0C-8C6E2A81C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EC5EA-02E5-4884-8AA9-2E0031FAB89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28FC8-C9AA-A7FB-5714-3ECB9CB08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59803-C83C-F96E-D66A-61726F7E0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2F088-8240-43BE-935E-21ABC4E7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25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E9A134-0499-B207-4440-AA2F330F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B772B-2B54-6D7A-0EC7-AA48538DD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B0280-5735-E68A-030C-71B35C661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EC5EA-02E5-4884-8AA9-2E0031FAB89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4E196-A4D8-D364-C9F5-A8A81978B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B9BEB-A49F-F430-13B5-1D1F6EF96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C2F088-8240-43BE-935E-21ABC4E7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3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2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A4902B3-33C5-4DEE-6E74-735CB7A33E46}"/>
              </a:ext>
            </a:extLst>
          </p:cNvPr>
          <p:cNvGrpSpPr/>
          <p:nvPr/>
        </p:nvGrpSpPr>
        <p:grpSpPr>
          <a:xfrm>
            <a:off x="364396" y="1327223"/>
            <a:ext cx="11582352" cy="5061198"/>
            <a:chOff x="364396" y="1327223"/>
            <a:chExt cx="11582352" cy="5061198"/>
          </a:xfrm>
        </p:grpSpPr>
        <p:sp>
          <p:nvSpPr>
            <p:cNvPr id="3" name="Rectangle 5">
              <a:extLst>
                <a:ext uri="{FF2B5EF4-FFF2-40B4-BE49-F238E27FC236}">
                  <a16:creationId xmlns:a16="http://schemas.microsoft.com/office/drawing/2014/main" id="{62E5874D-6CD7-568E-17FD-A5FBDC63FE10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900174" y="2107422"/>
              <a:ext cx="1305088" cy="585652"/>
            </a:xfrm>
            <a:prstGeom prst="rect">
              <a:avLst/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sz="1200" b="1" kern="0" noProof="0" dirty="0">
                  <a:solidFill>
                    <a:srgbClr val="FFFFFF"/>
                  </a:solidFill>
                  <a:cs typeface="Arial" panose="020B0604020202020204" pitchFamily="34" charset="0"/>
                </a:rPr>
                <a:t>Comitê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sz="1200" b="1" kern="0" noProof="0" dirty="0">
                  <a:solidFill>
                    <a:srgbClr val="FFFFFF"/>
                  </a:solidFill>
                  <a:cs typeface="Arial" panose="020B0604020202020204" pitchFamily="34" charset="0"/>
                </a:rPr>
                <a:t>Executivo</a:t>
              </a:r>
            </a:p>
          </p:txBody>
        </p:sp>
        <p:cxnSp>
          <p:nvCxnSpPr>
            <p:cNvPr id="4" name="AutoShape 6">
              <a:extLst>
                <a:ext uri="{FF2B5EF4-FFF2-40B4-BE49-F238E27FC236}">
                  <a16:creationId xmlns:a16="http://schemas.microsoft.com/office/drawing/2014/main" id="{1AF0175B-E091-6358-CA8C-17444311A3B1}"/>
                </a:ext>
              </a:extLst>
            </p:cNvPr>
            <p:cNvCxnSpPr>
              <a:cxnSpLocks noChangeShapeType="1"/>
              <a:stCxn id="3" idx="2"/>
              <a:endCxn id="30" idx="0"/>
            </p:cNvCxnSpPr>
            <p:nvPr>
              <p:custDataLst>
                <p:tags r:id="rId2"/>
              </p:custDataLst>
            </p:nvPr>
          </p:nvCxnSpPr>
          <p:spPr bwMode="auto">
            <a:xfrm flipH="1">
              <a:off x="1515992" y="2693074"/>
              <a:ext cx="36726" cy="2342246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B914F6-57D0-E44A-567C-9C4C74FC57C0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786450" y="3207327"/>
              <a:ext cx="1369332" cy="585652"/>
            </a:xfrm>
            <a:prstGeom prst="rect">
              <a:avLst/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sz="1200" b="1" kern="0" noProof="0" dirty="0">
                  <a:solidFill>
                    <a:srgbClr val="FFFFFF"/>
                  </a:solidFill>
                  <a:cs typeface="Arial" panose="020B0604020202020204" pitchFamily="34" charset="0"/>
                </a:rPr>
                <a:t>Especialistas Accenture</a:t>
              </a:r>
            </a:p>
          </p:txBody>
        </p:sp>
        <p:cxnSp>
          <p:nvCxnSpPr>
            <p:cNvPr id="6" name="Elbow Connector 133">
              <a:extLst>
                <a:ext uri="{FF2B5EF4-FFF2-40B4-BE49-F238E27FC236}">
                  <a16:creationId xmlns:a16="http://schemas.microsoft.com/office/drawing/2014/main" id="{A67AD6DD-63A5-FF42-4DA0-F2F916B7C815}"/>
                </a:ext>
              </a:extLst>
            </p:cNvPr>
            <p:cNvCxnSpPr>
              <a:cxnSpLocks/>
              <a:stCxn id="3" idx="2"/>
              <a:endCxn id="5" idx="0"/>
            </p:cNvCxnSpPr>
            <p:nvPr/>
          </p:nvCxnSpPr>
          <p:spPr>
            <a:xfrm rot="16200000" flipH="1">
              <a:off x="2254791" y="1991001"/>
              <a:ext cx="514253" cy="1918398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7" name="Rectangle 21">
              <a:extLst>
                <a:ext uri="{FF2B5EF4-FFF2-40B4-BE49-F238E27FC236}">
                  <a16:creationId xmlns:a16="http://schemas.microsoft.com/office/drawing/2014/main" id="{AC5A3D92-501E-D556-E0CE-D3C41D0C1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1534" y="2155723"/>
              <a:ext cx="2099285" cy="44627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ts val="600"/>
                </a:spcAft>
              </a:pPr>
              <a:r>
                <a:rPr lang="pt-BR" sz="1200" b="1" noProof="0" dirty="0">
                  <a:cs typeface="Arial" charset="0"/>
                </a:rPr>
                <a:t>Executivos XP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200" b="1" noProof="0" dirty="0">
                  <a:solidFill>
                    <a:srgbClr val="000000"/>
                  </a:solidFill>
                  <a:cs typeface="Arial" charset="0"/>
                </a:rPr>
                <a:t>Executivos Accenture</a:t>
              </a:r>
            </a:p>
          </p:txBody>
        </p:sp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7F83BB46-0A65-5ABC-A0FA-6063CA064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298" y="4009773"/>
              <a:ext cx="2149001" cy="78483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</a:pPr>
              <a:r>
                <a:rPr lang="pt-BR" sz="1200" b="1" noProof="0" dirty="0">
                  <a:cs typeface="Arial" charset="0"/>
                </a:rPr>
                <a:t>Executivo XP</a:t>
              </a:r>
            </a:p>
            <a:p>
              <a:pPr marL="216000" indent="-176248" fontAlgn="base"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100" noProof="0" dirty="0">
                  <a:solidFill>
                    <a:srgbClr val="000000"/>
                  </a:solidFill>
                  <a:cs typeface="Arial" charset="0"/>
                </a:rPr>
                <a:t>Líder do Projeto</a:t>
              </a:r>
              <a:endParaRPr lang="pt-BR" sz="1200" b="1" noProof="0" dirty="0">
                <a:solidFill>
                  <a:srgbClr val="000000"/>
                </a:solidFill>
                <a:cs typeface="Arial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200" b="1" noProof="0" dirty="0">
                  <a:solidFill>
                    <a:srgbClr val="000000"/>
                  </a:solidFill>
                  <a:cs typeface="Arial" charset="0"/>
                </a:rPr>
                <a:t>Executivo Accenture</a:t>
              </a:r>
            </a:p>
            <a:p>
              <a:pPr marL="216000" indent="-176248" fontAlgn="base"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pt-BR" sz="1100" noProof="0" dirty="0">
                  <a:solidFill>
                    <a:srgbClr val="000000"/>
                  </a:solidFill>
                  <a:cs typeface="Arial" charset="0"/>
                </a:rPr>
                <a:t>Líder do Projeto</a:t>
              </a:r>
            </a:p>
          </p:txBody>
        </p:sp>
        <p:sp>
          <p:nvSpPr>
            <p:cNvPr id="9" name="Rectangle 16">
              <a:extLst>
                <a:ext uri="{FF2B5EF4-FFF2-40B4-BE49-F238E27FC236}">
                  <a16:creationId xmlns:a16="http://schemas.microsoft.com/office/drawing/2014/main" id="{08673A1F-DAE9-DF02-265D-B97B02308377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832178" y="2247980"/>
              <a:ext cx="3024000" cy="8079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144000" indent="-144000" defTabSz="91458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r>
                <a:rPr lang="pt-BR" sz="1050" noProof="0" dirty="0">
                  <a:solidFill>
                    <a:srgbClr val="000000"/>
                  </a:solidFill>
                  <a:cs typeface="Arial" panose="020B0604020202020204" pitchFamily="34" charset="0"/>
                </a:rPr>
                <a:t>Tomar decisões de alto nível quanto ao alcance, suportar aprovação de impacto e resultados, e qualquer outra decisão de natureza estratégica</a:t>
              </a:r>
            </a:p>
            <a:p>
              <a:pPr defTabSz="91458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pt-BR" sz="1050" noProof="0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B428A228-AE71-EC47-6792-F3ED608675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1228" y="3203863"/>
              <a:ext cx="6185520" cy="0"/>
            </a:xfrm>
            <a:prstGeom prst="line">
              <a:avLst/>
            </a:prstGeom>
            <a:noFill/>
            <a:ln w="6350">
              <a:solidFill>
                <a:srgbClr val="FFFFFF">
                  <a:lumMod val="50000"/>
                </a:srgbClr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6FD35C18-0C0D-630B-BCFD-1100F162AB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1228" y="4986161"/>
              <a:ext cx="6185520" cy="0"/>
            </a:xfrm>
            <a:prstGeom prst="line">
              <a:avLst/>
            </a:prstGeom>
            <a:noFill/>
            <a:ln w="6350">
              <a:solidFill>
                <a:srgbClr val="FFFFFF">
                  <a:lumMod val="50000"/>
                </a:srgbClr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D2AF4A-EE63-FDFC-CD26-FEF57DCAC91A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720359" y="2247980"/>
              <a:ext cx="3024000" cy="8079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144000" indent="-144000" defTabSz="91458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r>
                <a:rPr lang="pt-BR" sz="1050" noProof="0" dirty="0">
                  <a:solidFill>
                    <a:srgbClr val="000000"/>
                  </a:solidFill>
                  <a:cs typeface="Arial" panose="020B0604020202020204" pitchFamily="34" charset="0"/>
                </a:rPr>
                <a:t>Definir o direcionamento do projeto e imperativos (Prioridades, escopo, entregáveis, engajamento)</a:t>
              </a:r>
            </a:p>
            <a:p>
              <a:pPr marL="144000" indent="-144000" defTabSz="91458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r>
                <a:rPr lang="pt-BR" sz="1050" noProof="0" dirty="0">
                  <a:solidFill>
                    <a:srgbClr val="000000"/>
                  </a:solidFill>
                  <a:cs typeface="Arial" panose="020B0604020202020204" pitchFamily="34" charset="0"/>
                </a:rPr>
                <a:t>Responsabilidade sobre a validação de entregáveis do projeto</a:t>
              </a:r>
            </a:p>
          </p:txBody>
        </p:sp>
        <p:sp>
          <p:nvSpPr>
            <p:cNvPr id="13" name="Rectangle 16">
              <a:extLst>
                <a:ext uri="{FF2B5EF4-FFF2-40B4-BE49-F238E27FC236}">
                  <a16:creationId xmlns:a16="http://schemas.microsoft.com/office/drawing/2014/main" id="{9049F73D-BD04-3D19-1D1F-55DB88EE7AF7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832178" y="3308409"/>
              <a:ext cx="3024000" cy="52322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144000" indent="-144000" fontAlgn="base">
                <a:spcBef>
                  <a:spcPct val="0"/>
                </a:spcBef>
                <a:spcAft>
                  <a:spcPts val="30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r>
                <a:rPr lang="pt-BR" sz="1050" noProof="0" dirty="0">
                  <a:solidFill>
                    <a:srgbClr val="000000"/>
                  </a:solidFill>
                  <a:cs typeface="Arial" panose="020B0604020202020204" pitchFamily="34" charset="0"/>
                </a:rPr>
                <a:t>Compartilhar práticas líderes</a:t>
              </a:r>
              <a:r>
                <a:rPr lang="pt-BR" sz="1050" noProof="0" dirty="0">
                  <a:solidFill>
                    <a:srgbClr val="FF0000"/>
                  </a:solidFill>
                  <a:cs typeface="Arial" panose="020B0604020202020204" pitchFamily="34" charset="0"/>
                </a:rPr>
                <a:t> </a:t>
              </a:r>
              <a:r>
                <a:rPr lang="pt-BR" sz="1050" noProof="0" dirty="0">
                  <a:solidFill>
                    <a:srgbClr val="000000"/>
                  </a:solidFill>
                  <a:cs typeface="Arial" panose="020B0604020202020204" pitchFamily="34" charset="0"/>
                </a:rPr>
                <a:t>da indústria</a:t>
              </a:r>
            </a:p>
            <a:p>
              <a:pPr marL="144000" indent="-144000" fontAlgn="base">
                <a:spcBef>
                  <a:spcPct val="0"/>
                </a:spcBef>
                <a:spcAft>
                  <a:spcPts val="30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r>
                <a:rPr lang="pt-BR" sz="1050" noProof="0" dirty="0">
                  <a:solidFill>
                    <a:srgbClr val="000000"/>
                  </a:solidFill>
                  <a:cs typeface="Arial" panose="020B0604020202020204" pitchFamily="34" charset="0"/>
                </a:rPr>
                <a:t>Aportar conhecimento específico de soluções, indústria e arquitetura</a:t>
              </a:r>
            </a:p>
          </p:txBody>
        </p:sp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id="{44D9BE44-CF2B-BA61-A8D8-7D48F134AFC9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832178" y="5108105"/>
              <a:ext cx="3024000" cy="52322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144000" indent="-144000" fontAlgn="base">
                <a:spcBef>
                  <a:spcPct val="0"/>
                </a:spcBef>
                <a:spcAft>
                  <a:spcPts val="30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r>
                <a:rPr lang="pt-BR" sz="1050" noProof="0" dirty="0">
                  <a:solidFill>
                    <a:srgbClr val="000000"/>
                  </a:solidFill>
                  <a:cs typeface="Arial" panose="020B0604020202020204" pitchFamily="34" charset="0"/>
                </a:rPr>
                <a:t>Realização das análises da Arquitetura Tecnológica</a:t>
              </a:r>
            </a:p>
            <a:p>
              <a:pPr marL="144000" indent="-144000" fontAlgn="base">
                <a:spcBef>
                  <a:spcPct val="0"/>
                </a:spcBef>
                <a:spcAft>
                  <a:spcPts val="30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r>
                <a:rPr lang="pt-BR" sz="1050" noProof="0" dirty="0">
                  <a:solidFill>
                    <a:srgbClr val="000000"/>
                  </a:solidFill>
                  <a:cs typeface="Arial" panose="020B0604020202020204" pitchFamily="34" charset="0"/>
                </a:rPr>
                <a:t>Elaboração das documentações do projeto</a:t>
              </a:r>
            </a:p>
          </p:txBody>
        </p:sp>
        <p:sp>
          <p:nvSpPr>
            <p:cNvPr id="15" name="Rectangle 16">
              <a:extLst>
                <a:ext uri="{FF2B5EF4-FFF2-40B4-BE49-F238E27FC236}">
                  <a16:creationId xmlns:a16="http://schemas.microsoft.com/office/drawing/2014/main" id="{2B890472-B264-B028-0C0B-99C1EA14E707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720359" y="5108105"/>
              <a:ext cx="3024000" cy="6848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144000" indent="-144000" fontAlgn="base">
                <a:spcBef>
                  <a:spcPct val="0"/>
                </a:spcBef>
                <a:spcAft>
                  <a:spcPts val="30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r>
                <a:rPr lang="pt-BR" sz="1050" noProof="0" dirty="0">
                  <a:solidFill>
                    <a:srgbClr val="000000"/>
                  </a:solidFill>
                  <a:cs typeface="Arial" panose="020B0604020202020204" pitchFamily="34" charset="0"/>
                </a:rPr>
                <a:t>Estruturar e facilitar os ciclos de entrevistas com os demais intervenientes</a:t>
              </a:r>
            </a:p>
            <a:p>
              <a:pPr marL="144000" indent="-144000" fontAlgn="base">
                <a:spcBef>
                  <a:spcPct val="0"/>
                </a:spcBef>
                <a:spcAft>
                  <a:spcPts val="30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r>
                <a:rPr lang="pt-BR" sz="1050" noProof="0" dirty="0">
                  <a:solidFill>
                    <a:srgbClr val="000000"/>
                  </a:solidFill>
                  <a:cs typeface="Arial" panose="020B0604020202020204" pitchFamily="34" charset="0"/>
                </a:rPr>
                <a:t>Conduzir os trabalhos previstos no dia-a-dia do projeto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25B4C60-C009-CD31-40D6-34C125347A80}"/>
                </a:ext>
              </a:extLst>
            </p:cNvPr>
            <p:cNvPicPr>
              <a:picLocks noChangeAspect="1"/>
            </p:cNvPicPr>
            <p:nvPr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706095" y="1724058"/>
              <a:ext cx="1276166" cy="349427"/>
            </a:xfrm>
            <a:prstGeom prst="rect">
              <a:avLst/>
            </a:prstGeom>
          </p:spPr>
        </p:pic>
        <p:sp>
          <p:nvSpPr>
            <p:cNvPr id="17" name="Rectangle 21">
              <a:extLst>
                <a:ext uri="{FF2B5EF4-FFF2-40B4-BE49-F238E27FC236}">
                  <a16:creationId xmlns:a16="http://schemas.microsoft.com/office/drawing/2014/main" id="{5B63C844-7180-8EE6-0753-5AB99E7CC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368" y="3320400"/>
              <a:ext cx="1188000" cy="3693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ts val="600"/>
                </a:spcAft>
              </a:pPr>
              <a:r>
                <a:rPr lang="pt-BR" sz="1200" b="1" noProof="0" dirty="0">
                  <a:solidFill>
                    <a:srgbClr val="000000"/>
                  </a:solidFill>
                  <a:cs typeface="Arial" charset="0"/>
                </a:rPr>
                <a:t>Especialistas Accenture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FCDD029-A4B1-8E6D-D3D6-45C4FA77BE94}"/>
                </a:ext>
              </a:extLst>
            </p:cNvPr>
            <p:cNvCxnSpPr>
              <a:cxnSpLocks/>
            </p:cNvCxnSpPr>
            <p:nvPr/>
          </p:nvCxnSpPr>
          <p:spPr>
            <a:xfrm>
              <a:off x="364396" y="1504263"/>
              <a:ext cx="5184000" cy="0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19" name="Text Placeholder 4">
              <a:extLst>
                <a:ext uri="{FF2B5EF4-FFF2-40B4-BE49-F238E27FC236}">
                  <a16:creationId xmlns:a16="http://schemas.microsoft.com/office/drawing/2014/main" id="{AEC43F4B-4CD1-38EC-5E70-716C06BBDF6D}"/>
                </a:ext>
              </a:extLst>
            </p:cNvPr>
            <p:cNvSpPr txBox="1">
              <a:spLocks/>
            </p:cNvSpPr>
            <p:nvPr/>
          </p:nvSpPr>
          <p:spPr>
            <a:xfrm>
              <a:off x="1390155" y="1327223"/>
              <a:ext cx="3132482" cy="354080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wrap="square" lIns="0" tIns="72000" rIns="0" bIns="36000" rtlCol="0">
              <a:noAutofit/>
            </a:bodyPr>
            <a:lstStyle>
              <a:lvl1pPr marL="0" indent="0" algn="l" rtl="0" eaLnBrk="1" fontAlgn="base" hangingPunct="1">
                <a:spcBef>
                  <a:spcPts val="800"/>
                </a:spcBef>
                <a:spcAft>
                  <a:spcPct val="0"/>
                </a:spcAft>
                <a:buFont typeface="Arial" pitchFamily="34" charset="0"/>
                <a:buNone/>
                <a:defRPr lang="de-DE" sz="1600" b="0" kern="1200" dirty="0" smtClean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95384" indent="0" algn="l" rtl="0" eaLnBrk="1" fontAlgn="base" hangingPunct="1">
                <a:spcBef>
                  <a:spcPts val="800"/>
                </a:spcBef>
                <a:spcAft>
                  <a:spcPct val="0"/>
                </a:spcAft>
                <a:buFont typeface="Arial" pitchFamily="34" charset="0"/>
                <a:buNone/>
                <a:defRPr sz="2167" b="1" kern="1200">
                  <a:solidFill>
                    <a:schemeClr val="tx2"/>
                  </a:solidFill>
                  <a:latin typeface="+mn-lt"/>
                  <a:ea typeface="Arial" pitchFamily="-105" charset="-52"/>
                  <a:cs typeface="Arial" pitchFamily="34" charset="0"/>
                </a:defRPr>
              </a:lvl2pPr>
              <a:lvl3pPr marL="990768" indent="0" algn="l" rtl="0" eaLnBrk="1" fontAlgn="base" hangingPunct="1">
                <a:spcBef>
                  <a:spcPts val="800"/>
                </a:spcBef>
                <a:spcAft>
                  <a:spcPct val="0"/>
                </a:spcAft>
                <a:buFont typeface="Arial" pitchFamily="34" charset="0"/>
                <a:buNone/>
                <a:tabLst/>
                <a:defRPr sz="1950" b="1" kern="1200">
                  <a:solidFill>
                    <a:schemeClr val="tx2"/>
                  </a:solidFill>
                  <a:latin typeface="+mn-lt"/>
                  <a:ea typeface="Arial" pitchFamily="-105" charset="-52"/>
                  <a:cs typeface="Arial" pitchFamily="34" charset="0"/>
                </a:defRPr>
              </a:lvl3pPr>
              <a:lvl4pPr marL="1486151" indent="0" algn="l" rtl="0" eaLnBrk="1" fontAlgn="base" hangingPunct="1">
                <a:spcBef>
                  <a:spcPts val="800"/>
                </a:spcBef>
                <a:spcAft>
                  <a:spcPct val="0"/>
                </a:spcAft>
                <a:buFont typeface="Arial" pitchFamily="34" charset="0"/>
                <a:buNone/>
                <a:defRPr sz="1733" b="1" kern="1200">
                  <a:solidFill>
                    <a:schemeClr val="tx2"/>
                  </a:solidFill>
                  <a:latin typeface="+mn-lt"/>
                  <a:ea typeface="Arial" pitchFamily="-105" charset="-52"/>
                  <a:cs typeface="Arial" pitchFamily="34" charset="0"/>
                </a:defRPr>
              </a:lvl4pPr>
              <a:lvl5pPr marL="1981535" indent="0" algn="l" rtl="0" eaLnBrk="1" fontAlgn="base" hangingPunct="1">
                <a:spcBef>
                  <a:spcPts val="800"/>
                </a:spcBef>
                <a:spcAft>
                  <a:spcPct val="0"/>
                </a:spcAft>
                <a:buFont typeface="Arial" pitchFamily="34" charset="0"/>
                <a:buNone/>
                <a:defRPr sz="1733" b="1" kern="1200">
                  <a:solidFill>
                    <a:schemeClr val="tx2"/>
                  </a:solidFill>
                  <a:latin typeface="+mn-lt"/>
                  <a:ea typeface="Arial" pitchFamily="-105" charset="-52"/>
                  <a:cs typeface="Arial" pitchFamily="34" charset="0"/>
                </a:defRPr>
              </a:lvl5pPr>
              <a:lvl6pPr marL="2476919" indent="0" algn="l" defTabSz="1218987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733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2303" indent="0" algn="l" defTabSz="1218987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733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67686" indent="0" algn="l" defTabSz="1218987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733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3070" indent="0" algn="l" defTabSz="1218987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733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pt-BR" sz="1400" b="1" i="0" u="none" strike="noStrike" kern="1200" cap="none" spc="10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ORGANIZAÇÃO DA EQUIPE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25BAC64-FBF6-3FF1-34BC-9C06033DE83D}"/>
                </a:ext>
              </a:extLst>
            </p:cNvPr>
            <p:cNvCxnSpPr>
              <a:cxnSpLocks/>
            </p:cNvCxnSpPr>
            <p:nvPr/>
          </p:nvCxnSpPr>
          <p:spPr>
            <a:xfrm>
              <a:off x="5761228" y="1504263"/>
              <a:ext cx="6185520" cy="0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21" name="Text Placeholder 4">
              <a:extLst>
                <a:ext uri="{FF2B5EF4-FFF2-40B4-BE49-F238E27FC236}">
                  <a16:creationId xmlns:a16="http://schemas.microsoft.com/office/drawing/2014/main" id="{E066E8B1-8477-D457-B92E-4632E378FDD0}"/>
                </a:ext>
              </a:extLst>
            </p:cNvPr>
            <p:cNvSpPr txBox="1">
              <a:spLocks/>
            </p:cNvSpPr>
            <p:nvPr/>
          </p:nvSpPr>
          <p:spPr>
            <a:xfrm>
              <a:off x="7563820" y="1327223"/>
              <a:ext cx="2580336" cy="35408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72017" rIns="0" bIns="36008">
              <a:noAutofit/>
            </a:bodyPr>
            <a:lstStyle>
              <a:lvl1pPr marL="0" indent="0" algn="l" rtl="0" eaLnBrk="1" fontAlgn="base" hangingPunct="1">
                <a:spcBef>
                  <a:spcPts val="325"/>
                </a:spcBef>
                <a:spcAft>
                  <a:spcPts val="325"/>
                </a:spcAft>
                <a:buFont typeface="Arial" charset="0"/>
                <a:buNone/>
                <a:defRPr lang="de-DE" sz="1600" b="0" kern="1200" dirty="0" smtClean="0">
                  <a:solidFill>
                    <a:srgbClr val="0027A2"/>
                  </a:solidFill>
                  <a:latin typeface="+mn-lt"/>
                  <a:ea typeface="+mn-ea"/>
                  <a:cs typeface="+mn-cs"/>
                </a:defRPr>
              </a:lvl1pPr>
              <a:lvl2pPr marL="495285" indent="0" algn="l" rtl="0" eaLnBrk="1" fontAlgn="base" hangingPunct="1">
                <a:spcBef>
                  <a:spcPts val="325"/>
                </a:spcBef>
                <a:spcAft>
                  <a:spcPts val="325"/>
                </a:spcAft>
                <a:buFont typeface="Arial" charset="0"/>
                <a:buNone/>
                <a:defRPr sz="2167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90570" indent="0" algn="l" rtl="0" eaLnBrk="1" fontAlgn="base" hangingPunct="1">
                <a:spcBef>
                  <a:spcPts val="325"/>
                </a:spcBef>
                <a:spcAft>
                  <a:spcPts val="325"/>
                </a:spcAft>
                <a:buFont typeface="Arial" charset="0"/>
                <a:buNone/>
                <a:defRPr sz="195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85854" indent="0" algn="l" rtl="0" eaLnBrk="1" fontAlgn="base" hangingPunct="1">
                <a:spcBef>
                  <a:spcPts val="325"/>
                </a:spcBef>
                <a:spcAft>
                  <a:spcPts val="325"/>
                </a:spcAft>
                <a:buFont typeface="Arial" charset="0"/>
                <a:buNone/>
                <a:defRPr sz="1733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81139" indent="0" algn="l" rtl="0" eaLnBrk="1" fontAlgn="base" hangingPunct="1">
                <a:spcBef>
                  <a:spcPts val="325"/>
                </a:spcBef>
                <a:spcAft>
                  <a:spcPts val="325"/>
                </a:spcAft>
                <a:buFont typeface="Arial" charset="0"/>
                <a:buNone/>
                <a:defRPr sz="1733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476424" indent="0" algn="l" defTabSz="99057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733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09" indent="0" algn="l" defTabSz="99057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733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66993" indent="0" algn="l" defTabSz="99057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733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2278" indent="0" algn="l" defTabSz="99057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733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325"/>
                </a:spcBef>
                <a:spcAft>
                  <a:spcPts val="325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pt-BR" sz="1400" b="1" i="0" u="none" strike="noStrike" kern="1200" cap="none" spc="10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RESPONSABILIDADES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C202F8E-BE9C-33B8-61B2-DF38C552431E}"/>
                </a:ext>
              </a:extLst>
            </p:cNvPr>
            <p:cNvGrpSpPr/>
            <p:nvPr/>
          </p:nvGrpSpPr>
          <p:grpSpPr>
            <a:xfrm>
              <a:off x="1442851" y="6146425"/>
              <a:ext cx="778642" cy="241996"/>
              <a:chOff x="5221153" y="1839715"/>
              <a:chExt cx="778642" cy="241996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5E2F26E-66D4-AAE1-412F-B2D39F73401E}"/>
                  </a:ext>
                </a:extLst>
              </p:cNvPr>
              <p:cNvSpPr/>
              <p:nvPr/>
            </p:nvSpPr>
            <p:spPr bwMode="gray">
              <a:xfrm>
                <a:off x="5221153" y="1885257"/>
                <a:ext cx="150954" cy="150954"/>
              </a:xfrm>
              <a:prstGeom prst="ellipse">
                <a:avLst/>
              </a:prstGeom>
              <a:solidFill>
                <a:srgbClr val="E82717"/>
              </a:solidFill>
              <a:ln w="6350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72017" tIns="72017" rIns="72017" bIns="72017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pitchFamily="34" charset="0"/>
                </a:endParaRPr>
              </a:p>
            </p:txBody>
          </p:sp>
          <p:sp>
            <p:nvSpPr>
              <p:cNvPr id="59" name="Arc 58">
                <a:extLst>
                  <a:ext uri="{FF2B5EF4-FFF2-40B4-BE49-F238E27FC236}">
                    <a16:creationId xmlns:a16="http://schemas.microsoft.com/office/drawing/2014/main" id="{24606604-240C-3B94-885B-5CFD99FE7DF5}"/>
                  </a:ext>
                </a:extLst>
              </p:cNvPr>
              <p:cNvSpPr/>
              <p:nvPr/>
            </p:nvSpPr>
            <p:spPr>
              <a:xfrm>
                <a:off x="5221153" y="1885257"/>
                <a:ext cx="150954" cy="15095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rgbClr val="000000">
                  <a:lumMod val="65000"/>
                  <a:lumOff val="3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  <a:headEnd type="none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74E0067-CAC6-4C5E-6E38-B4933F214BD4}"/>
                  </a:ext>
                </a:extLst>
              </p:cNvPr>
              <p:cNvSpPr txBox="1"/>
              <p:nvPr/>
            </p:nvSpPr>
            <p:spPr>
              <a:xfrm>
                <a:off x="5406099" y="1839715"/>
                <a:ext cx="593696" cy="241996"/>
              </a:xfrm>
              <a:prstGeom prst="rect">
                <a:avLst/>
              </a:prstGeom>
              <a:noFill/>
            </p:spPr>
            <p:txBody>
              <a:bodyPr wrap="none" lIns="36008" tIns="36008" rIns="36008" bIns="36008" rtlCol="0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Arial" charset="0"/>
                  </a:rPr>
                  <a:t>Integral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B019F65-EA7F-CC2B-1CCB-AEEAC8BDC4A0}"/>
                </a:ext>
              </a:extLst>
            </p:cNvPr>
            <p:cNvGrpSpPr/>
            <p:nvPr/>
          </p:nvGrpSpPr>
          <p:grpSpPr>
            <a:xfrm>
              <a:off x="2525072" y="6134660"/>
              <a:ext cx="695871" cy="241996"/>
              <a:chOff x="6213687" y="1839715"/>
              <a:chExt cx="695871" cy="241996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658234B4-5DD2-D854-E48C-ECC0E6CE7E16}"/>
                  </a:ext>
                </a:extLst>
              </p:cNvPr>
              <p:cNvSpPr/>
              <p:nvPr/>
            </p:nvSpPr>
            <p:spPr bwMode="gray">
              <a:xfrm>
                <a:off x="6213687" y="1885257"/>
                <a:ext cx="150954" cy="150954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72017" tIns="72017" rIns="72017" bIns="72017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pitchFamily="34" charset="0"/>
                </a:endParaRPr>
              </a:p>
            </p:txBody>
          </p:sp>
          <p:sp>
            <p:nvSpPr>
              <p:cNvPr id="56" name="Arc 55">
                <a:extLst>
                  <a:ext uri="{FF2B5EF4-FFF2-40B4-BE49-F238E27FC236}">
                    <a16:creationId xmlns:a16="http://schemas.microsoft.com/office/drawing/2014/main" id="{5092D3D0-71C6-7774-9868-2349CB9DB854}"/>
                  </a:ext>
                </a:extLst>
              </p:cNvPr>
              <p:cNvSpPr/>
              <p:nvPr/>
            </p:nvSpPr>
            <p:spPr>
              <a:xfrm>
                <a:off x="6213689" y="1885257"/>
                <a:ext cx="150954" cy="15095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000000">
                  <a:lumMod val="65000"/>
                  <a:lumOff val="3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  <a:headEnd type="none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4098117-521D-59C3-B958-73BEBA1D7E90}"/>
                  </a:ext>
                </a:extLst>
              </p:cNvPr>
              <p:cNvSpPr txBox="1"/>
              <p:nvPr/>
            </p:nvSpPr>
            <p:spPr>
              <a:xfrm>
                <a:off x="6384792" y="1839715"/>
                <a:ext cx="524766" cy="241996"/>
              </a:xfrm>
              <a:prstGeom prst="rect">
                <a:avLst/>
              </a:prstGeom>
              <a:noFill/>
            </p:spPr>
            <p:txBody>
              <a:bodyPr wrap="none" lIns="36008" tIns="36008" rIns="36008" bIns="36008" rtlCol="0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Arial" charset="0"/>
                  </a:rPr>
                  <a:t>Parcial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B9F04C1-D1A2-8355-591A-AF4C988516E1}"/>
                </a:ext>
              </a:extLst>
            </p:cNvPr>
            <p:cNvSpPr txBox="1"/>
            <p:nvPr/>
          </p:nvSpPr>
          <p:spPr>
            <a:xfrm>
              <a:off x="3656587" y="6134660"/>
              <a:ext cx="1044139" cy="241996"/>
            </a:xfrm>
            <a:prstGeom prst="rect">
              <a:avLst/>
            </a:prstGeom>
            <a:noFill/>
          </p:spPr>
          <p:txBody>
            <a:bodyPr wrap="none" lIns="36008" tIns="36008" rIns="36008" bIns="36008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sz="1100" kern="0" noProof="0" dirty="0">
                  <a:solidFill>
                    <a:srgbClr val="000000"/>
                  </a:solidFill>
                  <a:cs typeface="Arial" charset="0"/>
                </a:rPr>
                <a:t>Sob Demanda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A71E306-3519-34C7-11A9-E04C82595794}"/>
                </a:ext>
              </a:extLst>
            </p:cNvPr>
            <p:cNvSpPr txBox="1"/>
            <p:nvPr/>
          </p:nvSpPr>
          <p:spPr>
            <a:xfrm>
              <a:off x="478504" y="6146425"/>
              <a:ext cx="864603" cy="241996"/>
            </a:xfrm>
            <a:prstGeom prst="rect">
              <a:avLst/>
            </a:prstGeom>
            <a:noFill/>
          </p:spPr>
          <p:txBody>
            <a:bodyPr wrap="none" lIns="36008" tIns="36008" rIns="36008" bIns="36008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sz="1100" b="1" i="1" kern="0" noProof="0" dirty="0">
                  <a:solidFill>
                    <a:srgbClr val="000000"/>
                  </a:solidFill>
                  <a:cs typeface="Arial" charset="0"/>
                </a:rPr>
                <a:t>Dedicação:</a:t>
              </a:r>
            </a:p>
          </p:txBody>
        </p:sp>
        <p:sp>
          <p:nvSpPr>
            <p:cNvPr id="26" name="Line 14">
              <a:extLst>
                <a:ext uri="{FF2B5EF4-FFF2-40B4-BE49-F238E27FC236}">
                  <a16:creationId xmlns:a16="http://schemas.microsoft.com/office/drawing/2014/main" id="{3360CB32-7EC8-F9AB-99C9-0707395AA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1228" y="4078276"/>
              <a:ext cx="6185520" cy="0"/>
            </a:xfrm>
            <a:prstGeom prst="line">
              <a:avLst/>
            </a:prstGeom>
            <a:noFill/>
            <a:ln w="6350">
              <a:solidFill>
                <a:srgbClr val="FFFFFF">
                  <a:lumMod val="50000"/>
                </a:srgbClr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Rectangle 16">
              <a:extLst>
                <a:ext uri="{FF2B5EF4-FFF2-40B4-BE49-F238E27FC236}">
                  <a16:creationId xmlns:a16="http://schemas.microsoft.com/office/drawing/2014/main" id="{BB0D1FD1-D039-39A4-4997-D5906B7FCD30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832178" y="4193421"/>
              <a:ext cx="3024000" cy="16158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144000" indent="-144000" fontAlgn="base">
                <a:spcBef>
                  <a:spcPct val="0"/>
                </a:spcBef>
                <a:spcAft>
                  <a:spcPts val="30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r>
                <a:rPr lang="pt-BR" sz="1050" noProof="0" dirty="0">
                  <a:solidFill>
                    <a:srgbClr val="000000"/>
                  </a:solidFill>
                  <a:cs typeface="Arial" panose="020B0604020202020204" pitchFamily="34" charset="0"/>
                </a:rPr>
                <a:t>Liderança técnica no dia-a-dia do projeto</a:t>
              </a:r>
            </a:p>
          </p:txBody>
        </p:sp>
        <p:sp>
          <p:nvSpPr>
            <p:cNvPr id="28" name="Rectangle 16">
              <a:extLst>
                <a:ext uri="{FF2B5EF4-FFF2-40B4-BE49-F238E27FC236}">
                  <a16:creationId xmlns:a16="http://schemas.microsoft.com/office/drawing/2014/main" id="{A97DF3D4-8AA4-F1E1-FBCC-8240A6F48905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720359" y="4193421"/>
              <a:ext cx="3024000" cy="52322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144000" indent="-144000" fontAlgn="base">
                <a:spcBef>
                  <a:spcPct val="0"/>
                </a:spcBef>
                <a:spcAft>
                  <a:spcPts val="30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r>
                <a:rPr lang="pt-BR" sz="1050" noProof="0" dirty="0">
                  <a:solidFill>
                    <a:srgbClr val="000000"/>
                  </a:solidFill>
                  <a:cs typeface="Arial" panose="020B0604020202020204" pitchFamily="34" charset="0"/>
                </a:rPr>
                <a:t>Liderança técnica do projeto</a:t>
              </a:r>
            </a:p>
            <a:p>
              <a:pPr marL="144000" indent="-144000" fontAlgn="base">
                <a:spcBef>
                  <a:spcPct val="0"/>
                </a:spcBef>
                <a:spcAft>
                  <a:spcPts val="30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</a:pPr>
              <a:r>
                <a:rPr lang="pt-BR" sz="1050" noProof="0" dirty="0">
                  <a:solidFill>
                    <a:srgbClr val="000000"/>
                  </a:solidFill>
                  <a:cs typeface="Arial" panose="020B0604020202020204" pitchFamily="34" charset="0"/>
                </a:rPr>
                <a:t>Facilitar o contato com outras áreas de Tecnologia e de Negócio</a:t>
              </a:r>
            </a:p>
          </p:txBody>
        </p:sp>
        <p:sp>
          <p:nvSpPr>
            <p:cNvPr id="29" name="Rectangle 5">
              <a:extLst>
                <a:ext uri="{FF2B5EF4-FFF2-40B4-BE49-F238E27FC236}">
                  <a16:creationId xmlns:a16="http://schemas.microsoft.com/office/drawing/2014/main" id="{4520C2E6-C559-4151-C969-452CDBC694D6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58505" y="4078276"/>
              <a:ext cx="1305088" cy="585652"/>
            </a:xfrm>
            <a:prstGeom prst="rect">
              <a:avLst/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sz="1200" b="1" kern="0" noProof="0" dirty="0">
                  <a:solidFill>
                    <a:srgbClr val="FFFFFF"/>
                  </a:solidFill>
                  <a:cs typeface="Arial" panose="020B0604020202020204" pitchFamily="34" charset="0"/>
                </a:rPr>
                <a:t>Gestão do Projeto</a:t>
              </a:r>
            </a:p>
          </p:txBody>
        </p: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91C72FB1-CC0A-B819-A122-0D21CE7B8701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51450" y="5035320"/>
              <a:ext cx="2129083" cy="799013"/>
            </a:xfrm>
            <a:prstGeom prst="rect">
              <a:avLst/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sz="1200" b="1" kern="0" noProof="0" dirty="0">
                  <a:solidFill>
                    <a:srgbClr val="FFFFFF"/>
                  </a:solidFill>
                  <a:cs typeface="Arial" panose="020B0604020202020204" pitchFamily="34" charset="0"/>
                </a:rPr>
                <a:t>Equipe de projeto</a:t>
              </a:r>
              <a:endParaRPr lang="pt-BR" sz="1200" kern="0" noProof="0" dirty="0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34C10F1-F0C6-C0B8-6E30-7AAFA71F3D8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505633" y="6180202"/>
              <a:ext cx="150954" cy="150954"/>
              <a:chOff x="5195834" y="6490878"/>
              <a:chExt cx="150954" cy="150954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AC472D29-7517-AC7C-E821-52CB3E4BCB85}"/>
                  </a:ext>
                </a:extLst>
              </p:cNvPr>
              <p:cNvSpPr/>
              <p:nvPr/>
            </p:nvSpPr>
            <p:spPr>
              <a:xfrm>
                <a:off x="5195834" y="6490878"/>
                <a:ext cx="150954" cy="150954"/>
              </a:xfrm>
              <a:prstGeom prst="ellips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54" name="Arc 53">
                <a:extLst>
                  <a:ext uri="{FF2B5EF4-FFF2-40B4-BE49-F238E27FC236}">
                    <a16:creationId xmlns:a16="http://schemas.microsoft.com/office/drawing/2014/main" id="{B9764BD4-4D24-32DE-DF0B-E4035273FFFC}"/>
                  </a:ext>
                </a:extLst>
              </p:cNvPr>
              <p:cNvSpPr/>
              <p:nvPr/>
            </p:nvSpPr>
            <p:spPr>
              <a:xfrm>
                <a:off x="5195834" y="6490878"/>
                <a:ext cx="150954" cy="150954"/>
              </a:xfrm>
              <a:prstGeom prst="arc">
                <a:avLst/>
              </a:prstGeom>
              <a:solidFill>
                <a:srgbClr val="595959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83DAE07-060B-60D6-8B07-E181E72EA51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311595" y="3441537"/>
              <a:ext cx="150954" cy="150954"/>
              <a:chOff x="5195834" y="6490878"/>
              <a:chExt cx="150954" cy="150954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693F9C78-BFC8-FBF5-DE93-DC1106B86F11}"/>
                  </a:ext>
                </a:extLst>
              </p:cNvPr>
              <p:cNvSpPr/>
              <p:nvPr/>
            </p:nvSpPr>
            <p:spPr>
              <a:xfrm>
                <a:off x="5195834" y="6490878"/>
                <a:ext cx="150954" cy="150954"/>
              </a:xfrm>
              <a:prstGeom prst="ellips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5D7CFE0E-A20C-0A78-6361-8D8A8F8DC85A}"/>
                  </a:ext>
                </a:extLst>
              </p:cNvPr>
              <p:cNvSpPr/>
              <p:nvPr/>
            </p:nvSpPr>
            <p:spPr>
              <a:xfrm>
                <a:off x="5195834" y="6490878"/>
                <a:ext cx="150954" cy="150954"/>
              </a:xfrm>
              <a:prstGeom prst="arc">
                <a:avLst/>
              </a:prstGeom>
              <a:solidFill>
                <a:srgbClr val="595959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845F846-305B-7198-261F-A5BEF4E1B4E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31194" y="2440557"/>
              <a:ext cx="150954" cy="150954"/>
              <a:chOff x="5195834" y="6490878"/>
              <a:chExt cx="150954" cy="150954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EA95530-82B7-D84E-66AE-46961C0FE15C}"/>
                  </a:ext>
                </a:extLst>
              </p:cNvPr>
              <p:cNvSpPr/>
              <p:nvPr/>
            </p:nvSpPr>
            <p:spPr>
              <a:xfrm>
                <a:off x="5195834" y="6490878"/>
                <a:ext cx="150954" cy="150954"/>
              </a:xfrm>
              <a:prstGeom prst="ellips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C45074D3-A74C-979E-C728-9F13F5738714}"/>
                  </a:ext>
                </a:extLst>
              </p:cNvPr>
              <p:cNvSpPr/>
              <p:nvPr/>
            </p:nvSpPr>
            <p:spPr>
              <a:xfrm>
                <a:off x="5195834" y="6490878"/>
                <a:ext cx="150954" cy="150954"/>
              </a:xfrm>
              <a:prstGeom prst="arc">
                <a:avLst/>
              </a:prstGeom>
              <a:solidFill>
                <a:srgbClr val="595959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E228E0C-881E-A8CF-3DA9-7BAC5341AC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31194" y="2195184"/>
              <a:ext cx="150954" cy="150954"/>
              <a:chOff x="5195834" y="6490878"/>
              <a:chExt cx="150954" cy="15095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F7BD9FDB-A734-CD2E-4941-8CA05BB86559}"/>
                  </a:ext>
                </a:extLst>
              </p:cNvPr>
              <p:cNvSpPr/>
              <p:nvPr/>
            </p:nvSpPr>
            <p:spPr>
              <a:xfrm>
                <a:off x="5195834" y="6490878"/>
                <a:ext cx="150954" cy="150954"/>
              </a:xfrm>
              <a:prstGeom prst="ellips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8" name="Arc 47">
                <a:extLst>
                  <a:ext uri="{FF2B5EF4-FFF2-40B4-BE49-F238E27FC236}">
                    <a16:creationId xmlns:a16="http://schemas.microsoft.com/office/drawing/2014/main" id="{8FD6567B-C9BB-6702-FD0C-7657DB0BA11A}"/>
                  </a:ext>
                </a:extLst>
              </p:cNvPr>
              <p:cNvSpPr/>
              <p:nvPr/>
            </p:nvSpPr>
            <p:spPr>
              <a:xfrm>
                <a:off x="5195834" y="6490878"/>
                <a:ext cx="150954" cy="150954"/>
              </a:xfrm>
              <a:prstGeom prst="arc">
                <a:avLst/>
              </a:prstGeom>
              <a:solidFill>
                <a:srgbClr val="595959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84648E4-C231-CAFA-845C-FF96F7CDCF6D}"/>
                </a:ext>
              </a:extLst>
            </p:cNvPr>
            <p:cNvGrpSpPr/>
            <p:nvPr/>
          </p:nvGrpSpPr>
          <p:grpSpPr>
            <a:xfrm>
              <a:off x="2220956" y="4198611"/>
              <a:ext cx="150954" cy="150954"/>
              <a:chOff x="2220956" y="4235407"/>
              <a:chExt cx="150954" cy="150954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B962B5C-F6CF-536F-8F45-142392BBB0FB}"/>
                  </a:ext>
                </a:extLst>
              </p:cNvPr>
              <p:cNvSpPr/>
              <p:nvPr/>
            </p:nvSpPr>
            <p:spPr bwMode="gray">
              <a:xfrm>
                <a:off x="2220956" y="4235407"/>
                <a:ext cx="150954" cy="150954"/>
              </a:xfrm>
              <a:prstGeom prst="ellipse">
                <a:avLst/>
              </a:prstGeom>
              <a:solidFill>
                <a:srgbClr val="FFFFFF"/>
              </a:solidFill>
              <a:ln w="6350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72017" tIns="72017" rIns="72017" bIns="72017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pitchFamily="34" charset="0"/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41F27ACD-16C7-9EBE-6256-E6562FB51CFE}"/>
                  </a:ext>
                </a:extLst>
              </p:cNvPr>
              <p:cNvSpPr/>
              <p:nvPr/>
            </p:nvSpPr>
            <p:spPr>
              <a:xfrm>
                <a:off x="2220956" y="4235407"/>
                <a:ext cx="150954" cy="15095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000000">
                  <a:lumMod val="65000"/>
                  <a:lumOff val="3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  <a:headEnd type="none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36" name="Rectangle 21">
              <a:extLst>
                <a:ext uri="{FF2B5EF4-FFF2-40B4-BE49-F238E27FC236}">
                  <a16:creationId xmlns:a16="http://schemas.microsoft.com/office/drawing/2014/main" id="{A9F7E9D8-8504-A301-8A1F-14A732B1E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0121" y="4990979"/>
              <a:ext cx="2149001" cy="104644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</a:pPr>
              <a:r>
                <a:rPr lang="pt-BR" sz="1200" b="1" noProof="0" dirty="0">
                  <a:cs typeface="Arial" charset="0"/>
                </a:rPr>
                <a:t>Equipe XP</a:t>
              </a:r>
            </a:p>
            <a:p>
              <a:pPr marL="216000" indent="-176248" fontAlgn="base"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100" noProof="0" dirty="0">
                  <a:solidFill>
                    <a:srgbClr val="000000"/>
                  </a:solidFill>
                  <a:cs typeface="Arial" charset="0"/>
                </a:rPr>
                <a:t>Sob demanda</a:t>
              </a:r>
              <a:endParaRPr lang="pt-BR" sz="1100" b="1" noProof="0" dirty="0">
                <a:solidFill>
                  <a:srgbClr val="000000"/>
                </a:solidFill>
                <a:cs typeface="Arial" charset="0"/>
              </a:endParaRPr>
            </a:p>
            <a:p>
              <a:pPr fontAlgn="base">
                <a:spcBef>
                  <a:spcPct val="0"/>
                </a:spcBef>
              </a:pPr>
              <a:r>
                <a:rPr lang="pt-BR" sz="1200" b="1" noProof="0" dirty="0">
                  <a:cs typeface="Arial" charset="0"/>
                </a:rPr>
                <a:t>Equipe Accenture</a:t>
              </a:r>
            </a:p>
            <a:p>
              <a:pPr marL="216000" indent="-176248" fontAlgn="base"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pt-BR" sz="1100" noProof="0" dirty="0">
                  <a:solidFill>
                    <a:srgbClr val="000000"/>
                  </a:solidFill>
                  <a:cs typeface="Arial" charset="0"/>
                </a:rPr>
                <a:t>Consultores Accenture</a:t>
              </a:r>
              <a:endParaRPr lang="pt-BR" sz="1200" b="1" noProof="0" dirty="0">
                <a:solidFill>
                  <a:srgbClr val="000000"/>
                </a:solidFill>
                <a:cs typeface="Arial" charset="0"/>
              </a:endParaRPr>
            </a:p>
            <a:p>
              <a:pPr marL="216000" indent="-176248" fontAlgn="base"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pt-BR" sz="1200" b="1" noProof="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61921387-FAD0-C8D2-0DA0-096B7AE23727}"/>
                </a:ext>
              </a:extLst>
            </p:cNvPr>
            <p:cNvSpPr/>
            <p:nvPr/>
          </p:nvSpPr>
          <p:spPr>
            <a:xfrm>
              <a:off x="2722779" y="5627575"/>
              <a:ext cx="150954" cy="150954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0000">
                <a:lumMod val="65000"/>
                <a:lumOff val="35000"/>
              </a:srgbClr>
            </a:solidFill>
            <a:ln w="6350" cap="flat" cmpd="sng" algn="ctr">
              <a:solidFill>
                <a:srgbClr val="000000"/>
              </a:solidFill>
              <a:prstDash val="solid"/>
              <a:headEnd type="none"/>
              <a:tailEnd type="non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084E0BF-9A60-5B85-B1E3-D689010A8CE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22779" y="5204506"/>
              <a:ext cx="150954" cy="150954"/>
              <a:chOff x="5195834" y="6490878"/>
              <a:chExt cx="150954" cy="150954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FDFE0D0D-A43D-CBD1-5258-7C1D36252811}"/>
                  </a:ext>
                </a:extLst>
              </p:cNvPr>
              <p:cNvSpPr/>
              <p:nvPr/>
            </p:nvSpPr>
            <p:spPr>
              <a:xfrm>
                <a:off x="5195834" y="6490878"/>
                <a:ext cx="150954" cy="150954"/>
              </a:xfrm>
              <a:prstGeom prst="ellipse">
                <a:avLst/>
              </a:prstGeom>
              <a:solidFill>
                <a:srgbClr val="FFFFFF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44" name="Arc 43">
                <a:extLst>
                  <a:ext uri="{FF2B5EF4-FFF2-40B4-BE49-F238E27FC236}">
                    <a16:creationId xmlns:a16="http://schemas.microsoft.com/office/drawing/2014/main" id="{3971F810-BFFB-6A2F-0701-767B98BA967A}"/>
                  </a:ext>
                </a:extLst>
              </p:cNvPr>
              <p:cNvSpPr/>
              <p:nvPr/>
            </p:nvSpPr>
            <p:spPr>
              <a:xfrm>
                <a:off x="5195834" y="6490878"/>
                <a:ext cx="150954" cy="150954"/>
              </a:xfrm>
              <a:prstGeom prst="arc">
                <a:avLst/>
              </a:prstGeom>
              <a:solidFill>
                <a:srgbClr val="595959"/>
              </a:solidFill>
              <a:ln w="6350" cap="flat" cmpd="sng" algn="ctr">
                <a:solidFill>
                  <a:srgbClr val="000000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40EC9A77-B0D4-8664-196D-BB7B6004B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4904" y="1703895"/>
              <a:ext cx="497672" cy="497672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E2E4B99-4E75-9433-776B-C50DFB4B471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17908" y="4634475"/>
              <a:ext cx="150954" cy="150954"/>
              <a:chOff x="2217908" y="4539225"/>
              <a:chExt cx="150954" cy="150954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05127D5A-C6CE-FE25-248B-9E8327D3B3E4}"/>
                  </a:ext>
                </a:extLst>
              </p:cNvPr>
              <p:cNvSpPr/>
              <p:nvPr/>
            </p:nvSpPr>
            <p:spPr>
              <a:xfrm>
                <a:off x="2217908" y="4539225"/>
                <a:ext cx="150954" cy="150954"/>
              </a:xfrm>
              <a:prstGeom prst="ellipse">
                <a:avLst/>
              </a:prstGeom>
              <a:solidFill>
                <a:schemeClr val="bg1"/>
              </a:solidFill>
              <a:ln w="6350" cmpd="sng">
                <a:solidFill>
                  <a:schemeClr val="tx1"/>
                </a:solidFill>
                <a:prstDash val="soli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Arc 41">
                <a:extLst>
                  <a:ext uri="{FF2B5EF4-FFF2-40B4-BE49-F238E27FC236}">
                    <a16:creationId xmlns:a16="http://schemas.microsoft.com/office/drawing/2014/main" id="{D544CAA6-34A0-2D66-A2B7-8747CABB5F2B}"/>
                  </a:ext>
                </a:extLst>
              </p:cNvPr>
              <p:cNvSpPr/>
              <p:nvPr/>
            </p:nvSpPr>
            <p:spPr>
              <a:xfrm>
                <a:off x="2217908" y="4539225"/>
                <a:ext cx="150954" cy="15095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tx1"/>
              </a:solidFill>
              <a:ln w="63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50837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rSkSKeWNEa7zSnB14abN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EEVadl17EyyoFteVeJ.t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rSkSKeWNEa7zSnB14ab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S3xxiWgLUK.G61f.rbDB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S3xxiWgLUK.G61f.rbDB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S3xxiWgLUK.G61f.rbDB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S3xxiWgLUK.G61f.rbDB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S3xxiWgLUK.G61f.rbDB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S3xxiWgLUK.G61f.rbDB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S3xxiWgLUK.G61f.rbDB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rSkSKeWNEa7zSnB14abN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rSkSKeWNEa7zSnB14abN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Graphik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2026-08-18T11:09:41Z</dcterms:created>
  <dcterms:modified xsi:type="dcterms:W3CDTF">2026-08-18T11:09:41Z</dcterms:modified>
</cp:coreProperties>
</file>