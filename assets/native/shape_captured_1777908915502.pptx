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DE-5842-0E45-6565-64062CEF8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FC89D-C80A-92B8-CC84-77CC66D98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BF8F-A645-FF16-7A95-120B5C90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A833C-A1A2-0178-FE8A-AB5C7F92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5E96-729A-B48E-DD9E-24E0382C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738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7BD3-3237-225D-14FD-797467C4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7A58B-4010-12FC-8DC4-5CE6C992D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830E0-EBC4-1FB3-F60E-E59ABCE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61758-2CE8-FAC5-71A6-173F2B82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DA26D-B377-1A0B-996A-18661D21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9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5C07-AC84-3188-96D1-AB2AB3D1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DEDBC-B951-E032-5539-61F03CDCB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0E984-ADEE-953C-9464-BFC918F8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398E6-E297-70FB-64AF-292CE955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50B23-A960-608B-3D24-EF7F5B6C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70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8A65-7282-38D7-24A6-A61040A8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2DA5-FB7B-D097-1CCE-0A9E3A286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D9F4C-9A12-BD11-DD33-466FD5613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5DA70-E10D-6770-6E64-9619CBEB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3AD01-604D-AA5D-CC11-BE83706C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0E1F5-3B9E-0DDF-B29F-342675C0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81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BAB7-9B31-A814-16DA-3EA0315D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2981B-7A27-2E5F-91E8-79719999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5842C-1886-A2AD-3C1F-66B60D0FC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06F36-E2B0-5A05-A24E-CDFA0CDFD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0A078-0E68-AC7A-988D-401AA5BE4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7C957C-92E3-19EE-3388-8C453528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F9BBC9-E763-A6F9-1E09-B8C3FABC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191DB-D65D-9D19-E173-3104B955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64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1DC8-A90D-347D-2453-EE8BFD96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6C64F-B02A-135F-D317-72C30B0C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317CF-5DC8-8525-6737-C1C93A72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370F4-B635-EDEE-A6A4-F9A3487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32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D168D-CD17-F0EA-6D95-658F986B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AC681-3915-282E-E151-A3E778A7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79EC1-A7D5-F382-E991-62C3445F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23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A274-EF5F-8636-49E7-CD192D57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E75AA-3B1E-F419-19EA-6F66608E0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CA7F7-AAE0-C5E2-C707-A4DA6863D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77B5A-5FB1-670E-5772-07B01DD5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FD65-ADF4-F2D9-9579-0B0958B3B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AD353-0B19-45F5-474C-A81B352D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84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6066-2CCC-5C67-E094-EB606603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C0DC2-0FFA-607F-00C1-AD604B378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CA6A0-9E88-7584-08A4-224119695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E549C-4246-3E4A-70F8-A2891BD9C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49CFB-E25C-CB0D-FD8D-EB2E8616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1B66C-4592-3199-873C-5A0CF6C1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23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CD73-950D-0EAE-3343-23A8123F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85082-2FA6-AA5D-35D7-AC23FBA0D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798FD-4D48-9616-3A87-0E0B9996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9EA2-0367-ADB8-40A2-09DAD24B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97D5-F2C6-B1F5-D357-37F8B619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47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7A3405-EAB5-4593-4D84-B13AEAEA9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18F33-FE9C-84A9-A5C8-444369211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48DC-ED9B-5CF1-FDC0-86151D87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AE75-F3CF-4D93-3BB5-0E5AE0AA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5774-C235-E9F1-78A7-DA9A2C19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61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D9C6C-0351-834C-6A81-E8CF228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BB8ED-3F1C-5D73-909B-122D5F9B0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BC8A1-E9CA-A9F3-BD1E-326D6B213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2578C-CB9D-4899-AA22-C4063EC870C5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6A5B9-C4D8-0286-F792-483C441CC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48E00-91FD-241F-84C2-B6A766414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7F9B1-3B8E-4091-B8FE-39CCD01F2DD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00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1C8B31-10C6-18A5-C676-7B18CE37C864}"/>
              </a:ext>
            </a:extLst>
          </p:cNvPr>
          <p:cNvGrpSpPr/>
          <p:nvPr/>
        </p:nvGrpSpPr>
        <p:grpSpPr>
          <a:xfrm>
            <a:off x="381000" y="432956"/>
            <a:ext cx="11430000" cy="6030675"/>
            <a:chOff x="381000" y="432956"/>
            <a:chExt cx="11430000" cy="60306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75236CF-5657-89C3-5DB0-8F20E288F02D}"/>
                </a:ext>
              </a:extLst>
            </p:cNvPr>
            <p:cNvSpPr txBox="1"/>
            <p:nvPr/>
          </p:nvSpPr>
          <p:spPr>
            <a:xfrm>
              <a:off x="381000" y="883631"/>
              <a:ext cx="11430000" cy="5580000"/>
            </a:xfrm>
            <a:prstGeom prst="rect">
              <a:avLst/>
            </a:prstGeom>
            <a:noFill/>
          </p:spPr>
          <p:txBody>
            <a:bodyPr wrap="square" lIns="0" tIns="0" rIns="0" bIns="0" numCol="2" spcCol="324000" rtlCol="0">
              <a:spAutoFit/>
            </a:bodyPr>
            <a:lstStyle/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Não fazem parte do escopo desta Proposta quaisquer considerações e/ou interpretações regulatórias,  legais, fiscais ou contábeis, cabendo ao Cliente validar as recomendações feitas pela Accenture com seus assessores em tais áreas. Este trabalho não constitui identificação de riscos, desenho, documentação e teste de controles relacionados ao Ato </a:t>
              </a:r>
              <a:r>
                <a:rPr lang="pt-BR" sz="1000" dirty="0" err="1">
                  <a:latin typeface="Graphik Light" panose="020B0403030202060203" pitchFamily="34" charset="0"/>
                  <a:cs typeface="Segoe UI Light" panose="020B0502040204020203" pitchFamily="34" charset="0"/>
                </a:rPr>
                <a:t>Sarbanes-Oxleyou</a:t>
              </a: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 qualquer outro ato regulatório nacional ou internacional. Assim, o Cliente deverá definir os parâmetros a serem observados pela Accenture na execução de suas atividades, não devendo tais parâmetros ser meros apontamentos de dispositivos legais e sim a interpretação do Cliente sobre o tema e as medidas que devem ser tomadas pela Accenture. Adicionalmente, não poderão ser imputadas à Accenture quaisquer multas e/ou penalidades aplicadas pelo órgão regulamentador ou terceiros.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Este trabalho não constitui identificação de riscos, desenho, documentação e teste de controles relacionados ao Ato </a:t>
              </a:r>
              <a:r>
                <a:rPr lang="pt-BR" sz="1000" dirty="0" err="1">
                  <a:latin typeface="Graphik Light" panose="020B0403030202060203" pitchFamily="34" charset="0"/>
                  <a:cs typeface="Segoe UI Light" panose="020B0502040204020203" pitchFamily="34" charset="0"/>
                </a:rPr>
                <a:t>Sarbanes</a:t>
              </a: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-Oxley ou qualquer outro ato regulatório nacional ou internacional. Assim, o Cliente deverá definir os parâmetros a serem observados pela Accenture na execução de suas atividades, não devendo tais parâmetros ser meros apontamentos de dispositivos legais e sim a interpretação do Cliente sobre o tema e as medidas que devem ser tomadas pela Accenture. Adicionalmente, não poderão ser imputadas à Accenture quaisquer multas e/ou penalidades aplicadas pelo órgão regulamentador ou terceiros.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Todas as informações prestadas pelo Cliente deverão ser corretas, completas e tempestivamente reveladas a Accenture para atendimento do cronograma dos serviços contratados.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A participação das áreas e especialistas do Cliente devem cumprir o indicado nesta proposta para garantir a execução das atividades no tempo previsto em cronograma.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A Accenture reserva o direito de determinar a composição de sua equipe engajada na prestação de serviços ao Cliente.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Os serviços prestados e/ou produtos finais desenvolvidos sob esta Proposta foram elaborados para uso exclusivo do Cliente, sendo que o Cliente não deverá reproduzi-los ou apresentá-los fora de sua organização.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A Accenture prestará seus serviços nos termos definidos e detalhados nesta Proposta, não se comprometendo, no entanto, que tais serviços resultarão em qualquer diminuição de custo, aumento de faturamento, receita ou lucro para o Cliente.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A menos que definido de outra forma nesta Proposta, as Partes somente poderão modificar o escopo dos serviços, entregáveis e outros itens especificados neste documento por meio de uma solicitação mútua e por escrito (“Solicitação de Mudança”).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Nenhuma das partes será responsável por circunstâncias além do seu controle que atrasem ou prejudiquem a prestação de serviços pela Accenture ao cliente.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A Accenture cumpre e continuará a cumprir suas obrigações como processadora de dados resultantes das leis de proteção e privacidade de dados eventualmente em vigor na medida em que tais obrigações sejam relevantes para esta Proposta. O Cliente também cumprirá suas obrigações como controlador de dados. Além disso, tanto a Accenture quanto o Cliente implantaram e deverão manter um programa de segurança de informações incluindo medidas administrativas, técnicas e físicas razoáveis concebidas para assegurar e proteger a confidencialidade, integridade e disponibilidade de todas as Informações Confidenciais quando em posse das Partes contra acesso não-autorizado, ilícito ou acidental, divulgação, transferência, destruição, perda ou alteração. Entretanto, o termo Informações Confidenciais não deverá incluir qualquer informação que identifique ou se relacione diretamente a pessoas físicas ("Dados Pessoais"). As Partes empregarão esforços comercialmente razoáveis para não divulgar qualquer Dado Pessoal para a outra Parte e para restringir o acesso da outra Parte a seus Dados Pessoais. Entretanto, se uma Parte tiver acesso a Dados Pessoais da outra Parte, a Parte recebedora deverá proteger tais Dados Pessoais usando um padrão razoável de cuidado. Caso a Accenture requeira acesso a Dados Pessoais do Cliente relacionados aos Serviços, tal acesso ser regulado na forma prevista no Anexo “Privacidade e Segurança de ados”, documento que passará a fazer parte integrante desta Proposta, o qual estabelecerá os protocolos e obrigações de cada uma das Partes a respeito do acesso, uso e proteção de tais Dados Pessoais e, quando necessário, implantar controles de segurança de dados adicionais e processos para a transmissão, intercâmbio, armazenagem, processamento ou outro uso dos Dados Pessoais conforme descrito em tais protocolos.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Todas as definições descritas nesta Proposta serão efetuadas de forma conjunta pelo Cliente e pela Accenture, cabendo ao Cliente a validação e aprovação formal das mesmas.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Não está no escopo da Accenture qualquer tipo de aquisição de produtos, software, hardware e respectivas licenças envolvidas na solução, sendo que todo e qualquer assunto referente a estes itens devem ser resolvidos diretamente entre o Cliente e os fornecedores escolhidos para o Projeto. O Cliente será responsável por obter as autorizações e/ou licenças necessárias para que a Accenture possa prestar os serviços e entregar os produtos finais constantes desta Proposta.</a:t>
              </a:r>
            </a:p>
            <a:p>
              <a:pPr algn="just">
                <a:lnSpc>
                  <a:spcPct val="90000"/>
                </a:lnSpc>
                <a:spcAft>
                  <a:spcPts val="900"/>
                </a:spcAft>
              </a:pPr>
              <a:r>
                <a:rPr lang="pt-BR" sz="1000" dirty="0">
                  <a:latin typeface="Graphik Light" panose="020B0403030202060203" pitchFamily="34" charset="0"/>
                  <a:cs typeface="Segoe UI Light" panose="020B0502040204020203" pitchFamily="34" charset="0"/>
                </a:rPr>
                <a:t>O Cliente será o único responsável pela implementação ou não de quaisquer recomendações feitas pela Accenture, sendo responsável pela utilização dada aos resultados dos serviços prestados e suas consequências. Estimativas e recomendações produzidas pela Accenture são feitas com base nas informações e fatos conhecidos atualmente.</a:t>
              </a:r>
            </a:p>
          </p:txBody>
        </p:sp>
        <p:sp>
          <p:nvSpPr>
            <p:cNvPr id="4" name="Text Placeholder 18">
              <a:extLst>
                <a:ext uri="{FF2B5EF4-FFF2-40B4-BE49-F238E27FC236}">
                  <a16:creationId xmlns:a16="http://schemas.microsoft.com/office/drawing/2014/main" id="{2EF372F1-5998-8F80-9C71-ED2B244562A3}"/>
                </a:ext>
              </a:extLst>
            </p:cNvPr>
            <p:cNvSpPr txBox="1">
              <a:spLocks/>
            </p:cNvSpPr>
            <p:nvPr/>
          </p:nvSpPr>
          <p:spPr>
            <a:xfrm>
              <a:off x="381000" y="432956"/>
              <a:ext cx="5760000" cy="315520"/>
            </a:xfrm>
            <a:prstGeom prst="rect">
              <a:avLst/>
            </a:prstGeom>
          </p:spPr>
          <p:txBody>
            <a:bodyPr wrap="square" lIns="0" tIns="0" rIns="0" bIns="0" anchor="t"/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Premissas Gerais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5749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 Light</vt:lpstr>
      <vt:lpstr>Graphik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2026-05-04T15:35:18Z</dcterms:created>
  <dcterms:modified xsi:type="dcterms:W3CDTF">2026-05-04T15:35:18Z</dcterms:modified>
</cp:coreProperties>
</file>