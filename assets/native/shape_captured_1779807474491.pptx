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ACBC8-DCDB-D5A5-4504-585FC6CA4F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BA6E84-6903-58FE-BB75-2F05B7EF6F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7DE08-D141-5A5A-080D-C0A555A10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E1948-F3B0-4F4C-94A9-769197DB1DAA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E4CF41-DB5F-6F04-6D7C-F8AAB04FA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2BBAB-593E-143C-45AC-44AD42208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59D55-031E-456B-A7F1-8B1E57F54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74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31FC3-27CF-A0B8-B434-23F9D15D4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CFC3D-E856-E24B-65D9-8165A5C79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0CCBC-7D51-6068-5934-0E3416CF2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E1948-F3B0-4F4C-94A9-769197DB1DAA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EF9AC-ABE5-26AD-8447-5A07BCCA3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94408-370B-DFFF-9F4C-66A8CFA25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59D55-031E-456B-A7F1-8B1E57F54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189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EBEB8-F93A-0779-C984-0281BE6F4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70C753-DC8A-7D9A-4C98-77D7F756B0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9EB601-A975-D9E9-F778-A5A4F470C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E1948-F3B0-4F4C-94A9-769197DB1DAA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A809B1-0AEA-8091-D214-564584F85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87B55-6BA2-3C50-8A50-2D4EB54BC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59D55-031E-456B-A7F1-8B1E57F54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702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F34B8-7E7F-2E62-3A82-53EBB362A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2CB3A-AD02-EE46-CD6F-216712D078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F45100-9EDD-78BD-EA81-640D43A2A0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3E92CC-EC11-CFDF-1779-D6A30625A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E1948-F3B0-4F4C-94A9-769197DB1DAA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4AABE7-67D1-8328-EC73-051AB4AF8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C2BE1D-DD78-99AE-DB69-0326B0C52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59D55-031E-456B-A7F1-8B1E57F54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119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87B93-C229-91B5-E648-62D371D78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B231F9-EF40-43AC-79A5-1CFAE1DE24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B8FB09-75F1-1F3E-247D-973143EC47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32E485-EB9D-FC91-F84C-33FB6D05C2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321096-5E02-C027-7D32-2EE554CB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898B2C-CF3B-16D6-E224-C5822A65D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E1948-F3B0-4F4C-94A9-769197DB1DAA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A3EF36-C11D-7077-D4EA-8C18177AC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1B43C0-A5D1-BF13-0BC4-AD7F6A882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59D55-031E-456B-A7F1-8B1E57F54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0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5BB1D-17A6-28DE-0853-119BA891D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18B76-4E4A-5A10-D7E9-F7ABA5E0E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E1948-F3B0-4F4C-94A9-769197DB1DAA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11CA33-00A8-AF0A-18DE-C4D5E7245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9CB1CE-2947-8217-076C-B6EEBE834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59D55-031E-456B-A7F1-8B1E57F54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892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6400FA-4B6D-234C-8356-923B68473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E1948-F3B0-4F4C-94A9-769197DB1DAA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8799F8-045A-E290-7EAB-DA136C867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B75326-70E5-B2AC-6646-0C3B0D153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59D55-031E-456B-A7F1-8B1E57F54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803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30DAE-CA7F-F8A6-5455-462200AC1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C3941-43DB-C007-C845-5008525E7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09D0A9-EA25-F0E1-C06C-A5E8A975E6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546C54-A28E-4009-BA8E-5891E8106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E1948-F3B0-4F4C-94A9-769197DB1DAA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CCBC61-CBB9-2358-3B68-679937AEA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078F2A-91BC-FFD3-BD04-E189BE443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59D55-031E-456B-A7F1-8B1E57F54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40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C9F5C-0700-022A-7464-338816A45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38BFA8-7134-1093-D580-CB5EB9E92C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F9CA45-E9D9-3144-EE90-9808194967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8439AC-F36B-6EE2-8796-426425DF4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E1948-F3B0-4F4C-94A9-769197DB1DAA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6A69C1-9B2E-89B3-0362-82853EF10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F1E9B2-5F6F-37FD-760C-B4A02716C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59D55-031E-456B-A7F1-8B1E57F54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724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5419C-B368-7EF2-0042-BBBA8675A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5A4F7F-7CA5-528B-2E2B-9B8E9907C8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04A5AC-E029-C8A8-43C6-AE70AB582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E1948-F3B0-4F4C-94A9-769197DB1DAA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1E7A90-2D61-89FF-9E0C-2D1C03D04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91217-1B2A-AB48-74BC-3FF614228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59D55-031E-456B-A7F1-8B1E57F54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031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6782D1-24ED-550E-3B02-C2A1F53C74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289748-22F8-AA4C-051E-E300179438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7E901-269D-949D-4585-881E7C03F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E1948-F3B0-4F4C-94A9-769197DB1DAA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A2BDE-9E3B-642B-0853-361002C43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6F6B8F-7E33-8D69-3C1D-06567F680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59D55-031E-456B-A7F1-8B1E57F54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441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3047CB-C7A9-BDF8-A49F-BED6E68DA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25EE02-3A8D-73B1-A818-B015235F58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DFC92C-7946-84EA-1B8F-06413A0AF4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2E1948-F3B0-4F4C-94A9-769197DB1DAA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AB06D-233F-0C54-E1DE-13F46AD470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4AB840-CB81-5503-C102-EABA7FF7F5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359D55-031E-456B-A7F1-8B1E57F54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611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701242D-61AD-FDD3-9D76-042759769752}"/>
              </a:ext>
            </a:extLst>
          </p:cNvPr>
          <p:cNvGrpSpPr/>
          <p:nvPr/>
        </p:nvGrpSpPr>
        <p:grpSpPr>
          <a:xfrm>
            <a:off x="380999" y="1488084"/>
            <a:ext cx="11430001" cy="4567131"/>
            <a:chOff x="380999" y="1488084"/>
            <a:chExt cx="11430001" cy="4567131"/>
          </a:xfrm>
        </p:grpSpPr>
        <p:sp>
          <p:nvSpPr>
            <p:cNvPr id="3" name="Arrow: Pentagon 2">
              <a:extLst>
                <a:ext uri="{FF2B5EF4-FFF2-40B4-BE49-F238E27FC236}">
                  <a16:creationId xmlns:a16="http://schemas.microsoft.com/office/drawing/2014/main" id="{B492142B-2865-18E9-4829-C645ADEF3409}"/>
                </a:ext>
              </a:extLst>
            </p:cNvPr>
            <p:cNvSpPr/>
            <p:nvPr/>
          </p:nvSpPr>
          <p:spPr>
            <a:xfrm>
              <a:off x="1854237" y="1759392"/>
              <a:ext cx="3960000" cy="504000"/>
            </a:xfrm>
            <a:prstGeom prst="homePlate">
              <a:avLst>
                <a:gd name="adj" fmla="val 8816"/>
              </a:avLst>
            </a:prstGeom>
            <a:solidFill>
              <a:schemeClr val="accent6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dirty="0">
                  <a:solidFill>
                    <a:schemeClr val="bg1"/>
                  </a:solidFill>
                </a:rPr>
                <a:t>Moment 1: </a:t>
              </a:r>
              <a:r>
                <a:rPr lang="en-US" sz="1200" dirty="0">
                  <a:solidFill>
                    <a:schemeClr val="bg1"/>
                  </a:solidFill>
                  <a:latin typeface="Graphik Medium" panose="020B0603030202060203" pitchFamily="34" charset="0"/>
                </a:rPr>
                <a:t>Design</a:t>
              </a:r>
            </a:p>
          </p:txBody>
        </p:sp>
        <p:sp>
          <p:nvSpPr>
            <p:cNvPr id="4" name="Arrow: Chevron 3">
              <a:extLst>
                <a:ext uri="{FF2B5EF4-FFF2-40B4-BE49-F238E27FC236}">
                  <a16:creationId xmlns:a16="http://schemas.microsoft.com/office/drawing/2014/main" id="{188FE0C7-E505-08E0-D7A7-96952378149C}"/>
                </a:ext>
              </a:extLst>
            </p:cNvPr>
            <p:cNvSpPr/>
            <p:nvPr/>
          </p:nvSpPr>
          <p:spPr>
            <a:xfrm>
              <a:off x="5824618" y="1759392"/>
              <a:ext cx="3960000" cy="504000"/>
            </a:xfrm>
            <a:prstGeom prst="chevron">
              <a:avLst>
                <a:gd name="adj" fmla="val 8816"/>
              </a:avLst>
            </a:prstGeom>
            <a:solidFill>
              <a:schemeClr val="accent6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>
                  <a:solidFill>
                    <a:schemeClr val="bg1"/>
                  </a:solidFill>
                </a:rPr>
                <a:t>Moment 2: </a:t>
              </a:r>
              <a:r>
                <a:rPr lang="en-US" sz="1200">
                  <a:solidFill>
                    <a:schemeClr val="bg1"/>
                  </a:solidFill>
                  <a:latin typeface="Graphik Medium" panose="020B0603030202060203" pitchFamily="34" charset="0"/>
                </a:rPr>
                <a:t>Develop &amp; Pilot</a:t>
              </a:r>
              <a:endParaRPr lang="en-US" sz="1200" dirty="0">
                <a:solidFill>
                  <a:schemeClr val="bg1"/>
                </a:solidFill>
                <a:latin typeface="Graphik Medium" panose="020B0603030202060203" pitchFamily="34" charset="0"/>
              </a:endParaRPr>
            </a:p>
          </p:txBody>
        </p:sp>
        <p:sp>
          <p:nvSpPr>
            <p:cNvPr id="5" name="Arrow: Chevron 4">
              <a:extLst>
                <a:ext uri="{FF2B5EF4-FFF2-40B4-BE49-F238E27FC236}">
                  <a16:creationId xmlns:a16="http://schemas.microsoft.com/office/drawing/2014/main" id="{DE931CFC-F162-19A6-E4D8-1843868EEF0B}"/>
                </a:ext>
              </a:extLst>
            </p:cNvPr>
            <p:cNvSpPr/>
            <p:nvPr/>
          </p:nvSpPr>
          <p:spPr>
            <a:xfrm>
              <a:off x="9795000" y="1759392"/>
              <a:ext cx="2016000" cy="504000"/>
            </a:xfrm>
            <a:prstGeom prst="chevron">
              <a:avLst>
                <a:gd name="adj" fmla="val 8816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dirty="0">
                  <a:solidFill>
                    <a:schemeClr val="bg1"/>
                  </a:solidFill>
                </a:rPr>
                <a:t>Moment 3: </a:t>
              </a:r>
              <a:r>
                <a:rPr lang="en-US" sz="1200" dirty="0">
                  <a:solidFill>
                    <a:schemeClr val="bg1"/>
                  </a:solidFill>
                  <a:latin typeface="Graphik Medium" panose="020B0603030202060203" pitchFamily="34" charset="0"/>
                </a:rPr>
                <a:t>Scale</a:t>
              </a: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D397D26-2DF1-7204-4982-9EEC7B523447}"/>
                </a:ext>
              </a:extLst>
            </p:cNvPr>
            <p:cNvCxnSpPr>
              <a:cxnSpLocks/>
            </p:cNvCxnSpPr>
            <p:nvPr/>
          </p:nvCxnSpPr>
          <p:spPr>
            <a:xfrm>
              <a:off x="1949448" y="1588750"/>
              <a:ext cx="7737758" cy="0"/>
            </a:xfrm>
            <a:prstGeom prst="line">
              <a:avLst/>
            </a:prstGeom>
            <a:ln>
              <a:solidFill>
                <a:schemeClr val="tx1"/>
              </a:solidFill>
              <a:headEnd type="diamond" w="med" len="med"/>
              <a:tail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2062929-2832-7D48-95E9-6E9FA2D44E14}"/>
                </a:ext>
              </a:extLst>
            </p:cNvPr>
            <p:cNvSpPr/>
            <p:nvPr/>
          </p:nvSpPr>
          <p:spPr>
            <a:xfrm>
              <a:off x="5278327" y="1488084"/>
              <a:ext cx="1080000" cy="201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  <a:latin typeface="Graphik Medium" panose="020B0603030202060203" pitchFamily="34" charset="0"/>
                </a:rPr>
                <a:t>20 weeks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8A08AF4-CA4A-58FD-121A-A4E5DE38CAC7}"/>
                </a:ext>
              </a:extLst>
            </p:cNvPr>
            <p:cNvSpPr/>
            <p:nvPr/>
          </p:nvSpPr>
          <p:spPr>
            <a:xfrm>
              <a:off x="380999" y="2396184"/>
              <a:ext cx="1368000" cy="1116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bg1">
                  <a:lumMod val="75000"/>
                </a:schemeClr>
              </a:solidFill>
              <a:prstDash val="solid"/>
            </a:ln>
            <a:effectLst/>
          </p:spPr>
          <p:txBody>
            <a:bodyPr lIns="108000" tIns="108000" rIns="108000" bIns="3600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Graphik" panose="020B0503030202060203" pitchFamily="34" charset="0"/>
                </a:rPr>
                <a:t>Operating Model</a:t>
              </a:r>
              <a:endParaRPr kumimoji="0" lang="en-US" sz="120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GT Sectra Fine Rg" panose="00000500000000000000" pitchFamily="2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421DB2C-7179-1142-1DEA-5FB0F2BDFFA2}"/>
                </a:ext>
              </a:extLst>
            </p:cNvPr>
            <p:cNvSpPr/>
            <p:nvPr/>
          </p:nvSpPr>
          <p:spPr>
            <a:xfrm>
              <a:off x="380999" y="3667700"/>
              <a:ext cx="1368000" cy="1116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 cap="flat" cmpd="sng" algn="ctr">
              <a:solidFill>
                <a:schemeClr val="bg1">
                  <a:lumMod val="75000"/>
                </a:schemeClr>
              </a:solidFill>
              <a:prstDash val="solid"/>
            </a:ln>
            <a:effectLst/>
          </p:spPr>
          <p:txBody>
            <a:bodyPr lIns="108000" tIns="108000" rIns="108000" bIns="3600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 panose="020B0503030202060203" pitchFamily="34" charset="0"/>
                  <a:ea typeface="+mn-ea"/>
                  <a:cs typeface="+mn-cs"/>
                </a:rPr>
                <a:t>Organization Design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GT Sectra Fine Rg" panose="00000500000000000000" pitchFamily="2" charset="0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567FE9E-175F-D76E-8211-CC80C45D3A88}"/>
                </a:ext>
              </a:extLst>
            </p:cNvPr>
            <p:cNvSpPr/>
            <p:nvPr/>
          </p:nvSpPr>
          <p:spPr>
            <a:xfrm>
              <a:off x="380999" y="4939215"/>
              <a:ext cx="1368000" cy="1116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 cap="flat" cmpd="sng" algn="ctr">
              <a:solidFill>
                <a:schemeClr val="bg1">
                  <a:lumMod val="75000"/>
                </a:schemeClr>
              </a:solidFill>
              <a:prstDash val="solid"/>
            </a:ln>
            <a:effectLst/>
          </p:spPr>
          <p:txBody>
            <a:bodyPr lIns="108000" tIns="108000" rIns="108000" bIns="3600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 panose="020B0503030202060203" pitchFamily="34" charset="0"/>
                  <a:ea typeface="+mn-ea"/>
                  <a:cs typeface="+mn-cs"/>
                </a:rPr>
                <a:t>Organization Development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GT Sectra Fine Rg" panose="00000500000000000000" pitchFamily="2" charset="0"/>
                <a:ea typeface="+mn-ea"/>
                <a:cs typeface="+mn-cs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641C64D-B50B-20E5-4F9F-3BFFDC501F66}"/>
                </a:ext>
              </a:extLst>
            </p:cNvPr>
            <p:cNvSpPr txBox="1"/>
            <p:nvPr/>
          </p:nvSpPr>
          <p:spPr>
            <a:xfrm>
              <a:off x="380999" y="1959366"/>
              <a:ext cx="914400" cy="370422"/>
            </a:xfrm>
            <a:prstGeom prst="rect">
              <a:avLst/>
            </a:prstGeom>
            <a:noFill/>
          </p:spPr>
          <p:txBody>
            <a:bodyPr wrap="square" lIns="0" tIns="0" rIns="0" bIns="46800" rtlCol="0">
              <a:spAutoFit/>
            </a:bodyPr>
            <a:lstStyle/>
            <a:p>
              <a:pPr algn="l"/>
              <a:r>
                <a:rPr lang="en-US" sz="1050" b="1" i="1" dirty="0"/>
                <a:t>Three main disciplines</a:t>
              </a:r>
            </a:p>
          </p:txBody>
        </p:sp>
        <p:sp>
          <p:nvSpPr>
            <p:cNvPr id="12" name="Arrow: Pentagon 11">
              <a:extLst>
                <a:ext uri="{FF2B5EF4-FFF2-40B4-BE49-F238E27FC236}">
                  <a16:creationId xmlns:a16="http://schemas.microsoft.com/office/drawing/2014/main" id="{4BCDE4D0-D7AA-B981-E717-599BAAA39444}"/>
                </a:ext>
              </a:extLst>
            </p:cNvPr>
            <p:cNvSpPr/>
            <p:nvPr/>
          </p:nvSpPr>
          <p:spPr>
            <a:xfrm>
              <a:off x="1854237" y="2396184"/>
              <a:ext cx="4014000" cy="1116000"/>
            </a:xfrm>
            <a:prstGeom prst="homePlate">
              <a:avLst>
                <a:gd name="adj" fmla="val 8816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90000"/>
                </a:lnSpc>
                <a:spcAft>
                  <a:spcPts val="1000"/>
                </a:spcAft>
              </a:pPr>
              <a:r>
                <a:rPr lang="en-US" sz="1000" dirty="0">
                  <a:solidFill>
                    <a:schemeClr val="tx1"/>
                  </a:solidFill>
                </a:rPr>
                <a:t>Assess </a:t>
              </a:r>
              <a:r>
                <a:rPr lang="en-US" sz="1000" b="1" dirty="0">
                  <a:solidFill>
                    <a:schemeClr val="tx1"/>
                  </a:solidFill>
                </a:rPr>
                <a:t>current state </a:t>
              </a:r>
              <a:r>
                <a:rPr lang="en-US" sz="1000" dirty="0">
                  <a:solidFill>
                    <a:schemeClr val="tx1"/>
                  </a:solidFill>
                </a:rPr>
                <a:t>with </a:t>
              </a:r>
              <a:r>
                <a:rPr lang="en-US" sz="1000" b="1" dirty="0">
                  <a:solidFill>
                    <a:schemeClr val="tx1"/>
                  </a:solidFill>
                </a:rPr>
                <a:t>AI First ambition lens </a:t>
              </a:r>
              <a:r>
                <a:rPr lang="en-US" sz="1000" dirty="0">
                  <a:solidFill>
                    <a:schemeClr val="tx1"/>
                  </a:solidFill>
                </a:rPr>
                <a:t>on Op Model</a:t>
              </a:r>
            </a:p>
            <a:p>
              <a:pPr>
                <a:lnSpc>
                  <a:spcPct val="90000"/>
                </a:lnSpc>
                <a:spcAft>
                  <a:spcPts val="1000"/>
                </a:spcAft>
              </a:pPr>
              <a:r>
                <a:rPr lang="en-US" sz="1000" dirty="0">
                  <a:solidFill>
                    <a:schemeClr val="tx1"/>
                  </a:solidFill>
                </a:rPr>
                <a:t>Redesign </a:t>
              </a:r>
              <a:r>
                <a:rPr lang="en-US" sz="1000" b="1" dirty="0">
                  <a:solidFill>
                    <a:schemeClr val="tx1"/>
                  </a:solidFill>
                </a:rPr>
                <a:t>value chains and mega-processes </a:t>
              </a:r>
              <a:r>
                <a:rPr lang="en-US" sz="1000" dirty="0">
                  <a:solidFill>
                    <a:schemeClr val="tx1"/>
                  </a:solidFill>
                </a:rPr>
                <a:t>around outputs — humans vs. agents</a:t>
              </a:r>
            </a:p>
            <a:p>
              <a:pPr>
                <a:lnSpc>
                  <a:spcPct val="90000"/>
                </a:lnSpc>
                <a:spcAft>
                  <a:spcPts val="1000"/>
                </a:spcAft>
              </a:pPr>
              <a:r>
                <a:rPr lang="en-US" sz="1000" dirty="0">
                  <a:solidFill>
                    <a:schemeClr val="tx1"/>
                  </a:solidFill>
                </a:rPr>
                <a:t>Define the </a:t>
              </a:r>
              <a:r>
                <a:rPr lang="en-US" sz="1000" b="1" dirty="0">
                  <a:solidFill>
                    <a:schemeClr val="tx1"/>
                  </a:solidFill>
                </a:rPr>
                <a:t>governance frame </a:t>
              </a:r>
              <a:r>
                <a:rPr lang="en-US" sz="1000" dirty="0">
                  <a:solidFill>
                    <a:schemeClr val="tx1"/>
                  </a:solidFill>
                </a:rPr>
                <a:t>— enterprise AI standards and BU decision rights</a:t>
              </a:r>
            </a:p>
          </p:txBody>
        </p:sp>
        <p:sp>
          <p:nvSpPr>
            <p:cNvPr id="13" name="Arrow: Chevron 12">
              <a:extLst>
                <a:ext uri="{FF2B5EF4-FFF2-40B4-BE49-F238E27FC236}">
                  <a16:creationId xmlns:a16="http://schemas.microsoft.com/office/drawing/2014/main" id="{6801236D-E398-C794-981A-8E5127A827CA}"/>
                </a:ext>
              </a:extLst>
            </p:cNvPr>
            <p:cNvSpPr/>
            <p:nvPr/>
          </p:nvSpPr>
          <p:spPr>
            <a:xfrm>
              <a:off x="5824619" y="2396184"/>
              <a:ext cx="4014000" cy="1116000"/>
            </a:xfrm>
            <a:prstGeom prst="chevron">
              <a:avLst>
                <a:gd name="adj" fmla="val 8816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90000"/>
                </a:lnSpc>
                <a:spcAft>
                  <a:spcPts val="1000"/>
                </a:spcAft>
              </a:pPr>
              <a:r>
                <a:rPr lang="en-US" sz="1000" dirty="0">
                  <a:solidFill>
                    <a:schemeClr val="tx1"/>
                  </a:solidFill>
                </a:rPr>
                <a:t>Refine the </a:t>
              </a:r>
              <a:r>
                <a:rPr lang="en-US" sz="1000" b="1" dirty="0">
                  <a:solidFill>
                    <a:schemeClr val="tx1"/>
                  </a:solidFill>
                </a:rPr>
                <a:t>operating model </a:t>
              </a:r>
              <a:r>
                <a:rPr lang="en-US" sz="1000" dirty="0">
                  <a:solidFill>
                    <a:schemeClr val="tx1"/>
                  </a:solidFill>
                </a:rPr>
                <a:t>with evidence from the pilots</a:t>
              </a:r>
            </a:p>
            <a:p>
              <a:pPr>
                <a:lnSpc>
                  <a:spcPct val="90000"/>
                </a:lnSpc>
                <a:spcAft>
                  <a:spcPts val="1000"/>
                </a:spcAft>
              </a:pPr>
              <a:r>
                <a:rPr lang="en-US" sz="1000" dirty="0">
                  <a:solidFill>
                    <a:schemeClr val="tx1"/>
                  </a:solidFill>
                </a:rPr>
                <a:t>Finalize the </a:t>
              </a:r>
              <a:r>
                <a:rPr lang="en-US" sz="1000" b="1" dirty="0">
                  <a:solidFill>
                    <a:schemeClr val="tx1"/>
                  </a:solidFill>
                </a:rPr>
                <a:t>enterprise + BU architecture </a:t>
              </a:r>
              <a:r>
                <a:rPr lang="en-US" sz="1000" dirty="0">
                  <a:solidFill>
                    <a:schemeClr val="tx1"/>
                  </a:solidFill>
                </a:rPr>
                <a:t>across markets</a:t>
              </a:r>
            </a:p>
            <a:p>
              <a:pPr>
                <a:lnSpc>
                  <a:spcPct val="90000"/>
                </a:lnSpc>
                <a:spcAft>
                  <a:spcPts val="1000"/>
                </a:spcAft>
              </a:pPr>
              <a:r>
                <a:rPr lang="en-US" sz="1000" dirty="0">
                  <a:solidFill>
                    <a:schemeClr val="tx1"/>
                  </a:solidFill>
                </a:rPr>
                <a:t>Design a </a:t>
              </a:r>
              <a:r>
                <a:rPr lang="en-US" sz="1000" b="1" dirty="0">
                  <a:solidFill>
                    <a:schemeClr val="tx1"/>
                  </a:solidFill>
                </a:rPr>
                <a:t>phased scale-out plan </a:t>
              </a:r>
              <a:r>
                <a:rPr lang="en-US" sz="1000" dirty="0">
                  <a:solidFill>
                    <a:schemeClr val="tx1"/>
                  </a:solidFill>
                </a:rPr>
                <a:t>and define </a:t>
              </a:r>
              <a:r>
                <a:rPr lang="en-US" sz="1000" b="1" dirty="0">
                  <a:solidFill>
                    <a:schemeClr val="tx1"/>
                  </a:solidFill>
                </a:rPr>
                <a:t>implementation strategy</a:t>
              </a:r>
            </a:p>
          </p:txBody>
        </p:sp>
        <p:sp>
          <p:nvSpPr>
            <p:cNvPr id="14" name="Arrow: Pentagon 13">
              <a:extLst>
                <a:ext uri="{FF2B5EF4-FFF2-40B4-BE49-F238E27FC236}">
                  <a16:creationId xmlns:a16="http://schemas.microsoft.com/office/drawing/2014/main" id="{CF94616D-8CCF-A7C5-94BB-77626F200C48}"/>
                </a:ext>
              </a:extLst>
            </p:cNvPr>
            <p:cNvSpPr/>
            <p:nvPr/>
          </p:nvSpPr>
          <p:spPr>
            <a:xfrm>
              <a:off x="2147581" y="3667700"/>
              <a:ext cx="3720655" cy="1116000"/>
            </a:xfrm>
            <a:prstGeom prst="homePlate">
              <a:avLst>
                <a:gd name="adj" fmla="val 8816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90000"/>
                </a:lnSpc>
                <a:spcAft>
                  <a:spcPts val="1000"/>
                </a:spcAft>
              </a:pPr>
              <a:r>
                <a:rPr lang="en-US" sz="1000" dirty="0">
                  <a:solidFill>
                    <a:schemeClr val="tx1"/>
                  </a:solidFill>
                </a:rPr>
                <a:t>Design the </a:t>
              </a:r>
              <a:r>
                <a:rPr lang="en-US" sz="1000" b="1" dirty="0">
                  <a:solidFill>
                    <a:schemeClr val="tx1"/>
                  </a:solidFill>
                </a:rPr>
                <a:t>outcome-based pod architecture </a:t>
              </a:r>
              <a:r>
                <a:rPr lang="en-US" sz="1000" dirty="0">
                  <a:solidFill>
                    <a:schemeClr val="tx1"/>
                  </a:solidFill>
                </a:rPr>
                <a:t>— pods owning results end-to-end</a:t>
              </a:r>
            </a:p>
            <a:p>
              <a:pPr>
                <a:lnSpc>
                  <a:spcPct val="90000"/>
                </a:lnSpc>
                <a:spcAft>
                  <a:spcPts val="1000"/>
                </a:spcAft>
              </a:pPr>
              <a:r>
                <a:rPr lang="en-US" sz="1000" dirty="0">
                  <a:solidFill>
                    <a:schemeClr val="tx1"/>
                  </a:solidFill>
                </a:rPr>
                <a:t>Define the </a:t>
              </a:r>
              <a:r>
                <a:rPr lang="en-US" sz="1000" b="1" dirty="0">
                  <a:solidFill>
                    <a:schemeClr val="tx1"/>
                  </a:solidFill>
                </a:rPr>
                <a:t>target layer model </a:t>
              </a:r>
              <a:r>
                <a:rPr lang="en-US" sz="1000" dirty="0">
                  <a:solidFill>
                    <a:schemeClr val="tx1"/>
                  </a:solidFill>
                </a:rPr>
                <a:t>(flatter)</a:t>
              </a:r>
              <a:r>
                <a:rPr lang="en-US" sz="1000" b="1" dirty="0">
                  <a:solidFill>
                    <a:schemeClr val="tx1"/>
                  </a:solidFill>
                </a:rPr>
                <a:t> </a:t>
              </a:r>
              <a:r>
                <a:rPr lang="en-US" sz="1000" dirty="0">
                  <a:solidFill>
                    <a:schemeClr val="tx1"/>
                  </a:solidFill>
                </a:rPr>
                <a:t>and redesign decision rights</a:t>
              </a:r>
            </a:p>
            <a:p>
              <a:pPr>
                <a:lnSpc>
                  <a:spcPct val="90000"/>
                </a:lnSpc>
                <a:spcAft>
                  <a:spcPts val="1000"/>
                </a:spcAft>
              </a:pPr>
              <a:r>
                <a:rPr lang="en-US" sz="1000" dirty="0">
                  <a:solidFill>
                    <a:schemeClr val="tx1"/>
                  </a:solidFill>
                </a:rPr>
                <a:t>Assess each function through the </a:t>
              </a:r>
              <a:r>
                <a:rPr lang="en-US" sz="1000" dirty="0" err="1">
                  <a:solidFill>
                    <a:schemeClr val="tx1"/>
                  </a:solidFill>
                </a:rPr>
                <a:t>ProPath</a:t>
              </a:r>
              <a:r>
                <a:rPr lang="en-US" sz="1000" dirty="0">
                  <a:solidFill>
                    <a:schemeClr val="tx1"/>
                  </a:solidFill>
                </a:rPr>
                <a:t> lens, market by market</a:t>
              </a:r>
            </a:p>
          </p:txBody>
        </p:sp>
        <p:sp>
          <p:nvSpPr>
            <p:cNvPr id="15" name="Arrow: Chevron 14">
              <a:extLst>
                <a:ext uri="{FF2B5EF4-FFF2-40B4-BE49-F238E27FC236}">
                  <a16:creationId xmlns:a16="http://schemas.microsoft.com/office/drawing/2014/main" id="{C0B66363-94DF-5F4D-9ACF-105C84AA29CD}"/>
                </a:ext>
              </a:extLst>
            </p:cNvPr>
            <p:cNvSpPr/>
            <p:nvPr/>
          </p:nvSpPr>
          <p:spPr>
            <a:xfrm>
              <a:off x="5824619" y="3667700"/>
              <a:ext cx="4014000" cy="1116000"/>
            </a:xfrm>
            <a:prstGeom prst="chevron">
              <a:avLst>
                <a:gd name="adj" fmla="val 8816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90000"/>
                </a:lnSpc>
                <a:spcAft>
                  <a:spcPts val="1000"/>
                </a:spcAft>
              </a:pPr>
              <a:r>
                <a:rPr lang="en-US" sz="1000" dirty="0">
                  <a:solidFill>
                    <a:schemeClr val="tx1"/>
                  </a:solidFill>
                </a:rPr>
                <a:t>Refine </a:t>
              </a:r>
              <a:r>
                <a:rPr lang="en-US" sz="1000" b="1" dirty="0">
                  <a:solidFill>
                    <a:schemeClr val="tx1"/>
                  </a:solidFill>
                </a:rPr>
                <a:t>pod and role structures </a:t>
              </a:r>
              <a:r>
                <a:rPr lang="en-US" sz="1000" dirty="0">
                  <a:solidFill>
                    <a:schemeClr val="tx1"/>
                  </a:solidFill>
                </a:rPr>
                <a:t>with what the pilots reveal</a:t>
              </a:r>
            </a:p>
            <a:p>
              <a:pPr>
                <a:lnSpc>
                  <a:spcPct val="90000"/>
                </a:lnSpc>
                <a:spcAft>
                  <a:spcPts val="1000"/>
                </a:spcAft>
              </a:pPr>
              <a:r>
                <a:rPr lang="en-US" sz="1000" dirty="0">
                  <a:solidFill>
                    <a:schemeClr val="tx1"/>
                  </a:solidFill>
                </a:rPr>
                <a:t>Adapt </a:t>
              </a:r>
              <a:r>
                <a:rPr lang="en-US" sz="1000" b="1" dirty="0">
                  <a:solidFill>
                    <a:schemeClr val="tx1"/>
                  </a:solidFill>
                </a:rPr>
                <a:t>the structure to each market </a:t>
              </a:r>
              <a:r>
                <a:rPr lang="en-US" sz="1000" dirty="0">
                  <a:solidFill>
                    <a:schemeClr val="tx1"/>
                  </a:solidFill>
                </a:rPr>
                <a:t>— priority one being: BR, CO, MX, US</a:t>
              </a:r>
            </a:p>
          </p:txBody>
        </p:sp>
        <p:sp>
          <p:nvSpPr>
            <p:cNvPr id="16" name="Arrow: Pentagon 15">
              <a:extLst>
                <a:ext uri="{FF2B5EF4-FFF2-40B4-BE49-F238E27FC236}">
                  <a16:creationId xmlns:a16="http://schemas.microsoft.com/office/drawing/2014/main" id="{57FD12FF-1BAB-001E-BD95-627EA572A5E5}"/>
                </a:ext>
              </a:extLst>
            </p:cNvPr>
            <p:cNvSpPr/>
            <p:nvPr/>
          </p:nvSpPr>
          <p:spPr>
            <a:xfrm>
              <a:off x="2489200" y="4939215"/>
              <a:ext cx="3379037" cy="1116000"/>
            </a:xfrm>
            <a:prstGeom prst="homePlate">
              <a:avLst>
                <a:gd name="adj" fmla="val 8816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90000"/>
                </a:lnSpc>
                <a:spcAft>
                  <a:spcPts val="1000"/>
                </a:spcAft>
              </a:pPr>
              <a:r>
                <a:rPr lang="en-US" sz="1000" dirty="0">
                  <a:solidFill>
                    <a:schemeClr val="tx1"/>
                  </a:solidFill>
                </a:rPr>
                <a:t>Define the </a:t>
              </a:r>
              <a:r>
                <a:rPr lang="en-US" sz="1000" b="1" dirty="0">
                  <a:solidFill>
                    <a:schemeClr val="tx1"/>
                  </a:solidFill>
                </a:rPr>
                <a:t>competency frameworks </a:t>
              </a:r>
              <a:r>
                <a:rPr lang="en-US" sz="1000" dirty="0">
                  <a:solidFill>
                    <a:schemeClr val="tx1"/>
                  </a:solidFill>
                </a:rPr>
                <a:t>for every redesigned role</a:t>
              </a:r>
            </a:p>
            <a:p>
              <a:pPr>
                <a:lnSpc>
                  <a:spcPct val="90000"/>
                </a:lnSpc>
                <a:spcAft>
                  <a:spcPts val="1000"/>
                </a:spcAft>
              </a:pPr>
              <a:r>
                <a:rPr lang="en-US" sz="1000" dirty="0">
                  <a:solidFill>
                    <a:schemeClr val="tx1"/>
                  </a:solidFill>
                </a:rPr>
                <a:t>Design the </a:t>
              </a:r>
              <a:r>
                <a:rPr lang="en-US" sz="1000" b="1" dirty="0">
                  <a:solidFill>
                    <a:schemeClr val="tx1"/>
                  </a:solidFill>
                </a:rPr>
                <a:t>AI-fluency model </a:t>
              </a:r>
              <a:r>
                <a:rPr lang="en-US" sz="1000" dirty="0">
                  <a:solidFill>
                    <a:schemeClr val="tx1"/>
                  </a:solidFill>
                </a:rPr>
                <a:t>— for every level, not just specialists</a:t>
              </a:r>
            </a:p>
          </p:txBody>
        </p:sp>
        <p:sp>
          <p:nvSpPr>
            <p:cNvPr id="17" name="Arrow: Chevron 16">
              <a:extLst>
                <a:ext uri="{FF2B5EF4-FFF2-40B4-BE49-F238E27FC236}">
                  <a16:creationId xmlns:a16="http://schemas.microsoft.com/office/drawing/2014/main" id="{111AD1C9-FBB4-D108-15AA-84D68269D4F1}"/>
                </a:ext>
              </a:extLst>
            </p:cNvPr>
            <p:cNvSpPr/>
            <p:nvPr/>
          </p:nvSpPr>
          <p:spPr>
            <a:xfrm>
              <a:off x="5824619" y="4939215"/>
              <a:ext cx="4014000" cy="1116000"/>
            </a:xfrm>
            <a:prstGeom prst="chevron">
              <a:avLst>
                <a:gd name="adj" fmla="val 8816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90000"/>
                </a:lnSpc>
                <a:spcAft>
                  <a:spcPts val="1000"/>
                </a:spcAft>
              </a:pPr>
              <a:r>
                <a:rPr lang="en-US" sz="1000" dirty="0">
                  <a:solidFill>
                    <a:schemeClr val="tx1"/>
                  </a:solidFill>
                </a:rPr>
                <a:t>Build </a:t>
              </a:r>
              <a:r>
                <a:rPr lang="en-US" sz="1000" b="1" dirty="0">
                  <a:solidFill>
                    <a:schemeClr val="tx1"/>
                  </a:solidFill>
                </a:rPr>
                <a:t>leadership competencies </a:t>
              </a:r>
              <a:r>
                <a:rPr lang="en-US" sz="1000" dirty="0">
                  <a:solidFill>
                    <a:schemeClr val="tx1"/>
                  </a:solidFill>
                </a:rPr>
                <a:t>— leaders who direct and model AI use</a:t>
              </a:r>
            </a:p>
            <a:p>
              <a:pPr>
                <a:lnSpc>
                  <a:spcPct val="90000"/>
                </a:lnSpc>
                <a:spcAft>
                  <a:spcPts val="1000"/>
                </a:spcAft>
              </a:pPr>
              <a:r>
                <a:rPr lang="en-US" sz="1000" dirty="0">
                  <a:solidFill>
                    <a:schemeClr val="tx1"/>
                  </a:solidFill>
                </a:rPr>
                <a:t>Activate </a:t>
              </a:r>
              <a:r>
                <a:rPr lang="en-US" sz="1000" b="1" dirty="0">
                  <a:solidFill>
                    <a:schemeClr val="tx1"/>
                  </a:solidFill>
                </a:rPr>
                <a:t>culture</a:t>
              </a:r>
              <a:r>
                <a:rPr lang="en-US" sz="1000" dirty="0">
                  <a:solidFill>
                    <a:schemeClr val="tx1"/>
                  </a:solidFill>
                </a:rPr>
                <a:t> through daily </a:t>
              </a:r>
              <a:r>
                <a:rPr lang="en-US" sz="1000" b="1" dirty="0">
                  <a:solidFill>
                    <a:schemeClr val="tx1"/>
                  </a:solidFill>
                </a:rPr>
                <a:t>practices and incentives</a:t>
              </a:r>
              <a:r>
                <a:rPr lang="en-US" sz="1000" dirty="0">
                  <a:solidFill>
                    <a:schemeClr val="tx1"/>
                  </a:solidFill>
                </a:rPr>
                <a:t>, not declarations</a:t>
              </a:r>
            </a:p>
          </p:txBody>
        </p:sp>
        <p:sp>
          <p:nvSpPr>
            <p:cNvPr id="18" name="Arrow: Chevron 17">
              <a:extLst>
                <a:ext uri="{FF2B5EF4-FFF2-40B4-BE49-F238E27FC236}">
                  <a16:creationId xmlns:a16="http://schemas.microsoft.com/office/drawing/2014/main" id="{D1F20814-EE85-3DEC-536F-BCA93163755C}"/>
                </a:ext>
              </a:extLst>
            </p:cNvPr>
            <p:cNvSpPr/>
            <p:nvPr/>
          </p:nvSpPr>
          <p:spPr>
            <a:xfrm>
              <a:off x="9795000" y="2396184"/>
              <a:ext cx="2016000" cy="1116000"/>
            </a:xfrm>
            <a:prstGeom prst="chevron">
              <a:avLst>
                <a:gd name="adj" fmla="val 8816"/>
              </a:avLst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90000"/>
                </a:lnSpc>
                <a:spcAft>
                  <a:spcPts val="1000"/>
                </a:spcAft>
              </a:pPr>
              <a:endParaRPr 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19" name="Arrow: Chevron 18">
              <a:extLst>
                <a:ext uri="{FF2B5EF4-FFF2-40B4-BE49-F238E27FC236}">
                  <a16:creationId xmlns:a16="http://schemas.microsoft.com/office/drawing/2014/main" id="{5CF0C468-F014-6CB2-8B19-475879CB031B}"/>
                </a:ext>
              </a:extLst>
            </p:cNvPr>
            <p:cNvSpPr/>
            <p:nvPr/>
          </p:nvSpPr>
          <p:spPr>
            <a:xfrm>
              <a:off x="9795000" y="3667700"/>
              <a:ext cx="2016000" cy="1116000"/>
            </a:xfrm>
            <a:prstGeom prst="chevron">
              <a:avLst>
                <a:gd name="adj" fmla="val 8816"/>
              </a:avLst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90000"/>
                </a:lnSpc>
                <a:spcAft>
                  <a:spcPts val="1000"/>
                </a:spcAft>
              </a:pPr>
              <a:endParaRPr lang="en-US" sz="900" dirty="0">
                <a:solidFill>
                  <a:schemeClr val="tx1"/>
                </a:solidFill>
              </a:endParaRPr>
            </a:p>
          </p:txBody>
        </p:sp>
        <p:sp>
          <p:nvSpPr>
            <p:cNvPr id="20" name="Arrow: Chevron 19">
              <a:extLst>
                <a:ext uri="{FF2B5EF4-FFF2-40B4-BE49-F238E27FC236}">
                  <a16:creationId xmlns:a16="http://schemas.microsoft.com/office/drawing/2014/main" id="{C20C0F74-B3F7-A0CC-8321-20F9D45C35C5}"/>
                </a:ext>
              </a:extLst>
            </p:cNvPr>
            <p:cNvSpPr/>
            <p:nvPr/>
          </p:nvSpPr>
          <p:spPr>
            <a:xfrm>
              <a:off x="9795000" y="4939215"/>
              <a:ext cx="2016000" cy="1116000"/>
            </a:xfrm>
            <a:prstGeom prst="chevron">
              <a:avLst>
                <a:gd name="adj" fmla="val 8816"/>
              </a:avLst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90000"/>
                </a:lnSpc>
                <a:spcAft>
                  <a:spcPts val="1000"/>
                </a:spcAft>
              </a:pPr>
              <a:endParaRPr lang="en-US" sz="900" dirty="0">
                <a:solidFill>
                  <a:schemeClr val="tx1"/>
                </a:solidFill>
              </a:endParaRPr>
            </a:p>
          </p:txBody>
        </p:sp>
        <p:cxnSp>
          <p:nvCxnSpPr>
            <p:cNvPr id="21" name="Straight Arrow Connector 41">
              <a:extLst>
                <a:ext uri="{FF2B5EF4-FFF2-40B4-BE49-F238E27FC236}">
                  <a16:creationId xmlns:a16="http://schemas.microsoft.com/office/drawing/2014/main" id="{FC73E613-5BB9-4B78-FAD7-F509313F55D9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1863530" y="3672392"/>
              <a:ext cx="307167" cy="135328"/>
            </a:xfrm>
            <a:prstGeom prst="bentConnector2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41">
              <a:extLst>
                <a:ext uri="{FF2B5EF4-FFF2-40B4-BE49-F238E27FC236}">
                  <a16:creationId xmlns:a16="http://schemas.microsoft.com/office/drawing/2014/main" id="{0E357074-C9AC-0F3E-B237-3B0F393EE8FB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2199799" y="4943907"/>
              <a:ext cx="307167" cy="135328"/>
            </a:xfrm>
            <a:prstGeom prst="bentConnector2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028837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188</Words>
  <Application>Microsoft Office PowerPoint</Application>
  <PresentationFormat>Widescreen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Graphik</vt:lpstr>
      <vt:lpstr>Graphik Medium</vt:lpstr>
      <vt:lpstr>GT Sectra Fine Rg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Graciotti, Brenno</dc:creator>
  <cp:lastModifiedBy>Graciotti, Brenno</cp:lastModifiedBy>
  <cp:revision>1</cp:revision>
  <dcterms:created xsi:type="dcterms:W3CDTF">2026-05-26T14:57:57Z</dcterms:created>
  <dcterms:modified xsi:type="dcterms:W3CDTF">2026-05-26T14:57:57Z</dcterms:modified>
</cp:coreProperties>
</file>