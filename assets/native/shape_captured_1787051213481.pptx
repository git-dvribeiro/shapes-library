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9A104-5D30-9BA2-4462-42156DCD9C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6B690D-B074-DEB3-9CAD-47FE6D7582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6E61C-2CE8-F098-8BE0-9B6B6E19C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7B592-9F34-47AE-B0DF-D541541E68EB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3875B-7845-0C60-15EC-9B90C7B80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91060-E329-101E-4AD9-702A3A572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74C12-836B-4FE1-9DC3-09E12359257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8081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2A1B9-988C-1C7A-A627-6AFE8B21C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2C4FD-F678-513F-8AE5-40CDA8E69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36622-8D37-8788-6302-912C545FE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7B592-9F34-47AE-B0DF-D541541E68EB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F5621-F08C-388E-E268-6C8C02656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B92CF-B487-58C3-F032-B2220589C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74C12-836B-4FE1-9DC3-09E12359257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5022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7BDC7-0D5B-14F3-C407-7EE8053E2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E06C64-7EF2-B351-3432-B296E0109F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0738B-FDBF-02BB-856E-85A5E6C8B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7B592-9F34-47AE-B0DF-D541541E68EB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1CD20-CBC0-2EC7-D2DB-C8B45533B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FE92F-6AE4-3A0B-9D0E-1E7E1790A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74C12-836B-4FE1-9DC3-09E12359257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7511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AD601-3C2A-30DA-5FED-7DAEDE97D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6B0CC-10E7-9633-0F66-BC48A1A718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A46321-D355-5682-980B-FA60CF3B86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6FEA61-1D13-64F0-B2F9-4477C52BB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7B592-9F34-47AE-B0DF-D541541E68EB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C017CB-7481-BC34-741D-CE536250F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B403A0-2829-BE0B-831F-544CF278C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74C12-836B-4FE1-9DC3-09E12359257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98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A4E0A-F80C-EDB3-03DC-45E78A1B6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07903A-DBCB-30EC-A054-B47B10334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2C0F0-2417-65EE-12A3-FFE086CFCC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63A9F1-6317-DA05-9403-7EDA45BCE4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542B7-5905-F67D-5DBE-973229C8C3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6455F1-877E-FCCA-4CC1-05A31E8A5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7B592-9F34-47AE-B0DF-D541541E68EB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B7095E-6076-79D2-8B5E-D74364DE6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AAB2DE-79A8-55CA-B637-52E17F5AF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74C12-836B-4FE1-9DC3-09E12359257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9151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915E3-A345-5506-C395-FE6FD35F0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1B8F37-68F8-2DC8-D183-20E4E544C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7B592-9F34-47AE-B0DF-D541541E68EB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376F9D-27B8-DB30-5C32-0C17F239A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942E28-3027-B9EB-238A-8FAAAB2B9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74C12-836B-4FE1-9DC3-09E12359257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6071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806851-EE87-3730-E90F-3670B81B3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7B592-9F34-47AE-B0DF-D541541E68EB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086BF9-DE7E-74E4-C084-F88103B11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076F5-2A72-A539-03B4-22D268C23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74C12-836B-4FE1-9DC3-09E12359257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1883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5B7AB-371A-9DD6-2687-368BB24E0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29B26-54BB-9C5A-F990-6825E39C1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398DC6-1348-6E3F-43FD-517919709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12506B-F6A8-B38F-9A70-C9C557C3B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7B592-9F34-47AE-B0DF-D541541E68EB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4C79C0-BEF5-2E79-F2F6-80CDFDECA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F43EA-9CFA-51EC-E436-3AC4DCB42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74C12-836B-4FE1-9DC3-09E12359257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0190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E9DB5-E392-76E4-67E8-79C5160FB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2705F7-8079-EEB5-4904-5679EFDBED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A7B25F-803E-9F06-AB18-4D71B7CECF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774A2E-3267-56B3-3FAA-6BFE62423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7B592-9F34-47AE-B0DF-D541541E68EB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2BEFF1-9E17-9019-E34B-D63B58C5B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D035C3-A0D5-347A-C1A1-DAE28C19C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74C12-836B-4FE1-9DC3-09E12359257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3454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6B0C1-D89B-13E8-6D0A-AF6048DCE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3F3F9B-DEBD-08CD-39E9-C51E88427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CA25C-9C40-C630-8DFA-2340F08A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7B592-9F34-47AE-B0DF-D541541E68EB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8CC7A-F4A6-E2F7-6508-C288AB440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33D98-628D-9B80-0C59-0077BBF6E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74C12-836B-4FE1-9DC3-09E12359257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2368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B4F7A9-8365-C33F-62DD-937EE1A66B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19C45D-FB01-59AE-E6BA-8E0EBC321C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6F3B1-8544-579D-7A4D-59D762812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7B592-9F34-47AE-B0DF-D541541E68EB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63DB4-151A-B4FB-EB9A-1D5B7500C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6D2AE-D620-DA96-2CCD-893F001AB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74C12-836B-4FE1-9DC3-09E12359257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5568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1EFDBC-9031-9C35-12D3-22BEB4067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E84C10-E03E-CB4E-1335-6A428D5E1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9DFB9-31B2-3CBE-A511-8D12CE5845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37B592-9F34-47AE-B0DF-D541541E68EB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69514-9B8A-EA6C-CFAE-4C00BF6B96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29BAAB-8648-391E-3447-65D42C32B2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574C12-836B-4FE1-9DC3-09E12359257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0773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E88DE93-CABD-1E60-1FE0-7DF779BDA08C}"/>
              </a:ext>
            </a:extLst>
          </p:cNvPr>
          <p:cNvGrpSpPr/>
          <p:nvPr/>
        </p:nvGrpSpPr>
        <p:grpSpPr>
          <a:xfrm>
            <a:off x="381000" y="1412035"/>
            <a:ext cx="11430000" cy="4949146"/>
            <a:chOff x="381000" y="1412035"/>
            <a:chExt cx="11430000" cy="4949146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BE1365E-D789-1177-2611-19EBCA07600D}"/>
                </a:ext>
              </a:extLst>
            </p:cNvPr>
            <p:cNvGrpSpPr/>
            <p:nvPr/>
          </p:nvGrpSpPr>
          <p:grpSpPr>
            <a:xfrm>
              <a:off x="5903976" y="1412035"/>
              <a:ext cx="5907024" cy="4949146"/>
              <a:chOff x="5736336" y="1412035"/>
              <a:chExt cx="5907024" cy="4949146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30A6AA5E-BA2D-EED1-0692-331E4D23B885}"/>
                  </a:ext>
                </a:extLst>
              </p:cNvPr>
              <p:cNvSpPr/>
              <p:nvPr/>
            </p:nvSpPr>
            <p:spPr>
              <a:xfrm>
                <a:off x="5736336" y="1412035"/>
                <a:ext cx="5799711" cy="4949145"/>
              </a:xfrm>
              <a:prstGeom prst="rect">
                <a:avLst/>
              </a:prstGeom>
              <a:solidFill>
                <a:srgbClr val="F8F5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noProof="0" dirty="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69613B9D-3053-76DE-0396-A1CC32972F87}"/>
                  </a:ext>
                </a:extLst>
              </p:cNvPr>
              <p:cNvSpPr/>
              <p:nvPr/>
            </p:nvSpPr>
            <p:spPr>
              <a:xfrm>
                <a:off x="5736336" y="1412036"/>
                <a:ext cx="64008" cy="4949145"/>
              </a:xfrm>
              <a:prstGeom prst="rect">
                <a:avLst/>
              </a:prstGeom>
              <a:solidFill>
                <a:srgbClr val="6D12D9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noProof="0" dirty="0"/>
              </a:p>
            </p:txBody>
          </p:sp>
          <p:cxnSp>
            <p:nvCxnSpPr>
              <p:cNvPr id="24" name="Connector 7">
                <a:extLst>
                  <a:ext uri="{FF2B5EF4-FFF2-40B4-BE49-F238E27FC236}">
                    <a16:creationId xmlns:a16="http://schemas.microsoft.com/office/drawing/2014/main" id="{2EB0243B-2D02-46AF-279E-C46BC17FB1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28944" y="1850947"/>
                <a:ext cx="5360454" cy="0"/>
              </a:xfrm>
              <a:prstGeom prst="line">
                <a:avLst/>
              </a:prstGeom>
              <a:ln w="12700">
                <a:solidFill>
                  <a:srgbClr val="222222"/>
                </a:solidFill>
                <a:prstDash val="solid"/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0C16147-0BE5-0E6C-2EFD-F0BDE85B5D8B}"/>
                  </a:ext>
                </a:extLst>
              </p:cNvPr>
              <p:cNvSpPr txBox="1"/>
              <p:nvPr/>
            </p:nvSpPr>
            <p:spPr>
              <a:xfrm>
                <a:off x="6065520" y="1540051"/>
                <a:ext cx="3200400" cy="270843"/>
              </a:xfrm>
              <a:prstGeom prst="rect">
                <a:avLst/>
              </a:prstGeom>
              <a:noFill/>
            </p:spPr>
            <p:txBody>
              <a:bodyPr wrap="square" lIns="45720" tIns="27432" rIns="45720" bIns="27432" anchor="t">
                <a:spAutoFit/>
              </a:bodyPr>
              <a:lstStyle/>
              <a:p>
                <a:pPr algn="l"/>
                <a:r>
                  <a:rPr lang="pt-BR" sz="1400" noProof="0" dirty="0">
                    <a:solidFill>
                      <a:srgbClr val="000000"/>
                    </a:solidFill>
                    <a:latin typeface="Graphik Semibold"/>
                  </a:rPr>
                  <a:t>OBJETIVOS DO TRABALHO</a:t>
                </a:r>
              </a:p>
            </p:txBody>
          </p:sp>
          <p:pic>
            <p:nvPicPr>
              <p:cNvPr id="26" name="Segoe SVG search" descr="Segoe SVG search">
                <a:extLst>
                  <a:ext uri="{FF2B5EF4-FFF2-40B4-BE49-F238E27FC236}">
                    <a16:creationId xmlns:a16="http://schemas.microsoft.com/office/drawing/2014/main" id="{D9FFA721-0C94-3F53-7DE0-016E1E0FF9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6047232" y="2558132"/>
                <a:ext cx="384048" cy="384048"/>
              </a:xfrm>
              <a:prstGeom prst="rect">
                <a:avLst/>
              </a:prstGeom>
            </p:spPr>
          </p:pic>
          <p:cxnSp>
            <p:nvCxnSpPr>
              <p:cNvPr id="27" name="Connector 26">
                <a:extLst>
                  <a:ext uri="{FF2B5EF4-FFF2-40B4-BE49-F238E27FC236}">
                    <a16:creationId xmlns:a16="http://schemas.microsoft.com/office/drawing/2014/main" id="{37A0234E-710D-2CD8-5007-E57899DDF06A}"/>
                  </a:ext>
                </a:extLst>
              </p:cNvPr>
              <p:cNvCxnSpPr/>
              <p:nvPr/>
            </p:nvCxnSpPr>
            <p:spPr>
              <a:xfrm>
                <a:off x="6541008" y="2503268"/>
                <a:ext cx="0" cy="585216"/>
              </a:xfrm>
              <a:prstGeom prst="line">
                <a:avLst/>
              </a:prstGeom>
              <a:ln w="10160">
                <a:solidFill>
                  <a:srgbClr val="DED5ED"/>
                </a:solidFill>
                <a:prstDash val="solid"/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69F81D4-423D-2741-5CC1-B5AD44A4BD06}"/>
                  </a:ext>
                </a:extLst>
              </p:cNvPr>
              <p:cNvSpPr txBox="1"/>
              <p:nvPr/>
            </p:nvSpPr>
            <p:spPr>
              <a:xfrm>
                <a:off x="6669024" y="2503268"/>
                <a:ext cx="4974336" cy="201168"/>
              </a:xfrm>
              <a:prstGeom prst="rect">
                <a:avLst/>
              </a:prstGeom>
              <a:noFill/>
            </p:spPr>
            <p:txBody>
              <a:bodyPr wrap="square" lIns="45720" tIns="27432" rIns="45720" bIns="27432" anchor="t">
                <a:spAutoFit/>
              </a:bodyPr>
              <a:lstStyle/>
              <a:p>
                <a:pPr algn="l"/>
                <a:r>
                  <a:rPr lang="pt-BR" sz="1100" noProof="0" dirty="0">
                    <a:solidFill>
                      <a:srgbClr val="000000"/>
                    </a:solidFill>
                    <a:latin typeface="Graphik Semibold"/>
                  </a:rPr>
                  <a:t>Assessment da situação atual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8B304B9-E1DB-C314-7D32-C23A2011991B}"/>
                  </a:ext>
                </a:extLst>
              </p:cNvPr>
              <p:cNvSpPr txBox="1"/>
              <p:nvPr/>
            </p:nvSpPr>
            <p:spPr>
              <a:xfrm>
                <a:off x="6669024" y="2741012"/>
                <a:ext cx="4593333" cy="470898"/>
              </a:xfrm>
              <a:prstGeom prst="rect">
                <a:avLst/>
              </a:prstGeom>
              <a:noFill/>
            </p:spPr>
            <p:txBody>
              <a:bodyPr wrap="square" lIns="45720" tIns="27432" rIns="45720" bIns="27432" anchor="t">
                <a:spAutoFit/>
              </a:bodyPr>
              <a:lstStyle/>
              <a:p>
                <a:pPr algn="l"/>
                <a:r>
                  <a:rPr lang="pt-BR" sz="900" noProof="0" dirty="0">
                    <a:solidFill>
                      <a:srgbClr val="000000"/>
                    </a:solidFill>
                    <a:latin typeface="Graphik"/>
                  </a:rPr>
                  <a:t>Avaliar arquitetura, aplicações, integrações, qualidade técnica, cobertura funcional por produto, operação, performance, custos, manutenibilidade e principais riscos e desafios</a:t>
                </a:r>
              </a:p>
            </p:txBody>
          </p:sp>
          <p:cxnSp>
            <p:nvCxnSpPr>
              <p:cNvPr id="30" name="Connector 30">
                <a:extLst>
                  <a:ext uri="{FF2B5EF4-FFF2-40B4-BE49-F238E27FC236}">
                    <a16:creationId xmlns:a16="http://schemas.microsoft.com/office/drawing/2014/main" id="{C7656BA1-A83E-85BB-DBC7-E8276D663128}"/>
                  </a:ext>
                </a:extLst>
              </p:cNvPr>
              <p:cNvCxnSpPr/>
              <p:nvPr/>
            </p:nvCxnSpPr>
            <p:spPr>
              <a:xfrm>
                <a:off x="6541008" y="3281496"/>
                <a:ext cx="0" cy="585216"/>
              </a:xfrm>
              <a:prstGeom prst="line">
                <a:avLst/>
              </a:prstGeom>
              <a:ln w="10160">
                <a:solidFill>
                  <a:srgbClr val="DED5ED"/>
                </a:solidFill>
                <a:prstDash val="solid"/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DCB5B50-2820-0B65-48B3-5151D0B45DD2}"/>
                  </a:ext>
                </a:extLst>
              </p:cNvPr>
              <p:cNvSpPr txBox="1"/>
              <p:nvPr/>
            </p:nvSpPr>
            <p:spPr>
              <a:xfrm>
                <a:off x="6669024" y="3281496"/>
                <a:ext cx="4974336" cy="201168"/>
              </a:xfrm>
              <a:prstGeom prst="rect">
                <a:avLst/>
              </a:prstGeom>
              <a:noFill/>
            </p:spPr>
            <p:txBody>
              <a:bodyPr wrap="square" lIns="45720" tIns="27432" rIns="45720" bIns="27432" anchor="t">
                <a:spAutoFit/>
              </a:bodyPr>
              <a:lstStyle/>
              <a:p>
                <a:pPr algn="l"/>
                <a:r>
                  <a:rPr lang="pt-BR" sz="1100" noProof="0" dirty="0">
                    <a:solidFill>
                      <a:srgbClr val="000000"/>
                    </a:solidFill>
                    <a:latin typeface="Graphik Semibold"/>
                  </a:rPr>
                  <a:t>Benchmark e melhores práticas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E84A57F-20ED-8D5C-E0C3-A1D7217373A9}"/>
                  </a:ext>
                </a:extLst>
              </p:cNvPr>
              <p:cNvSpPr txBox="1"/>
              <p:nvPr/>
            </p:nvSpPr>
            <p:spPr>
              <a:xfrm>
                <a:off x="6669024" y="3519240"/>
                <a:ext cx="4593333" cy="332399"/>
              </a:xfrm>
              <a:prstGeom prst="rect">
                <a:avLst/>
              </a:prstGeom>
              <a:noFill/>
            </p:spPr>
            <p:txBody>
              <a:bodyPr wrap="square" lIns="45720" tIns="27432" rIns="45720" bIns="27432" anchor="t">
                <a:spAutoFit/>
              </a:bodyPr>
              <a:lstStyle/>
              <a:p>
                <a:pPr algn="l"/>
                <a:r>
                  <a:rPr lang="pt-BR" sz="900" noProof="0" dirty="0">
                    <a:solidFill>
                      <a:srgbClr val="000000"/>
                    </a:solidFill>
                    <a:latin typeface="Graphik"/>
                  </a:rPr>
                  <a:t>Mapear benchmarks de mercado e aplicar práticas da Accenture e do mercado em plataformas de crédito</a:t>
                </a:r>
              </a:p>
            </p:txBody>
          </p:sp>
          <p:cxnSp>
            <p:nvCxnSpPr>
              <p:cNvPr id="33" name="Connector 34">
                <a:extLst>
                  <a:ext uri="{FF2B5EF4-FFF2-40B4-BE49-F238E27FC236}">
                    <a16:creationId xmlns:a16="http://schemas.microsoft.com/office/drawing/2014/main" id="{FB8AA9A4-F5E6-61C1-65A3-B06FBD4B8277}"/>
                  </a:ext>
                </a:extLst>
              </p:cNvPr>
              <p:cNvCxnSpPr/>
              <p:nvPr/>
            </p:nvCxnSpPr>
            <p:spPr>
              <a:xfrm>
                <a:off x="6541008" y="4101060"/>
                <a:ext cx="0" cy="585216"/>
              </a:xfrm>
              <a:prstGeom prst="line">
                <a:avLst/>
              </a:prstGeom>
              <a:ln w="10160">
                <a:solidFill>
                  <a:srgbClr val="DED5ED"/>
                </a:solidFill>
                <a:prstDash val="solid"/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BD9EBD0-4DF1-AC89-690B-906AFFECA96C}"/>
                  </a:ext>
                </a:extLst>
              </p:cNvPr>
              <p:cNvSpPr txBox="1"/>
              <p:nvPr/>
            </p:nvSpPr>
            <p:spPr>
              <a:xfrm>
                <a:off x="6669024" y="4101060"/>
                <a:ext cx="4974336" cy="201168"/>
              </a:xfrm>
              <a:prstGeom prst="rect">
                <a:avLst/>
              </a:prstGeom>
              <a:noFill/>
            </p:spPr>
            <p:txBody>
              <a:bodyPr wrap="square" lIns="45720" tIns="27432" rIns="45720" bIns="27432" anchor="t">
                <a:spAutoFit/>
              </a:bodyPr>
              <a:lstStyle/>
              <a:p>
                <a:pPr algn="l"/>
                <a:r>
                  <a:rPr lang="pt-BR" sz="1100" noProof="0" dirty="0">
                    <a:solidFill>
                      <a:srgbClr val="000000"/>
                    </a:solidFill>
                    <a:latin typeface="Graphik Semibold"/>
                  </a:rPr>
                  <a:t>Hipóteses de evolução e priorização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BCE4BCF-7CB7-5F37-8C2F-53E11C5EF384}"/>
                  </a:ext>
                </a:extLst>
              </p:cNvPr>
              <p:cNvSpPr txBox="1"/>
              <p:nvPr/>
            </p:nvSpPr>
            <p:spPr>
              <a:xfrm>
                <a:off x="6669024" y="4338804"/>
                <a:ext cx="4593333" cy="332399"/>
              </a:xfrm>
              <a:prstGeom prst="rect">
                <a:avLst/>
              </a:prstGeom>
              <a:noFill/>
            </p:spPr>
            <p:txBody>
              <a:bodyPr wrap="square" lIns="45720" tIns="27432" rIns="45720" bIns="27432" anchor="t">
                <a:spAutoFit/>
              </a:bodyPr>
              <a:lstStyle/>
              <a:p>
                <a:pPr algn="l"/>
                <a:r>
                  <a:rPr lang="pt-BR" sz="900" noProof="0" dirty="0">
                    <a:solidFill>
                      <a:srgbClr val="000000"/>
                    </a:solidFill>
                    <a:latin typeface="Graphik"/>
                  </a:rPr>
                  <a:t>Identificar e priorizar evoluções funcionais, técnicas e organizacionais com base no potencial impacto para o negócio</a:t>
                </a:r>
              </a:p>
            </p:txBody>
          </p:sp>
          <p:cxnSp>
            <p:nvCxnSpPr>
              <p:cNvPr id="36" name="Connector 38">
                <a:extLst>
                  <a:ext uri="{FF2B5EF4-FFF2-40B4-BE49-F238E27FC236}">
                    <a16:creationId xmlns:a16="http://schemas.microsoft.com/office/drawing/2014/main" id="{DCFEC0F5-3C6C-3E00-2442-1ACEB0DC94C0}"/>
                  </a:ext>
                </a:extLst>
              </p:cNvPr>
              <p:cNvCxnSpPr/>
              <p:nvPr/>
            </p:nvCxnSpPr>
            <p:spPr>
              <a:xfrm>
                <a:off x="6541008" y="4882124"/>
                <a:ext cx="0" cy="585216"/>
              </a:xfrm>
              <a:prstGeom prst="line">
                <a:avLst/>
              </a:prstGeom>
              <a:ln w="10160">
                <a:solidFill>
                  <a:srgbClr val="DED5ED"/>
                </a:solidFill>
                <a:prstDash val="solid"/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1CBCDE6-6014-685E-273F-D61B6132460E}"/>
                  </a:ext>
                </a:extLst>
              </p:cNvPr>
              <p:cNvSpPr txBox="1"/>
              <p:nvPr/>
            </p:nvSpPr>
            <p:spPr>
              <a:xfrm>
                <a:off x="6669024" y="4882124"/>
                <a:ext cx="4974336" cy="201168"/>
              </a:xfrm>
              <a:prstGeom prst="rect">
                <a:avLst/>
              </a:prstGeom>
              <a:noFill/>
            </p:spPr>
            <p:txBody>
              <a:bodyPr wrap="square" lIns="45720" tIns="27432" rIns="45720" bIns="27432" anchor="t">
                <a:spAutoFit/>
              </a:bodyPr>
              <a:lstStyle/>
              <a:p>
                <a:pPr algn="l"/>
                <a:r>
                  <a:rPr lang="pt-BR" sz="1100" noProof="0" dirty="0">
                    <a:solidFill>
                      <a:srgbClr val="000000"/>
                    </a:solidFill>
                    <a:latin typeface="Graphik Semibold"/>
                  </a:rPr>
                  <a:t>Modelo futuro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DB0AFFE-E139-DACC-926E-388CA936382F}"/>
                  </a:ext>
                </a:extLst>
              </p:cNvPr>
              <p:cNvSpPr txBox="1"/>
              <p:nvPr/>
            </p:nvSpPr>
            <p:spPr>
              <a:xfrm>
                <a:off x="6669024" y="5119868"/>
                <a:ext cx="4593333" cy="332399"/>
              </a:xfrm>
              <a:prstGeom prst="rect">
                <a:avLst/>
              </a:prstGeom>
              <a:noFill/>
            </p:spPr>
            <p:txBody>
              <a:bodyPr wrap="square" lIns="45720" tIns="27432" rIns="45720" bIns="27432" anchor="t">
                <a:spAutoFit/>
              </a:bodyPr>
              <a:lstStyle/>
              <a:p>
                <a:pPr algn="l"/>
                <a:r>
                  <a:rPr lang="pt-BR" sz="900" noProof="0" dirty="0">
                    <a:solidFill>
                      <a:srgbClr val="000000"/>
                    </a:solidFill>
                    <a:latin typeface="Graphik"/>
                  </a:rPr>
                  <a:t>Propor a arquitetura funcional e técnica futura, avaliar build, </a:t>
                </a:r>
                <a:r>
                  <a:rPr lang="pt-BR" sz="900" noProof="0" dirty="0" err="1">
                    <a:solidFill>
                      <a:srgbClr val="000000"/>
                    </a:solidFill>
                    <a:latin typeface="Graphik"/>
                  </a:rPr>
                  <a:t>buy</a:t>
                </a:r>
                <a:r>
                  <a:rPr lang="pt-BR" sz="900" noProof="0" dirty="0">
                    <a:solidFill>
                      <a:srgbClr val="000000"/>
                    </a:solidFill>
                    <a:latin typeface="Graphik"/>
                  </a:rPr>
                  <a:t> ou </a:t>
                </a:r>
                <a:r>
                  <a:rPr lang="pt-BR" sz="900" noProof="0" dirty="0" err="1">
                    <a:solidFill>
                      <a:srgbClr val="000000"/>
                    </a:solidFill>
                    <a:latin typeface="Graphik"/>
                  </a:rPr>
                  <a:t>borrow</a:t>
                </a:r>
                <a:r>
                  <a:rPr lang="pt-BR" sz="900" noProof="0" dirty="0">
                    <a:solidFill>
                      <a:srgbClr val="000000"/>
                    </a:solidFill>
                    <a:latin typeface="Graphik"/>
                  </a:rPr>
                  <a:t> para componentes-chave e indicar exemplos de </a:t>
                </a:r>
                <a:r>
                  <a:rPr lang="pt-BR" sz="900" noProof="0" dirty="0" err="1">
                    <a:solidFill>
                      <a:srgbClr val="000000"/>
                    </a:solidFill>
                    <a:latin typeface="Graphik"/>
                  </a:rPr>
                  <a:t>vendors</a:t>
                </a:r>
                <a:r>
                  <a:rPr lang="pt-BR" sz="900" noProof="0" dirty="0">
                    <a:solidFill>
                      <a:srgbClr val="000000"/>
                    </a:solidFill>
                    <a:latin typeface="Graphik"/>
                  </a:rPr>
                  <a:t> quando aplicável</a:t>
                </a:r>
              </a:p>
            </p:txBody>
          </p:sp>
          <p:cxnSp>
            <p:nvCxnSpPr>
              <p:cNvPr id="39" name="Connector 42">
                <a:extLst>
                  <a:ext uri="{FF2B5EF4-FFF2-40B4-BE49-F238E27FC236}">
                    <a16:creationId xmlns:a16="http://schemas.microsoft.com/office/drawing/2014/main" id="{76E4543A-624A-5566-1FDC-543701205586}"/>
                  </a:ext>
                </a:extLst>
              </p:cNvPr>
              <p:cNvCxnSpPr/>
              <p:nvPr/>
            </p:nvCxnSpPr>
            <p:spPr>
              <a:xfrm>
                <a:off x="6541008" y="5620382"/>
                <a:ext cx="0" cy="585217"/>
              </a:xfrm>
              <a:prstGeom prst="line">
                <a:avLst/>
              </a:prstGeom>
              <a:ln w="10160">
                <a:solidFill>
                  <a:srgbClr val="DED5ED"/>
                </a:solidFill>
                <a:prstDash val="solid"/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8A194B8-8571-D504-6635-271C6C38ED39}"/>
                  </a:ext>
                </a:extLst>
              </p:cNvPr>
              <p:cNvSpPr txBox="1"/>
              <p:nvPr/>
            </p:nvSpPr>
            <p:spPr>
              <a:xfrm>
                <a:off x="6669024" y="5620382"/>
                <a:ext cx="4974336" cy="201168"/>
              </a:xfrm>
              <a:prstGeom prst="rect">
                <a:avLst/>
              </a:prstGeom>
              <a:noFill/>
            </p:spPr>
            <p:txBody>
              <a:bodyPr wrap="square" lIns="45720" tIns="27432" rIns="45720" bIns="27432" anchor="t">
                <a:spAutoFit/>
              </a:bodyPr>
              <a:lstStyle/>
              <a:p>
                <a:pPr algn="l"/>
                <a:r>
                  <a:rPr lang="pt-BR" sz="1100" noProof="0" dirty="0">
                    <a:solidFill>
                      <a:srgbClr val="000000"/>
                    </a:solidFill>
                    <a:latin typeface="Graphik Semibold"/>
                  </a:rPr>
                  <a:t>Roadmap de transformação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59B7333-8CC2-E1BE-24A2-BACB375C5007}"/>
                  </a:ext>
                </a:extLst>
              </p:cNvPr>
              <p:cNvSpPr txBox="1"/>
              <p:nvPr/>
            </p:nvSpPr>
            <p:spPr>
              <a:xfrm>
                <a:off x="6669024" y="5858127"/>
                <a:ext cx="4593333" cy="332399"/>
              </a:xfrm>
              <a:prstGeom prst="rect">
                <a:avLst/>
              </a:prstGeom>
              <a:noFill/>
            </p:spPr>
            <p:txBody>
              <a:bodyPr wrap="square" lIns="45720" tIns="27432" rIns="45720" bIns="27432" anchor="t">
                <a:spAutoFit/>
              </a:bodyPr>
              <a:lstStyle/>
              <a:p>
                <a:pPr algn="l"/>
                <a:r>
                  <a:rPr lang="pt-BR" sz="900" noProof="0" dirty="0">
                    <a:solidFill>
                      <a:srgbClr val="000000"/>
                    </a:solidFill>
                    <a:latin typeface="Graphik"/>
                  </a:rPr>
                  <a:t>Definir ondas priorizadas de macro ações para evolução das plataformas e capacidades</a:t>
                </a:r>
              </a:p>
            </p:txBody>
          </p:sp>
          <p:pic>
            <p:nvPicPr>
              <p:cNvPr id="42" name="Graphic 41">
                <a:extLst>
                  <a:ext uri="{FF2B5EF4-FFF2-40B4-BE49-F238E27FC236}">
                    <a16:creationId xmlns:a16="http://schemas.microsoft.com/office/drawing/2014/main" id="{97368F05-CB56-948B-9FFA-E3C0A3D701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068053" y="3423469"/>
                <a:ext cx="394185" cy="394185"/>
              </a:xfrm>
              <a:prstGeom prst="rect">
                <a:avLst/>
              </a:prstGeom>
            </p:spPr>
          </p:pic>
          <p:pic>
            <p:nvPicPr>
              <p:cNvPr id="43" name="Graphic 42">
                <a:extLst>
                  <a:ext uri="{FF2B5EF4-FFF2-40B4-BE49-F238E27FC236}">
                    <a16:creationId xmlns:a16="http://schemas.microsoft.com/office/drawing/2014/main" id="{2E209421-0983-CA0E-6B01-5D7724AB63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072191" y="4160504"/>
                <a:ext cx="394185" cy="394185"/>
              </a:xfrm>
              <a:prstGeom prst="rect">
                <a:avLst/>
              </a:prstGeom>
            </p:spPr>
          </p:pic>
          <p:pic>
            <p:nvPicPr>
              <p:cNvPr id="44" name="Graphic 43">
                <a:extLst>
                  <a:ext uri="{FF2B5EF4-FFF2-40B4-BE49-F238E27FC236}">
                    <a16:creationId xmlns:a16="http://schemas.microsoft.com/office/drawing/2014/main" id="{FC9AE0D3-E42A-4ECF-EF1F-84690D2B3B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6072191" y="4922145"/>
                <a:ext cx="360000" cy="360000"/>
              </a:xfrm>
              <a:prstGeom prst="rect">
                <a:avLst/>
              </a:prstGeom>
            </p:spPr>
          </p:pic>
          <p:pic>
            <p:nvPicPr>
              <p:cNvPr id="45" name="Graphic 44">
                <a:extLst>
                  <a:ext uri="{FF2B5EF4-FFF2-40B4-BE49-F238E27FC236}">
                    <a16:creationId xmlns:a16="http://schemas.microsoft.com/office/drawing/2014/main" id="{C1E959E7-F97A-42CA-EAF9-BD00236696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6072191" y="5681070"/>
                <a:ext cx="360000" cy="360000"/>
              </a:xfrm>
              <a:prstGeom prst="rect">
                <a:avLst/>
              </a:prstGeom>
            </p:spPr>
          </p:pic>
          <p:sp>
            <p:nvSpPr>
              <p:cNvPr id="46" name="Isosceles Triangle 45">
                <a:extLst>
                  <a:ext uri="{FF2B5EF4-FFF2-40B4-BE49-F238E27FC236}">
                    <a16:creationId xmlns:a16="http://schemas.microsoft.com/office/drawing/2014/main" id="{C906F006-68C4-6AF2-4958-4487D9DF8ED9}"/>
                  </a:ext>
                </a:extLst>
              </p:cNvPr>
              <p:cNvSpPr/>
              <p:nvPr/>
            </p:nvSpPr>
            <p:spPr>
              <a:xfrm rot="5400000">
                <a:off x="5678169" y="3989417"/>
                <a:ext cx="331851" cy="112727"/>
              </a:xfrm>
              <a:prstGeom prst="triangle">
                <a:avLst/>
              </a:prstGeom>
              <a:solidFill>
                <a:srgbClr val="6D12D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200" b="1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7EB3A49-5923-22EB-3115-32CC2E011FCE}"/>
                  </a:ext>
                </a:extLst>
              </p:cNvPr>
              <p:cNvSpPr txBox="1"/>
              <p:nvPr/>
            </p:nvSpPr>
            <p:spPr>
              <a:xfrm>
                <a:off x="5985984" y="1913004"/>
                <a:ext cx="5360451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100" noProof="0" dirty="0">
                    <a:latin typeface="Graphik Semibold" panose="020B0703030202060203" pitchFamily="34" charset="0"/>
                  </a:rPr>
                  <a:t>Avaliar as atuais plataformas de crédito da XP e definir caminhos para sua evolução, incluindo:</a:t>
                </a: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1A4A383-D943-93DE-D28C-E666C85943A5}"/>
                </a:ext>
              </a:extLst>
            </p:cNvPr>
            <p:cNvGrpSpPr/>
            <p:nvPr/>
          </p:nvGrpSpPr>
          <p:grpSpPr>
            <a:xfrm>
              <a:off x="381000" y="1540051"/>
              <a:ext cx="5196671" cy="4591276"/>
              <a:chOff x="381000" y="1540051"/>
              <a:chExt cx="5196671" cy="4591276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644980D0-40A6-A8F1-0DD6-D033B1DFBE5D}"/>
                  </a:ext>
                </a:extLst>
              </p:cNvPr>
              <p:cNvSpPr/>
              <p:nvPr/>
            </p:nvSpPr>
            <p:spPr>
              <a:xfrm>
                <a:off x="381001" y="5380531"/>
                <a:ext cx="676656" cy="676656"/>
              </a:xfrm>
              <a:prstGeom prst="ellipse">
                <a:avLst/>
              </a:prstGeom>
              <a:solidFill>
                <a:srgbClr val="F1E8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noProof="0" dirty="0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6ACCD7-CFCD-CC31-2B45-9F94FF57EAF5}"/>
                  </a:ext>
                </a:extLst>
              </p:cNvPr>
              <p:cNvSpPr txBox="1"/>
              <p:nvPr/>
            </p:nvSpPr>
            <p:spPr>
              <a:xfrm>
                <a:off x="381001" y="1540051"/>
                <a:ext cx="2011680" cy="270843"/>
              </a:xfrm>
              <a:prstGeom prst="rect">
                <a:avLst/>
              </a:prstGeom>
              <a:noFill/>
            </p:spPr>
            <p:txBody>
              <a:bodyPr wrap="square" lIns="45720" tIns="27432" rIns="45720" bIns="27432" anchor="t">
                <a:spAutoFit/>
              </a:bodyPr>
              <a:lstStyle/>
              <a:p>
                <a:pPr algn="l"/>
                <a:r>
                  <a:rPr lang="pt-BR" sz="1400" noProof="0" dirty="0">
                    <a:solidFill>
                      <a:srgbClr val="000000"/>
                    </a:solidFill>
                    <a:latin typeface="Graphik Semibold"/>
                  </a:rPr>
                  <a:t>CONTEXTO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1149AA73-11B9-E93F-E011-A2C56934B35E}"/>
                  </a:ext>
                </a:extLst>
              </p:cNvPr>
              <p:cNvSpPr/>
              <p:nvPr/>
            </p:nvSpPr>
            <p:spPr>
              <a:xfrm>
                <a:off x="381001" y="2033827"/>
                <a:ext cx="676656" cy="676656"/>
              </a:xfrm>
              <a:prstGeom prst="ellipse">
                <a:avLst/>
              </a:prstGeom>
              <a:solidFill>
                <a:srgbClr val="F1E8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noProof="0" dirty="0"/>
              </a:p>
            </p:txBody>
          </p:sp>
          <p:pic>
            <p:nvPicPr>
              <p:cNvPr id="8" name="Segoe SVG team" descr="Segoe SVG team">
                <a:extLst>
                  <a:ext uri="{FF2B5EF4-FFF2-40B4-BE49-F238E27FC236}">
                    <a16:creationId xmlns:a16="http://schemas.microsoft.com/office/drawing/2014/main" id="{C704EC03-B0E3-2C1A-F209-59D141FE97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545593" y="2198419"/>
                <a:ext cx="347472" cy="347472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5F53073-1F13-382D-3A13-5324C4B802F9}"/>
                  </a:ext>
                </a:extLst>
              </p:cNvPr>
              <p:cNvSpPr txBox="1"/>
              <p:nvPr/>
            </p:nvSpPr>
            <p:spPr>
              <a:xfrm>
                <a:off x="1185671" y="2052115"/>
                <a:ext cx="4392000" cy="732508"/>
              </a:xfrm>
              <a:prstGeom prst="rect">
                <a:avLst/>
              </a:prstGeom>
              <a:noFill/>
            </p:spPr>
            <p:txBody>
              <a:bodyPr wrap="square" lIns="45720" tIns="27432" rIns="45720" bIns="27432" anchor="t">
                <a:spAutoFit/>
              </a:bodyPr>
              <a:lstStyle/>
              <a:p>
                <a:pPr algn="l"/>
                <a:r>
                  <a:rPr lang="pt-BR" sz="1100" noProof="0" dirty="0">
                    <a:solidFill>
                      <a:srgbClr val="000000"/>
                    </a:solidFill>
                    <a:latin typeface="Graphik"/>
                  </a:rPr>
                  <a:t>A XP Investimentos possui uma </a:t>
                </a:r>
                <a:r>
                  <a:rPr lang="pt-BR" sz="1100" b="1" noProof="0" dirty="0">
                    <a:solidFill>
                      <a:srgbClr val="000000"/>
                    </a:solidFill>
                    <a:latin typeface="Graphik"/>
                  </a:rPr>
                  <a:t>base sólida de clientes e ativos sob custódia</a:t>
                </a:r>
                <a:r>
                  <a:rPr lang="pt-BR" sz="1100" noProof="0" dirty="0">
                    <a:solidFill>
                      <a:srgbClr val="000000"/>
                    </a:solidFill>
                    <a:latin typeface="Graphik"/>
                  </a:rPr>
                  <a:t> e uma </a:t>
                </a:r>
                <a:r>
                  <a:rPr lang="pt-BR" sz="1100" b="1" noProof="0" dirty="0">
                    <a:solidFill>
                      <a:srgbClr val="000000"/>
                    </a:solidFill>
                    <a:latin typeface="Graphik"/>
                  </a:rPr>
                  <a:t>oferta</a:t>
                </a:r>
                <a:r>
                  <a:rPr lang="pt-BR" sz="1100" noProof="0" dirty="0">
                    <a:solidFill>
                      <a:srgbClr val="000000"/>
                    </a:solidFill>
                    <a:latin typeface="Graphik"/>
                  </a:rPr>
                  <a:t> </a:t>
                </a:r>
                <a:r>
                  <a:rPr lang="pt-BR" sz="1100" b="1" noProof="0" dirty="0">
                    <a:solidFill>
                      <a:srgbClr val="000000"/>
                    </a:solidFill>
                    <a:latin typeface="Graphik"/>
                  </a:rPr>
                  <a:t>crescente de produtos de crédito</a:t>
                </a:r>
                <a:r>
                  <a:rPr lang="pt-BR" sz="1100" noProof="0" dirty="0">
                    <a:solidFill>
                      <a:srgbClr val="000000"/>
                    </a:solidFill>
                    <a:latin typeface="Graphik"/>
                  </a:rPr>
                  <a:t> para pessoas físicas e jurídicas, integrada ao seu ecossistema de investimentos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5B725580-03D6-8A37-AF44-1A0B74171EFD}"/>
                  </a:ext>
                </a:extLst>
              </p:cNvPr>
              <p:cNvSpPr/>
              <p:nvPr/>
            </p:nvSpPr>
            <p:spPr>
              <a:xfrm>
                <a:off x="381001" y="3149395"/>
                <a:ext cx="676656" cy="676656"/>
              </a:xfrm>
              <a:prstGeom prst="ellipse">
                <a:avLst/>
              </a:prstGeom>
              <a:solidFill>
                <a:srgbClr val="F1E8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noProof="0" dirty="0"/>
              </a:p>
            </p:txBody>
          </p:sp>
          <p:pic>
            <p:nvPicPr>
              <p:cNvPr id="11" name="Segoe SVG chart" descr="Segoe SVG chart">
                <a:extLst>
                  <a:ext uri="{FF2B5EF4-FFF2-40B4-BE49-F238E27FC236}">
                    <a16:creationId xmlns:a16="http://schemas.microsoft.com/office/drawing/2014/main" id="{7C83E69D-9CC1-E3E0-195D-EA1DC71017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45593" y="5545123"/>
                <a:ext cx="347472" cy="347472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3EB6349-043F-7372-5C13-8D015E81E522}"/>
                  </a:ext>
                </a:extLst>
              </p:cNvPr>
              <p:cNvSpPr txBox="1"/>
              <p:nvPr/>
            </p:nvSpPr>
            <p:spPr>
              <a:xfrm>
                <a:off x="1185671" y="3167683"/>
                <a:ext cx="4392000" cy="732508"/>
              </a:xfrm>
              <a:prstGeom prst="rect">
                <a:avLst/>
              </a:prstGeom>
              <a:noFill/>
            </p:spPr>
            <p:txBody>
              <a:bodyPr wrap="square" lIns="45720" tIns="27432" rIns="45720" bIns="27432" anchor="t">
                <a:spAutoFit/>
              </a:bodyPr>
              <a:lstStyle/>
              <a:p>
                <a:pPr algn="l"/>
                <a:r>
                  <a:rPr lang="pt-BR" sz="1100" noProof="0" dirty="0">
                    <a:solidFill>
                      <a:srgbClr val="000000"/>
                    </a:solidFill>
                    <a:latin typeface="Graphik"/>
                  </a:rPr>
                  <a:t>O </a:t>
                </a:r>
                <a:r>
                  <a:rPr lang="pt-BR" sz="1100" b="1" noProof="0" dirty="0">
                    <a:solidFill>
                      <a:srgbClr val="000000"/>
                    </a:solidFill>
                    <a:latin typeface="Graphik"/>
                  </a:rPr>
                  <a:t>mercado de crédito está em expansão e cada vez mais competitivo</a:t>
                </a:r>
                <a:r>
                  <a:rPr lang="pt-BR" sz="1100" noProof="0" dirty="0">
                    <a:solidFill>
                      <a:srgbClr val="000000"/>
                    </a:solidFill>
                    <a:latin typeface="Graphik"/>
                  </a:rPr>
                  <a:t>, com novos entrantes digitais e instituições tradicionais ampliando sua presença e inovando em </a:t>
                </a:r>
                <a:r>
                  <a:rPr lang="pt-BR" sz="1100" b="1" noProof="0" dirty="0">
                    <a:solidFill>
                      <a:srgbClr val="000000"/>
                    </a:solidFill>
                    <a:latin typeface="Graphik"/>
                  </a:rPr>
                  <a:t>experiência, velocidade e personalização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9A0E9EC6-BCB1-DC66-F1C6-910AD4121092}"/>
                  </a:ext>
                </a:extLst>
              </p:cNvPr>
              <p:cNvSpPr/>
              <p:nvPr/>
            </p:nvSpPr>
            <p:spPr>
              <a:xfrm>
                <a:off x="381001" y="4264963"/>
                <a:ext cx="676656" cy="676656"/>
              </a:xfrm>
              <a:prstGeom prst="ellipse">
                <a:avLst/>
              </a:prstGeom>
              <a:solidFill>
                <a:srgbClr val="F1E8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noProof="0" dirty="0"/>
              </a:p>
            </p:txBody>
          </p:sp>
          <p:pic>
            <p:nvPicPr>
              <p:cNvPr id="14" name="Segoe SVG chip" descr="Segoe SVG chip">
                <a:extLst>
                  <a:ext uri="{FF2B5EF4-FFF2-40B4-BE49-F238E27FC236}">
                    <a16:creationId xmlns:a16="http://schemas.microsoft.com/office/drawing/2014/main" id="{D6BB1122-04DB-D366-ACC6-9DCE7DF515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45593" y="4429555"/>
                <a:ext cx="347472" cy="347472"/>
              </a:xfrm>
              <a:prstGeom prst="rect">
                <a:avLst/>
              </a:prstGeom>
            </p:spPr>
          </p:pic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7026F85-6E98-D7B2-C291-B33B606B54E3}"/>
                  </a:ext>
                </a:extLst>
              </p:cNvPr>
              <p:cNvSpPr txBox="1"/>
              <p:nvPr/>
            </p:nvSpPr>
            <p:spPr>
              <a:xfrm>
                <a:off x="1185670" y="4152398"/>
                <a:ext cx="4392000" cy="732508"/>
              </a:xfrm>
              <a:prstGeom prst="rect">
                <a:avLst/>
              </a:prstGeom>
              <a:noFill/>
            </p:spPr>
            <p:txBody>
              <a:bodyPr wrap="square" lIns="45720" tIns="27432" rIns="45720" bIns="27432" anchor="t">
                <a:spAutoFit/>
              </a:bodyPr>
              <a:lstStyle/>
              <a:p>
                <a:pPr algn="l"/>
                <a:r>
                  <a:rPr lang="pt-BR" sz="1100" noProof="0" dirty="0">
                    <a:solidFill>
                      <a:srgbClr val="000000"/>
                    </a:solidFill>
                    <a:latin typeface="Graphik"/>
                  </a:rPr>
                  <a:t>A </a:t>
                </a:r>
                <a:r>
                  <a:rPr lang="pt-BR" sz="1100" b="1" noProof="0" dirty="0">
                    <a:solidFill>
                      <a:srgbClr val="000000"/>
                    </a:solidFill>
                    <a:latin typeface="Graphik"/>
                  </a:rPr>
                  <a:t>plataforma atual </a:t>
                </a:r>
                <a:r>
                  <a:rPr lang="pt-BR" sz="1100" noProof="0" dirty="0">
                    <a:solidFill>
                      <a:srgbClr val="000000"/>
                    </a:solidFill>
                    <a:latin typeface="Graphik"/>
                  </a:rPr>
                  <a:t>apresenta </a:t>
                </a:r>
                <a:r>
                  <a:rPr lang="pt-BR" sz="1100" b="1" noProof="0" dirty="0">
                    <a:solidFill>
                      <a:srgbClr val="000000"/>
                    </a:solidFill>
                    <a:latin typeface="Graphik"/>
                  </a:rPr>
                  <a:t>limitações estruturais e já causa problemas</a:t>
                </a:r>
                <a:r>
                  <a:rPr lang="pt-BR" sz="1100" noProof="0" dirty="0">
                    <a:solidFill>
                      <a:srgbClr val="000000"/>
                    </a:solidFill>
                    <a:latin typeface="Graphik"/>
                  </a:rPr>
                  <a:t>, com forte acoplamento entre canais, processos e fornecedores, baixa flexibilidade para lançamento de produtos e alto custo de manutenção e evolução</a:t>
                </a:r>
              </a:p>
            </p:txBody>
          </p:sp>
          <p:cxnSp>
            <p:nvCxnSpPr>
              <p:cNvPr id="16" name="Connector 6">
                <a:extLst>
                  <a:ext uri="{FF2B5EF4-FFF2-40B4-BE49-F238E27FC236}">
                    <a16:creationId xmlns:a16="http://schemas.microsoft.com/office/drawing/2014/main" id="{612D97C8-30DD-6851-5420-93D7E1083BD5}"/>
                  </a:ext>
                </a:extLst>
              </p:cNvPr>
              <p:cNvCxnSpPr/>
              <p:nvPr/>
            </p:nvCxnSpPr>
            <p:spPr>
              <a:xfrm>
                <a:off x="381000" y="1850947"/>
                <a:ext cx="5196669" cy="0"/>
              </a:xfrm>
              <a:prstGeom prst="line">
                <a:avLst/>
              </a:prstGeom>
              <a:ln w="12700">
                <a:solidFill>
                  <a:srgbClr val="222222"/>
                </a:solidFill>
                <a:prstDash val="solid"/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Connector 13">
                <a:extLst>
                  <a:ext uri="{FF2B5EF4-FFF2-40B4-BE49-F238E27FC236}">
                    <a16:creationId xmlns:a16="http://schemas.microsoft.com/office/drawing/2014/main" id="{AF879BE3-863D-5550-50A1-0ECC22576043}"/>
                  </a:ext>
                </a:extLst>
              </p:cNvPr>
              <p:cNvCxnSpPr/>
              <p:nvPr/>
            </p:nvCxnSpPr>
            <p:spPr>
              <a:xfrm>
                <a:off x="381000" y="2911651"/>
                <a:ext cx="5196669" cy="0"/>
              </a:xfrm>
              <a:prstGeom prst="line">
                <a:avLst/>
              </a:prstGeom>
              <a:ln w="8890">
                <a:solidFill>
                  <a:srgbClr val="E1E1E1"/>
                </a:solidFill>
                <a:prstDash val="solid"/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onnector 17">
                <a:extLst>
                  <a:ext uri="{FF2B5EF4-FFF2-40B4-BE49-F238E27FC236}">
                    <a16:creationId xmlns:a16="http://schemas.microsoft.com/office/drawing/2014/main" id="{F0B78EDA-3B77-F09B-564A-0292B0F80842}"/>
                  </a:ext>
                </a:extLst>
              </p:cNvPr>
              <p:cNvCxnSpPr/>
              <p:nvPr/>
            </p:nvCxnSpPr>
            <p:spPr>
              <a:xfrm>
                <a:off x="381000" y="4027219"/>
                <a:ext cx="5196669" cy="0"/>
              </a:xfrm>
              <a:prstGeom prst="line">
                <a:avLst/>
              </a:prstGeom>
              <a:ln w="8890">
                <a:solidFill>
                  <a:srgbClr val="E1E1E1"/>
                </a:solidFill>
                <a:prstDash val="solid"/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Connector 21">
                <a:extLst>
                  <a:ext uri="{FF2B5EF4-FFF2-40B4-BE49-F238E27FC236}">
                    <a16:creationId xmlns:a16="http://schemas.microsoft.com/office/drawing/2014/main" id="{C46DDEBA-CE75-E361-B76A-80F7295AD327}"/>
                  </a:ext>
                </a:extLst>
              </p:cNvPr>
              <p:cNvCxnSpPr/>
              <p:nvPr/>
            </p:nvCxnSpPr>
            <p:spPr>
              <a:xfrm>
                <a:off x="381000" y="5142787"/>
                <a:ext cx="5196669" cy="0"/>
              </a:xfrm>
              <a:prstGeom prst="line">
                <a:avLst/>
              </a:prstGeom>
              <a:ln w="8890">
                <a:solidFill>
                  <a:srgbClr val="E1E1E1"/>
                </a:solidFill>
                <a:prstDash val="solid"/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993DB13-E1D2-9D12-47F1-23E5E4AC9825}"/>
                  </a:ext>
                </a:extLst>
              </p:cNvPr>
              <p:cNvSpPr txBox="1"/>
              <p:nvPr/>
            </p:nvSpPr>
            <p:spPr>
              <a:xfrm>
                <a:off x="1185671" y="5398819"/>
                <a:ext cx="4392000" cy="732508"/>
              </a:xfrm>
              <a:prstGeom prst="rect">
                <a:avLst/>
              </a:prstGeom>
              <a:noFill/>
            </p:spPr>
            <p:txBody>
              <a:bodyPr wrap="square" lIns="45720" tIns="27432" rIns="45720" bIns="27432" anchor="t">
                <a:spAutoFit/>
              </a:bodyPr>
              <a:lstStyle/>
              <a:p>
                <a:pPr algn="l"/>
                <a:r>
                  <a:rPr lang="pt-BR" sz="1100" noProof="0" dirty="0">
                    <a:solidFill>
                      <a:srgbClr val="000000"/>
                    </a:solidFill>
                    <a:latin typeface="Graphik"/>
                  </a:rPr>
                  <a:t>A XP reconhece a necessidade de evoluir sua arquitetura de crédito para </a:t>
                </a:r>
                <a:r>
                  <a:rPr lang="pt-BR" sz="1100" b="1" noProof="0" dirty="0">
                    <a:solidFill>
                      <a:srgbClr val="000000"/>
                    </a:solidFill>
                    <a:latin typeface="Graphik"/>
                  </a:rPr>
                  <a:t>expandir portfolio de produtos</a:t>
                </a:r>
                <a:r>
                  <a:rPr lang="pt-BR" sz="1100" noProof="0" dirty="0">
                    <a:solidFill>
                      <a:srgbClr val="000000"/>
                    </a:solidFill>
                    <a:latin typeface="Graphik"/>
                  </a:rPr>
                  <a:t>, reduzir dependências, aumentar a reutilização de capacidades e</a:t>
                </a:r>
                <a:r>
                  <a:rPr lang="pt-BR" sz="1100" b="1" noProof="0" dirty="0">
                    <a:solidFill>
                      <a:srgbClr val="000000"/>
                    </a:solidFill>
                    <a:latin typeface="Graphik"/>
                  </a:rPr>
                  <a:t> escalar com mais eficiência</a:t>
                </a:r>
                <a:r>
                  <a:rPr lang="pt-BR" sz="1100" noProof="0" dirty="0">
                    <a:solidFill>
                      <a:srgbClr val="000000"/>
                    </a:solidFill>
                    <a:latin typeface="Graphik"/>
                  </a:rPr>
                  <a:t>, segurança e agilidade</a:t>
                </a:r>
              </a:p>
            </p:txBody>
          </p:sp>
          <p:pic>
            <p:nvPicPr>
              <p:cNvPr id="21" name="Graphic 20">
                <a:extLst>
                  <a:ext uri="{FF2B5EF4-FFF2-40B4-BE49-F238E27FC236}">
                    <a16:creationId xmlns:a16="http://schemas.microsoft.com/office/drawing/2014/main" id="{E678678E-D206-D3C7-B5B1-D87CCE853E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523650" y="3264840"/>
                <a:ext cx="409190" cy="40919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826183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266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Graphik</vt:lpstr>
      <vt:lpstr>Graphik Semibold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Graciotti, Brenno</dc:creator>
  <cp:lastModifiedBy>Graciotti, Brenno</cp:lastModifiedBy>
  <cp:revision>1</cp:revision>
  <dcterms:created xsi:type="dcterms:W3CDTF">2026-08-18T11:06:55Z</dcterms:created>
  <dcterms:modified xsi:type="dcterms:W3CDTF">2026-08-18T11:06:55Z</dcterms:modified>
</cp:coreProperties>
</file>