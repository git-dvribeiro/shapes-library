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79D9-5436-0464-9281-61E49D78E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7E5CB-DF05-218F-5C88-308A0F310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8F529-8878-98B2-DC1F-7862F304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C1C4B-28BA-8182-2F41-B57BECAB8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E4B7B-46E0-8F6A-5CD5-2F3F9511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40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A32D-8E65-8C96-AB02-F86FA64B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2590-8F82-CD45-ED65-F6D4627DB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BF0E8-37BF-0311-1930-51046333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10271-CAB7-01E1-4E32-8B306760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CCC05-DE7F-B10D-13EA-24FDBD69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38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D535-E377-E95F-789A-F263CF8D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E2C1F-243E-5D61-73AC-C5D79B810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3993B-1993-6D95-915F-BCF3DA4DF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88D96-ACCC-1624-9A88-49D5B82C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23DE6-FAD5-3F85-145A-83A47F0C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65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3325-A191-7962-3B5E-9B50AB6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1EF90-315A-BC10-6B6B-D8068F3EA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464A0-A486-2B58-0609-F6492AC99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E5782-1DAC-A61D-13FE-8DDB2E46F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6CB97-0C7B-FD91-B00C-CF76B8C25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649AF-83C4-F419-3196-85421F265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33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8AF2-4EAF-0FE6-0A4A-E68DDF5C1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00FB7-BCD1-45B9-4575-BB4D4938C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8385E-FD9A-03DB-333C-94E8E2255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39873-9819-E07D-D278-E160E661F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F0DEB-AF57-DD5B-5893-1BB3DC798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5A2C1-92E0-0517-FCE5-25EECEAF1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4D7C88-41FC-0338-A079-BDFB54A18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3C5E92-D812-0C9B-50AB-5FEBD44B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40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74D6-E0DD-81F4-9E0F-A5863A43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476CF-B9F3-6B97-DE83-298B0FD90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E05EB0-1C8A-E30F-2659-D768AF474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BA271-B37F-8854-8A53-504CE5A2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78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EB7BE9-7D20-09DA-3BA2-F42590DB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7C8D2-35F0-79A0-640D-8BCA03DA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63014-147E-C435-8463-9E208DF9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65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CF34-4159-1281-4589-749EB69A2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4EE39-9206-9697-7BA2-58D37551B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FBB60-3F7B-FCFA-7818-C1AB87E01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3F2F1-6938-5758-4451-53C3FCAF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3A457-D239-4E66-E851-3467F2FF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067D1-CCD2-7EAD-4EAF-81A447A6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71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4D2B-D96E-AB50-2840-83F26DEB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D544FC-6C97-76FB-E7D9-E258F095C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98DCF-5A03-BFCE-9415-CAFDA38C7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76EA4-F223-1F4E-AB3E-1400FAE9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1E4E1-FECD-5E9F-2720-CF8E358D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DEABE-8CB8-B3BA-2D1B-B9C10859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013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E2FE2-CC54-D393-5391-23A36C6C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EE8204-9E99-6F35-281A-1CC2D6E4B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AE949-0ABB-3459-138A-046BBE75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9E362-74F5-124C-20A0-7B2F090C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FF0DF-04DE-B665-7C97-03B39A18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15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32D26-1648-7F75-5EAC-0CC223584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8CF62-7BA1-DA8E-2518-E2F0BB8BC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5958-235F-BCEC-85CC-47EF0405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807A7-8384-5CB2-CA77-6AC18B3B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7E198-63F9-4876-3A56-54540DB1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484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7F99D-8E32-4891-8135-0C9D5B9B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FCA5D-F4EC-D701-CA92-4821CB3E2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C9289-4A1D-B19A-29CF-08B9FC05F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E24A54-0FC5-4B1A-B2DD-68A86B1D7E5C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882F2-17A3-F698-BCF5-F4D779CE5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520D7-5119-EBFB-2486-D7ED36BA8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CDDDB-5F7E-4AD5-A8CB-4CCF9811D5B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94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sv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67CC90-F8FE-F52A-3819-1ACAE15F0825}"/>
              </a:ext>
            </a:extLst>
          </p:cNvPr>
          <p:cNvGrpSpPr/>
          <p:nvPr/>
        </p:nvGrpSpPr>
        <p:grpSpPr>
          <a:xfrm>
            <a:off x="350679" y="1350818"/>
            <a:ext cx="11484571" cy="5043003"/>
            <a:chOff x="350679" y="1350818"/>
            <a:chExt cx="11484571" cy="504300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E87646-F7F8-11E2-B3C4-67B347964A38}"/>
                </a:ext>
              </a:extLst>
            </p:cNvPr>
            <p:cNvSpPr/>
            <p:nvPr/>
          </p:nvSpPr>
          <p:spPr>
            <a:xfrm>
              <a:off x="350681" y="1965821"/>
              <a:ext cx="1512000" cy="4428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AD9AEE-A1F6-EA8F-E4E1-13AAB5D2186F}"/>
                </a:ext>
              </a:extLst>
            </p:cNvPr>
            <p:cNvSpPr/>
            <p:nvPr/>
          </p:nvSpPr>
          <p:spPr>
            <a:xfrm rot="16200000">
              <a:off x="9537648" y="4096219"/>
              <a:ext cx="4428000" cy="16720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00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Valor capturado, reconciliado e sustentado no P&amp;L</a:t>
              </a:r>
              <a:endParaRPr kumimoji="0" lang="pt-BR" sz="1000" b="0" i="0" u="none" strike="noStrike" kern="0" cap="none" spc="0" normalizeH="0" baseline="0" noProof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314AA4-4A05-C0E1-6BF6-9E04D7C2D92A}"/>
                </a:ext>
              </a:extLst>
            </p:cNvPr>
            <p:cNvSpPr/>
            <p:nvPr/>
          </p:nvSpPr>
          <p:spPr>
            <a:xfrm>
              <a:off x="1942324" y="1965821"/>
              <a:ext cx="3168000" cy="4428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8D4DAF-D42E-95DE-CEE3-9826EDCF19EB}"/>
                </a:ext>
              </a:extLst>
            </p:cNvPr>
            <p:cNvSpPr/>
            <p:nvPr/>
          </p:nvSpPr>
          <p:spPr>
            <a:xfrm>
              <a:off x="5189967" y="1965821"/>
              <a:ext cx="3168000" cy="4428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219C63F-FCCC-99A3-3227-05D55AD03E43}"/>
                </a:ext>
              </a:extLst>
            </p:cNvPr>
            <p:cNvSpPr/>
            <p:nvPr/>
          </p:nvSpPr>
          <p:spPr>
            <a:xfrm>
              <a:off x="8437610" y="1965821"/>
              <a:ext cx="3168000" cy="4428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B7E3A2CE-4942-3593-CCD6-3F76B50DBC49}"/>
                </a:ext>
              </a:extLst>
            </p:cNvPr>
            <p:cNvSpPr/>
            <p:nvPr/>
          </p:nvSpPr>
          <p:spPr>
            <a:xfrm>
              <a:off x="5189966" y="1350818"/>
              <a:ext cx="3276000" cy="468000"/>
            </a:xfrm>
            <a:prstGeom prst="chevron">
              <a:avLst>
                <a:gd name="adj" fmla="val 18199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91440" bIns="91440" rtlCol="0" anchor="ctr"/>
            <a:lstStyle/>
            <a:p>
              <a:r>
                <a:rPr lang="pt-BR" sz="1200">
                  <a:latin typeface="Graphik Medium" panose="020B0603030202060203" pitchFamily="34" charset="0"/>
                </a:rPr>
                <a:t>2. Plano de captura</a:t>
              </a: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42B10934-30F4-4C58-1FA6-6019548426FB}"/>
                </a:ext>
              </a:extLst>
            </p:cNvPr>
            <p:cNvSpPr/>
            <p:nvPr/>
          </p:nvSpPr>
          <p:spPr>
            <a:xfrm>
              <a:off x="8437609" y="1350818"/>
              <a:ext cx="3276000" cy="468000"/>
            </a:xfrm>
            <a:prstGeom prst="chevron">
              <a:avLst>
                <a:gd name="adj" fmla="val 1819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91440" bIns="91440" rtlCol="0" anchor="ctr"/>
            <a:lstStyle/>
            <a:p>
              <a:r>
                <a:rPr lang="pt-BR" sz="1200">
                  <a:latin typeface="Graphik Medium" panose="020B0603030202060203" pitchFamily="34" charset="0"/>
                </a:rPr>
                <a:t>3. Gestão da captura</a:t>
              </a:r>
            </a:p>
          </p:txBody>
        </p:sp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C32E71A1-D452-6E32-995D-0DA06C75325B}"/>
                </a:ext>
              </a:extLst>
            </p:cNvPr>
            <p:cNvSpPr/>
            <p:nvPr/>
          </p:nvSpPr>
          <p:spPr>
            <a:xfrm>
              <a:off x="350680" y="1350818"/>
              <a:ext cx="1620000" cy="468000"/>
            </a:xfrm>
            <a:prstGeom prst="homePlate">
              <a:avLst>
                <a:gd name="adj" fmla="val 18199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91440" bIns="91440" rtlCol="0" anchor="ctr"/>
            <a:lstStyle/>
            <a:p>
              <a:r>
                <a:rPr lang="pt-BR" sz="1200">
                  <a:latin typeface="Graphik Medium" panose="020B0603030202060203" pitchFamily="34" charset="0"/>
                </a:rPr>
                <a:t>Setup do VMO</a:t>
              </a:r>
              <a:endParaRPr lang="pt-BR" sz="1100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3E90AC8D-8654-FEB2-E49A-0DFC65F9CE0D}"/>
                </a:ext>
              </a:extLst>
            </p:cNvPr>
            <p:cNvSpPr/>
            <p:nvPr/>
          </p:nvSpPr>
          <p:spPr>
            <a:xfrm>
              <a:off x="1942323" y="1350818"/>
              <a:ext cx="3276000" cy="468000"/>
            </a:xfrm>
            <a:prstGeom prst="chevron">
              <a:avLst>
                <a:gd name="adj" fmla="val 18199"/>
              </a:avLst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91440" bIns="91440" rtlCol="0" anchor="ctr"/>
            <a:lstStyle/>
            <a:p>
              <a:r>
                <a:rPr lang="pt-BR" sz="1200">
                  <a:latin typeface="Graphik Medium" panose="020B0603030202060203" pitchFamily="34" charset="0"/>
                </a:rPr>
                <a:t>1. Visibilidade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E2A2BA-C778-53BF-E179-474EE35A69B6}"/>
                </a:ext>
              </a:extLst>
            </p:cNvPr>
            <p:cNvSpPr/>
            <p:nvPr/>
          </p:nvSpPr>
          <p:spPr>
            <a:xfrm>
              <a:off x="523954" y="5423454"/>
              <a:ext cx="1224000" cy="792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324000" rIns="36000" bIns="36000" rtlCol="0" anchor="t"/>
            <a:lstStyle/>
            <a:p>
              <a:pPr marR="0" lvl="0" indent="0" defTabSz="228600" fontAlgn="auto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900"/>
                <a:t>Treinamento e capacitação dos times do BB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7349C6-6C41-9CF7-8935-69472C18929D}"/>
                </a:ext>
              </a:extLst>
            </p:cNvPr>
            <p:cNvSpPr/>
            <p:nvPr/>
          </p:nvSpPr>
          <p:spPr>
            <a:xfrm>
              <a:off x="523954" y="3539016"/>
              <a:ext cx="1224000" cy="792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324000" rIns="36000" bIns="36000" rtlCol="0" anchor="t"/>
            <a:lstStyle/>
            <a:p>
              <a:pPr marR="0" lvl="0" indent="0" defTabSz="228600" fontAlgn="auto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900"/>
                <a:t>Ferramental específico (ex.: Momentum)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C6BF365-A3E9-1252-CEBF-8440D4B0C365}"/>
                </a:ext>
              </a:extLst>
            </p:cNvPr>
            <p:cNvSpPr/>
            <p:nvPr/>
          </p:nvSpPr>
          <p:spPr>
            <a:xfrm>
              <a:off x="523954" y="4481235"/>
              <a:ext cx="1224000" cy="792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324000" rIns="36000" bIns="36000" rtlCol="0" anchor="t"/>
            <a:lstStyle/>
            <a:p>
              <a:pPr marR="0" lvl="0" indent="0" defTabSz="228600" fontAlgn="auto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900"/>
                <a:t>Fonte única de dados financeiros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11CFEE6-9BAA-5796-837B-DF022575731C}"/>
                </a:ext>
              </a:extLst>
            </p:cNvPr>
            <p:cNvSpPr/>
            <p:nvPr/>
          </p:nvSpPr>
          <p:spPr>
            <a:xfrm>
              <a:off x="523954" y="2596797"/>
              <a:ext cx="1224000" cy="792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324000" rIns="36000" bIns="36000" rtlCol="0" anchor="t"/>
            <a:lstStyle/>
            <a:p>
              <a:pPr marR="0" lvl="0" indent="0" defTabSz="228600" fontAlgn="auto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900"/>
                <a:t>Papéis, ritos e alçadas do VMO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A1EADC-DF16-02FC-CF42-3DEA7CAFACBC}"/>
                </a:ext>
              </a:extLst>
            </p:cNvPr>
            <p:cNvSpPr/>
            <p:nvPr/>
          </p:nvSpPr>
          <p:spPr>
            <a:xfrm>
              <a:off x="2086324" y="2110230"/>
              <a:ext cx="2880000" cy="2246434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72000" rIns="90000" bIns="36000" rtlCol="0" anchor="t"/>
            <a:lstStyle/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>
                  <a:ln>
                    <a:noFill/>
                  </a:ln>
                  <a:solidFill>
                    <a:srgbClr val="0A2463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rPr>
                <a:t>Imersão no negócio e árvore de valor do BB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777A591-998F-50B7-2F3F-3ECCD1BC836B}"/>
                </a:ext>
              </a:extLst>
            </p:cNvPr>
            <p:cNvSpPr txBox="1"/>
            <p:nvPr/>
          </p:nvSpPr>
          <p:spPr>
            <a:xfrm>
              <a:off x="2426300" y="2413059"/>
              <a:ext cx="1008000" cy="518091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200"/>
                </a:spcAft>
              </a:pPr>
              <a:r>
                <a:rPr lang="pt-BR" sz="800" noProof="0"/>
                <a:t>Censo das iniciativas das 6 frentes do BB</a:t>
              </a:r>
              <a:endParaRPr lang="pt-BR" sz="800"/>
            </a:p>
            <a:p>
              <a:pPr defTabSz="228600">
                <a:spcAft>
                  <a:spcPts val="200"/>
                </a:spcAft>
              </a:pPr>
              <a:r>
                <a:rPr lang="pt-BR" sz="800"/>
                <a:t>(novas / em curso)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A977F3-97D7-D3AC-0C4C-3B1EBE71CCE7}"/>
                </a:ext>
              </a:extLst>
            </p:cNvPr>
            <p:cNvSpPr txBox="1"/>
            <p:nvPr/>
          </p:nvSpPr>
          <p:spPr>
            <a:xfrm>
              <a:off x="3834348" y="2487439"/>
              <a:ext cx="1008000" cy="369332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 noProof="0"/>
                <a:t>Objetivos dos negócios e ambição do valor</a:t>
              </a:r>
            </a:p>
          </p:txBody>
        </p:sp>
        <p:sp>
          <p:nvSpPr>
            <p:cNvPr id="19" name="Plus Sign 18">
              <a:extLst>
                <a:ext uri="{FF2B5EF4-FFF2-40B4-BE49-F238E27FC236}">
                  <a16:creationId xmlns:a16="http://schemas.microsoft.com/office/drawing/2014/main" id="{2A5AEA60-D275-6D3E-02E8-33DDE360027A}"/>
                </a:ext>
              </a:extLst>
            </p:cNvPr>
            <p:cNvSpPr/>
            <p:nvPr/>
          </p:nvSpPr>
          <p:spPr>
            <a:xfrm>
              <a:off x="3404973" y="2619298"/>
              <a:ext cx="105612" cy="105612"/>
            </a:xfrm>
            <a:prstGeom prst="mathPlus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sz="1200" noProof="0"/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629A1178-8D67-510C-399C-CDD856D04728}"/>
                </a:ext>
              </a:extLst>
            </p:cNvPr>
            <p:cNvSpPr/>
            <p:nvPr/>
          </p:nvSpPr>
          <p:spPr>
            <a:xfrm rot="5400000">
              <a:off x="3447922" y="1732315"/>
              <a:ext cx="156803" cy="2632047"/>
            </a:xfrm>
            <a:prstGeom prst="rightBrace">
              <a:avLst>
                <a:gd name="adj1" fmla="val 36441"/>
                <a:gd name="adj2" fmla="val 86404"/>
              </a:avLst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noProof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277D6C-DC55-B876-44B9-70311007D0EC}"/>
                </a:ext>
              </a:extLst>
            </p:cNvPr>
            <p:cNvSpPr txBox="1"/>
            <p:nvPr/>
          </p:nvSpPr>
          <p:spPr>
            <a:xfrm>
              <a:off x="2210300" y="3265587"/>
              <a:ext cx="2632047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 noProof="0">
                  <a:latin typeface="+mj-lt"/>
                </a:rPr>
                <a:t>Árvore de drivers de valor conectada ao P&amp;L do BB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76ED0B8-08F0-F8AF-032F-677873B11415}"/>
                </a:ext>
              </a:extLst>
            </p:cNvPr>
            <p:cNvCxnSpPr>
              <a:cxnSpLocks/>
              <a:stCxn id="28" idx="3"/>
              <a:endCxn id="25" idx="1"/>
            </p:cNvCxnSpPr>
            <p:nvPr/>
          </p:nvCxnSpPr>
          <p:spPr>
            <a:xfrm flipV="1">
              <a:off x="2715695" y="3612601"/>
              <a:ext cx="144000" cy="239810"/>
            </a:xfrm>
            <a:prstGeom prst="line">
              <a:avLst/>
            </a:prstGeom>
            <a:ln w="9525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D884DD3-D88A-54A8-1BC7-633DC828609C}"/>
                </a:ext>
              </a:extLst>
            </p:cNvPr>
            <p:cNvCxnSpPr>
              <a:cxnSpLocks/>
              <a:stCxn id="28" idx="3"/>
              <a:endCxn id="26" idx="1"/>
            </p:cNvCxnSpPr>
            <p:nvPr/>
          </p:nvCxnSpPr>
          <p:spPr>
            <a:xfrm>
              <a:off x="2715695" y="3852411"/>
              <a:ext cx="144000" cy="0"/>
            </a:xfrm>
            <a:prstGeom prst="line">
              <a:avLst/>
            </a:prstGeom>
            <a:ln w="9525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05C1DC-9444-D20E-5729-ECC54DE4589C}"/>
                </a:ext>
              </a:extLst>
            </p:cNvPr>
            <p:cNvCxnSpPr>
              <a:cxnSpLocks/>
              <a:stCxn id="28" idx="3"/>
              <a:endCxn id="27" idx="1"/>
            </p:cNvCxnSpPr>
            <p:nvPr/>
          </p:nvCxnSpPr>
          <p:spPr>
            <a:xfrm>
              <a:off x="2715695" y="3852411"/>
              <a:ext cx="144000" cy="239810"/>
            </a:xfrm>
            <a:prstGeom prst="line">
              <a:avLst/>
            </a:prstGeom>
            <a:ln w="9525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E88E633-FE19-8FEE-06C2-A32C4BB2F339}"/>
                </a:ext>
              </a:extLst>
            </p:cNvPr>
            <p:cNvSpPr/>
            <p:nvPr/>
          </p:nvSpPr>
          <p:spPr>
            <a:xfrm>
              <a:off x="2859695" y="3522601"/>
              <a:ext cx="936000" cy="18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r>
                <a:rPr lang="pt-BR" sz="800"/>
                <a:t>Receitas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E128E9B-5151-970F-232F-3DA0D8528B2E}"/>
                </a:ext>
              </a:extLst>
            </p:cNvPr>
            <p:cNvSpPr/>
            <p:nvPr/>
          </p:nvSpPr>
          <p:spPr>
            <a:xfrm>
              <a:off x="2859695" y="3762411"/>
              <a:ext cx="936000" cy="18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r>
                <a:rPr lang="pt-BR" sz="800"/>
                <a:t>Custo de crédito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A8C069-C8BC-5BFA-D259-BF46E66AEBC3}"/>
                </a:ext>
              </a:extLst>
            </p:cNvPr>
            <p:cNvSpPr/>
            <p:nvPr/>
          </p:nvSpPr>
          <p:spPr>
            <a:xfrm>
              <a:off x="2859695" y="4002221"/>
              <a:ext cx="936000" cy="18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r>
                <a:rPr lang="pt-BR" sz="800"/>
                <a:t>...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E492A6B-1F61-462D-0252-3ED58E1E8267}"/>
                </a:ext>
              </a:extLst>
            </p:cNvPr>
            <p:cNvSpPr/>
            <p:nvPr/>
          </p:nvSpPr>
          <p:spPr>
            <a:xfrm>
              <a:off x="2211695" y="3762411"/>
              <a:ext cx="504000" cy="180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r>
                <a:rPr lang="pt-BR" sz="800"/>
                <a:t>Margem</a:t>
              </a:r>
            </a:p>
          </p:txBody>
        </p:sp>
        <p:sp>
          <p:nvSpPr>
            <p:cNvPr id="29" name="Rectangle 210">
              <a:extLst>
                <a:ext uri="{FF2B5EF4-FFF2-40B4-BE49-F238E27FC236}">
                  <a16:creationId xmlns:a16="http://schemas.microsoft.com/office/drawing/2014/main" id="{AD0CF70B-09A1-70F2-5218-A3750CF65D71}"/>
                </a:ext>
              </a:extLst>
            </p:cNvPr>
            <p:cNvSpPr/>
            <p:nvPr/>
          </p:nvSpPr>
          <p:spPr>
            <a:xfrm>
              <a:off x="3913009" y="3522601"/>
              <a:ext cx="936000" cy="144000"/>
            </a:xfrm>
            <a:prstGeom prst="roundRect">
              <a:avLst/>
            </a:prstGeom>
            <a:solidFill>
              <a:srgbClr val="D7DFFF"/>
            </a:solidFill>
            <a:ln w="63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r>
                <a:rPr lang="pt-BR" sz="700">
                  <a:solidFill>
                    <a:schemeClr val="accent3">
                      <a:lumMod val="50000"/>
                    </a:schemeClr>
                  </a:solidFill>
                </a:rPr>
                <a:t>Spreads</a:t>
              </a:r>
            </a:p>
          </p:txBody>
        </p:sp>
        <p:sp>
          <p:nvSpPr>
            <p:cNvPr id="30" name="Rectangle 211">
              <a:extLst>
                <a:ext uri="{FF2B5EF4-FFF2-40B4-BE49-F238E27FC236}">
                  <a16:creationId xmlns:a16="http://schemas.microsoft.com/office/drawing/2014/main" id="{A38A9F20-A49A-1B6E-D6D8-4CD196BE7254}"/>
                </a:ext>
              </a:extLst>
            </p:cNvPr>
            <p:cNvSpPr/>
            <p:nvPr/>
          </p:nvSpPr>
          <p:spPr>
            <a:xfrm>
              <a:off x="3913009" y="3694474"/>
              <a:ext cx="936000" cy="144000"/>
            </a:xfrm>
            <a:prstGeom prst="roundRect">
              <a:avLst/>
            </a:prstGeom>
            <a:solidFill>
              <a:srgbClr val="D7DFFF"/>
            </a:solidFill>
            <a:ln w="63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r>
                <a:rPr lang="pt-BR" sz="700">
                  <a:solidFill>
                    <a:schemeClr val="accent3">
                      <a:lumMod val="50000"/>
                    </a:schemeClr>
                  </a:solidFill>
                </a:rPr>
                <a:t>Volumes</a:t>
              </a:r>
            </a:p>
          </p:txBody>
        </p:sp>
        <p:sp>
          <p:nvSpPr>
            <p:cNvPr id="31" name="Rectangle 212">
              <a:extLst>
                <a:ext uri="{FF2B5EF4-FFF2-40B4-BE49-F238E27FC236}">
                  <a16:creationId xmlns:a16="http://schemas.microsoft.com/office/drawing/2014/main" id="{307A5BBB-11C4-C1DA-4444-DAAB67F6A3C9}"/>
                </a:ext>
              </a:extLst>
            </p:cNvPr>
            <p:cNvSpPr/>
            <p:nvPr/>
          </p:nvSpPr>
          <p:spPr>
            <a:xfrm>
              <a:off x="3913009" y="3866347"/>
              <a:ext cx="936000" cy="144000"/>
            </a:xfrm>
            <a:prstGeom prst="roundRect">
              <a:avLst/>
            </a:prstGeom>
            <a:solidFill>
              <a:srgbClr val="D7DFFF"/>
            </a:solidFill>
            <a:ln w="63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r>
                <a:rPr lang="pt-BR" sz="700">
                  <a:solidFill>
                    <a:schemeClr val="accent3">
                      <a:lumMod val="50000"/>
                    </a:schemeClr>
                  </a:solidFill>
                </a:rPr>
                <a:t>Inadimplência</a:t>
              </a:r>
            </a:p>
          </p:txBody>
        </p:sp>
        <p:sp>
          <p:nvSpPr>
            <p:cNvPr id="32" name="Rectangle 212">
              <a:extLst>
                <a:ext uri="{FF2B5EF4-FFF2-40B4-BE49-F238E27FC236}">
                  <a16:creationId xmlns:a16="http://schemas.microsoft.com/office/drawing/2014/main" id="{32FD641B-A137-C4F7-DCDF-066F02154B0C}"/>
                </a:ext>
              </a:extLst>
            </p:cNvPr>
            <p:cNvSpPr/>
            <p:nvPr/>
          </p:nvSpPr>
          <p:spPr>
            <a:xfrm>
              <a:off x="3913009" y="4038221"/>
              <a:ext cx="936000" cy="144000"/>
            </a:xfrm>
            <a:prstGeom prst="roundRect">
              <a:avLst/>
            </a:prstGeom>
            <a:solidFill>
              <a:srgbClr val="D7DFFF"/>
            </a:solidFill>
            <a:ln w="63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r>
                <a:rPr lang="pt-BR" sz="700">
                  <a:solidFill>
                    <a:schemeClr val="accent3">
                      <a:lumMod val="50000"/>
                    </a:schemeClr>
                  </a:solidFill>
                </a:rPr>
                <a:t>Recuperação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B0668AB-924F-F54A-DC77-EE2A1F1E0B12}"/>
                </a:ext>
              </a:extLst>
            </p:cNvPr>
            <p:cNvSpPr/>
            <p:nvPr/>
          </p:nvSpPr>
          <p:spPr>
            <a:xfrm>
              <a:off x="2086324" y="4503848"/>
              <a:ext cx="2880000" cy="916422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324000" rIns="1800000" bIns="36000" rtlCol="0" anchor="t"/>
            <a:lstStyle/>
            <a:p>
              <a:pPr marR="0" lvl="0" indent="0" defTabSz="228600" fontAlgn="auto">
                <a:lnSpc>
                  <a:spcPct val="100000"/>
                </a:lnSpc>
                <a:spcBef>
                  <a:spcPts val="30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900"/>
                <a:t>Potencial top-</a:t>
              </a:r>
              <a:r>
                <a:rPr lang="pt-BR" sz="900" err="1"/>
                <a:t>down</a:t>
              </a:r>
              <a:r>
                <a:rPr lang="pt-BR" sz="900"/>
                <a:t> baseado em benchmarks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DCF0001-563B-06C7-B7BC-8BE2C22BA385}"/>
                </a:ext>
              </a:extLst>
            </p:cNvPr>
            <p:cNvCxnSpPr>
              <a:cxnSpLocks/>
              <a:stCxn id="16" idx="2"/>
              <a:endCxn id="33" idx="0"/>
            </p:cNvCxnSpPr>
            <p:nvPr/>
          </p:nvCxnSpPr>
          <p:spPr>
            <a:xfrm>
              <a:off x="3526324" y="4356664"/>
              <a:ext cx="0" cy="147184"/>
            </a:xfrm>
            <a:prstGeom prst="straightConnector1">
              <a:avLst/>
            </a:prstGeom>
            <a:ln w="1270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36BBEDF-9FC6-08E9-A938-F763480A3B21}"/>
                </a:ext>
              </a:extLst>
            </p:cNvPr>
            <p:cNvSpPr/>
            <p:nvPr/>
          </p:nvSpPr>
          <p:spPr>
            <a:xfrm>
              <a:off x="2086324" y="5567454"/>
              <a:ext cx="2880000" cy="648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72000" rIns="90000" bIns="36000" rtlCol="0" anchor="t"/>
            <a:lstStyle/>
            <a:p>
              <a:pPr marL="2880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5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0A2463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47D1200-0F35-D26E-1FCB-876D952753FA}"/>
                </a:ext>
              </a:extLst>
            </p:cNvPr>
            <p:cNvCxnSpPr>
              <a:cxnSpLocks/>
              <a:stCxn id="33" idx="2"/>
              <a:endCxn id="35" idx="0"/>
            </p:cNvCxnSpPr>
            <p:nvPr/>
          </p:nvCxnSpPr>
          <p:spPr>
            <a:xfrm>
              <a:off x="3526324" y="5420270"/>
              <a:ext cx="0" cy="147184"/>
            </a:xfrm>
            <a:prstGeom prst="straightConnector1">
              <a:avLst/>
            </a:prstGeom>
            <a:ln w="1270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041C5CD-D0E0-9EC3-1879-C09C29C55255}"/>
                </a:ext>
              </a:extLst>
            </p:cNvPr>
            <p:cNvGrpSpPr/>
            <p:nvPr/>
          </p:nvGrpSpPr>
          <p:grpSpPr>
            <a:xfrm>
              <a:off x="3434299" y="4752830"/>
              <a:ext cx="510673" cy="578843"/>
              <a:chOff x="2966300" y="3516713"/>
              <a:chExt cx="936000" cy="659620"/>
            </a:xfrm>
            <a:solidFill>
              <a:schemeClr val="bg1"/>
            </a:solidFill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AF23C23D-C3B9-1138-DCB5-595E05DDEB02}"/>
                  </a:ext>
                </a:extLst>
              </p:cNvPr>
              <p:cNvSpPr/>
              <p:nvPr/>
            </p:nvSpPr>
            <p:spPr>
              <a:xfrm>
                <a:off x="2966300" y="3516713"/>
                <a:ext cx="936000" cy="18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ctr"/>
              <a:lstStyle/>
              <a:p>
                <a:r>
                  <a:rPr lang="pt-BR" sz="800">
                    <a:solidFill>
                      <a:schemeClr val="tx1"/>
                    </a:solidFill>
                  </a:rPr>
                  <a:t>Frente 1</a:t>
                </a: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E6925F39-4F79-BB49-B9FC-FF616DFEB9FE}"/>
                  </a:ext>
                </a:extLst>
              </p:cNvPr>
              <p:cNvSpPr/>
              <p:nvPr/>
            </p:nvSpPr>
            <p:spPr>
              <a:xfrm>
                <a:off x="2966300" y="3756523"/>
                <a:ext cx="936000" cy="18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ctr"/>
              <a:lstStyle/>
              <a:p>
                <a:r>
                  <a:rPr lang="pt-BR" sz="800">
                    <a:solidFill>
                      <a:schemeClr val="tx1"/>
                    </a:solidFill>
                  </a:rPr>
                  <a:t>Frente 2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11C7D523-8A48-E088-D6C4-56594D56390C}"/>
                  </a:ext>
                </a:extLst>
              </p:cNvPr>
              <p:cNvSpPr/>
              <p:nvPr/>
            </p:nvSpPr>
            <p:spPr>
              <a:xfrm>
                <a:off x="2966300" y="3996333"/>
                <a:ext cx="936000" cy="18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ctr"/>
              <a:lstStyle/>
              <a:p>
                <a:r>
                  <a:rPr lang="pt-BR" sz="800">
                    <a:solidFill>
                      <a:schemeClr val="tx1"/>
                    </a:solidFill>
                  </a:rPr>
                  <a:t>Frente n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3259244-4B4A-180E-EF05-7A0038614123}"/>
                </a:ext>
              </a:extLst>
            </p:cNvPr>
            <p:cNvGrpSpPr/>
            <p:nvPr/>
          </p:nvGrpSpPr>
          <p:grpSpPr>
            <a:xfrm>
              <a:off x="3994252" y="4752830"/>
              <a:ext cx="877467" cy="578843"/>
              <a:chOff x="3994252" y="4656460"/>
              <a:chExt cx="877467" cy="596033"/>
            </a:xfrm>
          </p:grpSpPr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31FF7A64-6C39-677B-977F-9BE93ED682AB}"/>
                  </a:ext>
                </a:extLst>
              </p:cNvPr>
              <p:cNvSpPr/>
              <p:nvPr/>
            </p:nvSpPr>
            <p:spPr>
              <a:xfrm>
                <a:off x="3994252" y="4656460"/>
                <a:ext cx="877467" cy="16264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ctr"/>
              <a:lstStyle/>
              <a:p>
                <a:r>
                  <a:rPr lang="pt-BR" sz="800">
                    <a:solidFill>
                      <a:schemeClr val="tx1"/>
                    </a:solidFill>
                  </a:rPr>
                  <a:t>R$ 100</a:t>
                </a: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69D3857D-FB11-ED55-6699-F2899F58ACF8}"/>
                  </a:ext>
                </a:extLst>
              </p:cNvPr>
              <p:cNvSpPr/>
              <p:nvPr/>
            </p:nvSpPr>
            <p:spPr>
              <a:xfrm>
                <a:off x="3994253" y="4873152"/>
                <a:ext cx="719987" cy="16264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ctr"/>
              <a:lstStyle/>
              <a:p>
                <a:r>
                  <a:rPr lang="pt-BR" sz="800">
                    <a:solidFill>
                      <a:schemeClr val="tx1"/>
                    </a:solidFill>
                  </a:rPr>
                  <a:t>R$ 75</a:t>
                </a: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3C2743C0-CC8C-4357-64D7-2F1C174845A9}"/>
                  </a:ext>
                </a:extLst>
              </p:cNvPr>
              <p:cNvSpPr/>
              <p:nvPr/>
            </p:nvSpPr>
            <p:spPr>
              <a:xfrm>
                <a:off x="3994253" y="5089845"/>
                <a:ext cx="854756" cy="16264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ctr"/>
              <a:lstStyle/>
              <a:p>
                <a:r>
                  <a:rPr lang="pt-BR" sz="800">
                    <a:solidFill>
                      <a:schemeClr val="tx1"/>
                    </a:solidFill>
                  </a:rPr>
                  <a:t>R$ 90</a:t>
                </a:r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8D7676D-79C1-098A-2EED-0C060885EE38}"/>
                </a:ext>
              </a:extLst>
            </p:cNvPr>
            <p:cNvCxnSpPr/>
            <p:nvPr/>
          </p:nvCxnSpPr>
          <p:spPr>
            <a:xfrm>
              <a:off x="3994252" y="4730340"/>
              <a:ext cx="0" cy="623820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53ECCC5-F684-A77F-DFC2-D106CF108817}"/>
                </a:ext>
              </a:extLst>
            </p:cNvPr>
            <p:cNvSpPr txBox="1"/>
            <p:nvPr/>
          </p:nvSpPr>
          <p:spPr>
            <a:xfrm>
              <a:off x="3994253" y="4569959"/>
              <a:ext cx="877466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 noProof="0">
                  <a:latin typeface="+mj-lt"/>
                </a:rPr>
                <a:t>Valor potencial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9669FB4-8A64-61F2-4C13-EF752495AEF6}"/>
                </a:ext>
              </a:extLst>
            </p:cNvPr>
            <p:cNvSpPr txBox="1"/>
            <p:nvPr/>
          </p:nvSpPr>
          <p:spPr>
            <a:xfrm>
              <a:off x="2426300" y="5706788"/>
              <a:ext cx="1008000" cy="369332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 noProof="0"/>
                <a:t>KPIs Leading e </a:t>
              </a:r>
              <a:r>
                <a:rPr lang="pt-BR" sz="800" noProof="0" err="1"/>
                <a:t>lagging</a:t>
              </a:r>
              <a:r>
                <a:rPr lang="pt-BR" sz="800" noProof="0"/>
                <a:t> por </a:t>
              </a:r>
              <a:r>
                <a:rPr lang="pt-BR" sz="800" noProof="0" err="1"/>
                <a:t>value</a:t>
              </a:r>
              <a:r>
                <a:rPr lang="pt-BR" sz="800" noProof="0"/>
                <a:t> driver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234A7C4-AD06-E4E6-424B-089DF9F67933}"/>
                </a:ext>
              </a:extLst>
            </p:cNvPr>
            <p:cNvSpPr txBox="1"/>
            <p:nvPr/>
          </p:nvSpPr>
          <p:spPr>
            <a:xfrm>
              <a:off x="3834348" y="5706789"/>
              <a:ext cx="1008000" cy="369332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 noProof="0"/>
                <a:t>Validação em workshop com as áreas do BB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49509DF-2809-BFF7-4B31-587A44CDB244}"/>
                </a:ext>
              </a:extLst>
            </p:cNvPr>
            <p:cNvSpPr/>
            <p:nvPr/>
          </p:nvSpPr>
          <p:spPr>
            <a:xfrm>
              <a:off x="5333967" y="2110230"/>
              <a:ext cx="2880000" cy="900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72000" rIns="90000" bIns="36000" rtlCol="0" anchor="t"/>
            <a:lstStyle/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>
                  <a:ln>
                    <a:noFill/>
                  </a:ln>
                  <a:solidFill>
                    <a:srgbClr val="0A2463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rPr>
                <a:t>Baseline definido e metas desdobradas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F3CFA0A-EB61-34CD-C0A0-8DAFC730ED16}"/>
                </a:ext>
              </a:extLst>
            </p:cNvPr>
            <p:cNvSpPr/>
            <p:nvPr/>
          </p:nvSpPr>
          <p:spPr>
            <a:xfrm>
              <a:off x="5333967" y="3190842"/>
              <a:ext cx="2880000" cy="2304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72000" rIns="90000" bIns="36000" rtlCol="0" anchor="t"/>
            <a:lstStyle/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>
                  <a:ln>
                    <a:noFill/>
                  </a:ln>
                  <a:solidFill>
                    <a:srgbClr val="0A2463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rPr>
                <a:t>Plano de captura de valor </a:t>
              </a:r>
              <a:r>
                <a:rPr kumimoji="0" lang="pt-BR" sz="900" b="1" i="0" u="none" strike="noStrike" kern="0" cap="none" spc="0" normalizeH="0" baseline="0" noProof="0" err="1">
                  <a:ln>
                    <a:noFill/>
                  </a:ln>
                  <a:solidFill>
                    <a:srgbClr val="0A2463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rPr>
                <a:t>bottom-up</a:t>
              </a:r>
              <a:endParaRPr kumimoji="0" lang="pt-BR" sz="900" b="1" i="0" u="none" strike="noStrike" kern="0" cap="none" spc="0" normalizeH="0" baseline="0" noProof="0">
                <a:ln>
                  <a:noFill/>
                </a:ln>
                <a:solidFill>
                  <a:srgbClr val="0A2463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41424D1-D51C-A9E9-5EE5-0D5B34FE7057}"/>
                </a:ext>
              </a:extLst>
            </p:cNvPr>
            <p:cNvSpPr/>
            <p:nvPr/>
          </p:nvSpPr>
          <p:spPr>
            <a:xfrm>
              <a:off x="5333967" y="5675454"/>
              <a:ext cx="2880000" cy="540000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72000" rIns="90000" bIns="36000" rtlCol="0" anchor="t"/>
            <a:lstStyle/>
            <a:p>
              <a:pPr marL="28800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5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0A2463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928CD2A-DBC5-89E9-CC15-95C2233BD515}"/>
                </a:ext>
              </a:extLst>
            </p:cNvPr>
            <p:cNvCxnSpPr>
              <a:cxnSpLocks/>
              <a:stCxn id="43" idx="2"/>
              <a:endCxn id="44" idx="0"/>
            </p:cNvCxnSpPr>
            <p:nvPr/>
          </p:nvCxnSpPr>
          <p:spPr>
            <a:xfrm>
              <a:off x="6773967" y="3010230"/>
              <a:ext cx="0" cy="180612"/>
            </a:xfrm>
            <a:prstGeom prst="straightConnector1">
              <a:avLst/>
            </a:prstGeom>
            <a:ln w="1270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B5F2E08-0055-B332-8169-9C88AB206557}"/>
                </a:ext>
              </a:extLst>
            </p:cNvPr>
            <p:cNvCxnSpPr>
              <a:cxnSpLocks/>
              <a:stCxn id="44" idx="2"/>
              <a:endCxn id="45" idx="0"/>
            </p:cNvCxnSpPr>
            <p:nvPr/>
          </p:nvCxnSpPr>
          <p:spPr>
            <a:xfrm>
              <a:off x="6773967" y="5494842"/>
              <a:ext cx="0" cy="180612"/>
            </a:xfrm>
            <a:prstGeom prst="straightConnector1">
              <a:avLst/>
            </a:prstGeom>
            <a:ln w="1270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823C9AC-F78C-D03E-8AD8-56648456A542}"/>
                </a:ext>
              </a:extLst>
            </p:cNvPr>
            <p:cNvSpPr txBox="1"/>
            <p:nvPr/>
          </p:nvSpPr>
          <p:spPr>
            <a:xfrm>
              <a:off x="5673943" y="2487438"/>
              <a:ext cx="1008000" cy="369332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 noProof="0"/>
                <a:t>Baseline de cada KPI com controladoria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EA8E824-BC14-B89C-62F6-8C0BD47171D2}"/>
                </a:ext>
              </a:extLst>
            </p:cNvPr>
            <p:cNvSpPr txBox="1"/>
            <p:nvPr/>
          </p:nvSpPr>
          <p:spPr>
            <a:xfrm>
              <a:off x="7081991" y="2548994"/>
              <a:ext cx="1008000" cy="246221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 noProof="0"/>
                <a:t>Metas de melhoria e benefício por KPI</a:t>
              </a:r>
            </a:p>
          </p:txBody>
        </p:sp>
        <p:cxnSp>
          <p:nvCxnSpPr>
            <p:cNvPr id="50" name="Straight Arrow Connector 69">
              <a:extLst>
                <a:ext uri="{FF2B5EF4-FFF2-40B4-BE49-F238E27FC236}">
                  <a16:creationId xmlns:a16="http://schemas.microsoft.com/office/drawing/2014/main" id="{4EEE8491-D552-FAE0-C93C-9E53E7C8D422}"/>
                </a:ext>
              </a:extLst>
            </p:cNvPr>
            <p:cNvCxnSpPr>
              <a:cxnSpLocks/>
              <a:stCxn id="35" idx="3"/>
              <a:endCxn id="43" idx="1"/>
            </p:cNvCxnSpPr>
            <p:nvPr/>
          </p:nvCxnSpPr>
          <p:spPr>
            <a:xfrm flipV="1">
              <a:off x="4966324" y="2560230"/>
              <a:ext cx="367643" cy="333122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A03E8BE-EB51-5172-5A2A-1C93AF533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2278" y="4441829"/>
              <a:ext cx="0" cy="897167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951B8936-6F44-C1CB-5A00-A5F2A31CA274}"/>
                </a:ext>
              </a:extLst>
            </p:cNvPr>
            <p:cNvCxnSpPr>
              <a:cxnSpLocks/>
            </p:cNvCxnSpPr>
            <p:nvPr/>
          </p:nvCxnSpPr>
          <p:spPr>
            <a:xfrm>
              <a:off x="7142278" y="5338706"/>
              <a:ext cx="958106" cy="0"/>
            </a:xfrm>
            <a:prstGeom prst="straightConnector1">
              <a:avLst/>
            </a:prstGeom>
            <a:ln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D675FE5-D744-0A8A-280C-2B616BA5B2C6}"/>
                </a:ext>
              </a:extLst>
            </p:cNvPr>
            <p:cNvSpPr txBox="1"/>
            <p:nvPr/>
          </p:nvSpPr>
          <p:spPr>
            <a:xfrm>
              <a:off x="7265619" y="5284789"/>
              <a:ext cx="584558" cy="108362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pt-BR" sz="700">
                  <a:solidFill>
                    <a:schemeClr val="bg2">
                      <a:lumMod val="25000"/>
                    </a:schemeClr>
                  </a:solidFill>
                </a:rPr>
                <a:t>Facilidade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A754B05-A011-DB0C-6276-471206EB0263}"/>
                </a:ext>
              </a:extLst>
            </p:cNvPr>
            <p:cNvSpPr txBox="1"/>
            <p:nvPr/>
          </p:nvSpPr>
          <p:spPr>
            <a:xfrm rot="16200000">
              <a:off x="6896575" y="4852309"/>
              <a:ext cx="491404" cy="108362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pt-BR" sz="700">
                  <a:solidFill>
                    <a:schemeClr val="bg2">
                      <a:lumMod val="25000"/>
                    </a:schemeClr>
                  </a:solidFill>
                </a:rPr>
                <a:t>Benefícios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4FC1940-6AB4-0B2A-08ED-08D14F9BFFA8}"/>
                </a:ext>
              </a:extLst>
            </p:cNvPr>
            <p:cNvSpPr/>
            <p:nvPr/>
          </p:nvSpPr>
          <p:spPr>
            <a:xfrm>
              <a:off x="7231618" y="4528861"/>
              <a:ext cx="235873" cy="235873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6023F73-AB8E-F72B-4FAF-B3B03462C4CE}"/>
                </a:ext>
              </a:extLst>
            </p:cNvPr>
            <p:cNvSpPr/>
            <p:nvPr/>
          </p:nvSpPr>
          <p:spPr>
            <a:xfrm>
              <a:off x="7231618" y="4780935"/>
              <a:ext cx="235873" cy="235873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B14353F-0F38-FBD4-FE94-995FF69CB582}"/>
                </a:ext>
              </a:extLst>
            </p:cNvPr>
            <p:cNvSpPr/>
            <p:nvPr/>
          </p:nvSpPr>
          <p:spPr>
            <a:xfrm>
              <a:off x="7231618" y="5033009"/>
              <a:ext cx="235873" cy="235873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9D9F66A-7D96-540C-3A79-8F3482F8BAF8}"/>
                </a:ext>
              </a:extLst>
            </p:cNvPr>
            <p:cNvSpPr/>
            <p:nvPr/>
          </p:nvSpPr>
          <p:spPr>
            <a:xfrm>
              <a:off x="7487148" y="4528861"/>
              <a:ext cx="235873" cy="235873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A426F31-9F68-5EF4-C199-4C5BCAF63B94}"/>
                </a:ext>
              </a:extLst>
            </p:cNvPr>
            <p:cNvSpPr/>
            <p:nvPr/>
          </p:nvSpPr>
          <p:spPr>
            <a:xfrm>
              <a:off x="7487148" y="4780935"/>
              <a:ext cx="235873" cy="235873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92F6088-B07E-FEEB-B263-D6DA6CE83869}"/>
                </a:ext>
              </a:extLst>
            </p:cNvPr>
            <p:cNvSpPr/>
            <p:nvPr/>
          </p:nvSpPr>
          <p:spPr>
            <a:xfrm>
              <a:off x="7487148" y="5033009"/>
              <a:ext cx="235873" cy="235873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E9AE57D-459D-0C73-CFB5-98A1C5AC0D99}"/>
                </a:ext>
              </a:extLst>
            </p:cNvPr>
            <p:cNvGrpSpPr/>
            <p:nvPr/>
          </p:nvGrpSpPr>
          <p:grpSpPr>
            <a:xfrm>
              <a:off x="7742677" y="4528861"/>
              <a:ext cx="235873" cy="740021"/>
              <a:chOff x="5730236" y="2365122"/>
              <a:chExt cx="438910" cy="1377022"/>
            </a:xfrm>
            <a:solidFill>
              <a:srgbClr val="F2F2F2"/>
            </a:solidFill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DEB67CC-3571-3BE2-A93C-BDFD6CB026BE}"/>
                  </a:ext>
                </a:extLst>
              </p:cNvPr>
              <p:cNvSpPr/>
              <p:nvPr/>
            </p:nvSpPr>
            <p:spPr>
              <a:xfrm>
                <a:off x="5730236" y="2365122"/>
                <a:ext cx="438910" cy="438910"/>
              </a:xfrm>
              <a:prstGeom prst="rect">
                <a:avLst/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4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E90894E3-98D4-82BC-BF38-7EA1C693BDD7}"/>
                  </a:ext>
                </a:extLst>
              </p:cNvPr>
              <p:cNvSpPr/>
              <p:nvPr/>
            </p:nvSpPr>
            <p:spPr>
              <a:xfrm>
                <a:off x="5730236" y="2834178"/>
                <a:ext cx="438910" cy="438910"/>
              </a:xfrm>
              <a:prstGeom prst="rect">
                <a:avLst/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4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FF4836BB-D943-7BC1-D2D7-AB9AC5133492}"/>
                  </a:ext>
                </a:extLst>
              </p:cNvPr>
              <p:cNvSpPr/>
              <p:nvPr/>
            </p:nvSpPr>
            <p:spPr>
              <a:xfrm>
                <a:off x="5730236" y="3303234"/>
                <a:ext cx="438910" cy="438910"/>
              </a:xfrm>
              <a:prstGeom prst="rect">
                <a:avLst/>
              </a:prstGeom>
              <a:grp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2" name="Star: 5 Points 61">
              <a:extLst>
                <a:ext uri="{FF2B5EF4-FFF2-40B4-BE49-F238E27FC236}">
                  <a16:creationId xmlns:a16="http://schemas.microsoft.com/office/drawing/2014/main" id="{F65C4A4E-1FF1-979D-1187-22D04031DD9A}"/>
                </a:ext>
              </a:extLst>
            </p:cNvPr>
            <p:cNvSpPr/>
            <p:nvPr/>
          </p:nvSpPr>
          <p:spPr>
            <a:xfrm>
              <a:off x="7816606" y="4523089"/>
              <a:ext cx="149452" cy="149452"/>
            </a:xfrm>
            <a:prstGeom prst="star5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BE8A9AF-4311-5805-FCCC-BEA076EA1557}"/>
                </a:ext>
              </a:extLst>
            </p:cNvPr>
            <p:cNvSpPr/>
            <p:nvPr/>
          </p:nvSpPr>
          <p:spPr>
            <a:xfrm>
              <a:off x="7573568" y="4871109"/>
              <a:ext cx="77473" cy="77473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ACE7837-C8D9-7BFD-30AF-089A3A8A8C8E}"/>
                </a:ext>
              </a:extLst>
            </p:cNvPr>
            <p:cNvSpPr/>
            <p:nvPr/>
          </p:nvSpPr>
          <p:spPr>
            <a:xfrm>
              <a:off x="7357448" y="5073400"/>
              <a:ext cx="77473" cy="7747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D30EAB1-87DC-9AA4-FCF0-F0DE548D1B00}"/>
                </a:ext>
              </a:extLst>
            </p:cNvPr>
            <p:cNvSpPr txBox="1"/>
            <p:nvPr/>
          </p:nvSpPr>
          <p:spPr>
            <a:xfrm>
              <a:off x="7231240" y="4428139"/>
              <a:ext cx="360676" cy="92333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r>
                <a:rPr lang="pt-BR" sz="600" i="1">
                  <a:solidFill>
                    <a:schemeClr val="bg1">
                      <a:lumMod val="50000"/>
                    </a:schemeClr>
                  </a:solidFill>
                </a:rPr>
                <a:t>ilustrativo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F7B56E6-2B85-F76A-E070-A37558CEADFA}"/>
                </a:ext>
              </a:extLst>
            </p:cNvPr>
            <p:cNvSpPr/>
            <p:nvPr/>
          </p:nvSpPr>
          <p:spPr>
            <a:xfrm>
              <a:off x="7438582" y="4663201"/>
              <a:ext cx="77473" cy="77473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C415BFB-ECE7-9ACE-2BA4-CD894A154566}"/>
                </a:ext>
              </a:extLst>
            </p:cNvPr>
            <p:cNvSpPr/>
            <p:nvPr/>
          </p:nvSpPr>
          <p:spPr>
            <a:xfrm>
              <a:off x="7580758" y="5168594"/>
              <a:ext cx="77473" cy="7747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44D825A-E7A6-1B9A-45DD-5D6CECB8B825}"/>
                </a:ext>
              </a:extLst>
            </p:cNvPr>
            <p:cNvSpPr/>
            <p:nvPr/>
          </p:nvSpPr>
          <p:spPr>
            <a:xfrm>
              <a:off x="7637526" y="4681700"/>
              <a:ext cx="77473" cy="77473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100704B-26AA-CD76-61D0-CF88F79B370C}"/>
                </a:ext>
              </a:extLst>
            </p:cNvPr>
            <p:cNvSpPr/>
            <p:nvPr/>
          </p:nvSpPr>
          <p:spPr>
            <a:xfrm>
              <a:off x="7891332" y="4727247"/>
              <a:ext cx="77473" cy="77473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6E7FE08-226C-2815-BDC4-84B38059BD3E}"/>
                </a:ext>
              </a:extLst>
            </p:cNvPr>
            <p:cNvSpPr/>
            <p:nvPr/>
          </p:nvSpPr>
          <p:spPr>
            <a:xfrm>
              <a:off x="7772295" y="5081434"/>
              <a:ext cx="77473" cy="77473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CDEE405-EB2C-B9AE-0C1B-AE3447AAFC01}"/>
                </a:ext>
              </a:extLst>
            </p:cNvPr>
            <p:cNvSpPr/>
            <p:nvPr/>
          </p:nvSpPr>
          <p:spPr>
            <a:xfrm>
              <a:off x="7311583" y="4578764"/>
              <a:ext cx="77473" cy="77473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400" b="1">
                <a:solidFill>
                  <a:schemeClr val="bg1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6B5FF1E-F701-42AD-9BA8-426840CDA66B}"/>
                </a:ext>
              </a:extLst>
            </p:cNvPr>
            <p:cNvSpPr txBox="1"/>
            <p:nvPr/>
          </p:nvSpPr>
          <p:spPr>
            <a:xfrm>
              <a:off x="5673941" y="3534336"/>
              <a:ext cx="2412000" cy="218008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00"/>
                </a:spcAft>
              </a:pPr>
              <a:r>
                <a:rPr lang="pt-BR" sz="800" noProof="0"/>
                <a:t>Business case </a:t>
              </a:r>
              <a:r>
                <a:rPr lang="pt-BR" sz="800" noProof="0" err="1"/>
                <a:t>bottom-up</a:t>
              </a:r>
              <a:r>
                <a:rPr lang="pt-BR" sz="800"/>
                <a:t> por frente do BB</a:t>
              </a:r>
            </a:p>
            <a:p>
              <a:pPr defTabSz="228600">
                <a:spcAft>
                  <a:spcPts val="100"/>
                </a:spcAft>
              </a:pPr>
              <a:r>
                <a:rPr lang="pt-BR" sz="800" baseline="-25000"/>
                <a:t>(benefícios e custos)</a:t>
              </a:r>
              <a:endParaRPr lang="pt-BR" sz="800" baseline="-25000" noProof="0"/>
            </a:p>
          </p:txBody>
        </p:sp>
        <p:sp>
          <p:nvSpPr>
            <p:cNvPr id="73" name="Retângulo 5">
              <a:extLst>
                <a:ext uri="{FF2B5EF4-FFF2-40B4-BE49-F238E27FC236}">
                  <a16:creationId xmlns:a16="http://schemas.microsoft.com/office/drawing/2014/main" id="{B763A254-D5F4-03E0-34BA-28A9036107D6}"/>
                </a:ext>
              </a:extLst>
            </p:cNvPr>
            <p:cNvSpPr/>
            <p:nvPr/>
          </p:nvSpPr>
          <p:spPr>
            <a:xfrm>
              <a:off x="350680" y="1350818"/>
              <a:ext cx="8397080" cy="4571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1200" err="1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C2E6D30-84B2-F58F-AEBA-1C9B3D87B5E9}"/>
                </a:ext>
              </a:extLst>
            </p:cNvPr>
            <p:cNvSpPr/>
            <p:nvPr/>
          </p:nvSpPr>
          <p:spPr>
            <a:xfrm>
              <a:off x="8581610" y="5198943"/>
              <a:ext cx="2880000" cy="1016511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72000" rIns="90000" bIns="36000" rtlCol="0" anchor="t"/>
            <a:lstStyle/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>
                  <a:ln>
                    <a:noFill/>
                  </a:ln>
                  <a:solidFill>
                    <a:srgbClr val="0A2463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rPr>
                <a:t>Comunicação, alinhamento e tomada de decisões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182B773-AD22-67E8-92D9-788D7DA4F4AD}"/>
                </a:ext>
              </a:extLst>
            </p:cNvPr>
            <p:cNvSpPr/>
            <p:nvPr/>
          </p:nvSpPr>
          <p:spPr>
            <a:xfrm>
              <a:off x="8581610" y="2110230"/>
              <a:ext cx="2880000" cy="2910346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90000" tIns="72000" rIns="90000" bIns="36000" rtlCol="0" anchor="t"/>
            <a:lstStyle/>
            <a:p>
              <a:pPr marL="0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7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>
                  <a:ln>
                    <a:noFill/>
                  </a:ln>
                  <a:solidFill>
                    <a:srgbClr val="0A2463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rPr>
                <a:t>Monitoramento intensivo da execução e captura de valor </a:t>
              </a:r>
              <a:r>
                <a:rPr kumimoji="0" lang="pt-BR" sz="900" i="0" u="none" strike="noStrike" kern="0" cap="none" spc="0" normalizeH="0" baseline="0" noProof="0">
                  <a:ln>
                    <a:noFill/>
                  </a:ln>
                  <a:solidFill>
                    <a:srgbClr val="0A2463"/>
                  </a:solidFill>
                  <a:effectLst/>
                  <a:uLnTx/>
                  <a:uFillTx/>
                  <a:latin typeface="Graphik"/>
                  <a:ea typeface="+mn-ea"/>
                  <a:cs typeface="Arial" charset="0"/>
                </a:rPr>
                <a:t>(lado a </a:t>
              </a:r>
              <a:r>
                <a:rPr lang="pt-BR" sz="900" kern="0">
                  <a:solidFill>
                    <a:srgbClr val="0A2463"/>
                  </a:solidFill>
                  <a:latin typeface="Graphik"/>
                  <a:cs typeface="Arial" charset="0"/>
                </a:rPr>
                <a:t>lado)</a:t>
              </a:r>
              <a:endParaRPr kumimoji="0" lang="pt-BR" sz="900" i="0" u="none" strike="noStrike" kern="0" cap="none" spc="0" normalizeH="0" baseline="0" noProof="0">
                <a:ln>
                  <a:noFill/>
                </a:ln>
                <a:solidFill>
                  <a:srgbClr val="0A2463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endParaRP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04F4D37-F917-41B8-1CC3-4FEB50D29885}"/>
                </a:ext>
              </a:extLst>
            </p:cNvPr>
            <p:cNvCxnSpPr>
              <a:cxnSpLocks/>
              <a:stCxn id="75" idx="2"/>
              <a:endCxn id="74" idx="0"/>
            </p:cNvCxnSpPr>
            <p:nvPr/>
          </p:nvCxnSpPr>
          <p:spPr>
            <a:xfrm>
              <a:off x="10021610" y="5020576"/>
              <a:ext cx="0" cy="178367"/>
            </a:xfrm>
            <a:prstGeom prst="straightConnector1">
              <a:avLst/>
            </a:prstGeom>
            <a:ln w="1270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ight Brace 76">
              <a:extLst>
                <a:ext uri="{FF2B5EF4-FFF2-40B4-BE49-F238E27FC236}">
                  <a16:creationId xmlns:a16="http://schemas.microsoft.com/office/drawing/2014/main" id="{E5EEB02D-F833-1A76-D4D0-F6C2A8804120}"/>
                </a:ext>
              </a:extLst>
            </p:cNvPr>
            <p:cNvSpPr/>
            <p:nvPr/>
          </p:nvSpPr>
          <p:spPr>
            <a:xfrm rot="5400000">
              <a:off x="6693541" y="2618027"/>
              <a:ext cx="156803" cy="2632047"/>
            </a:xfrm>
            <a:prstGeom prst="rightBrace">
              <a:avLst>
                <a:gd name="adj1" fmla="val 36441"/>
                <a:gd name="adj2" fmla="val 86404"/>
              </a:avLst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noProof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E8390E4-9C14-FACB-AEDC-39EB3CD28DFE}"/>
                </a:ext>
              </a:extLst>
            </p:cNvPr>
            <p:cNvSpPr txBox="1"/>
            <p:nvPr/>
          </p:nvSpPr>
          <p:spPr>
            <a:xfrm>
              <a:off x="5673941" y="4105622"/>
              <a:ext cx="2412000" cy="123111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00"/>
                </a:spcAft>
              </a:pPr>
              <a:r>
                <a:rPr lang="pt-BR" sz="800" noProof="0"/>
                <a:t>Benefícios por onda – VPL, ROI, </a:t>
              </a:r>
              <a:r>
                <a:rPr lang="pt-BR" sz="800" noProof="0" err="1"/>
                <a:t>payback</a:t>
              </a:r>
              <a:r>
                <a:rPr lang="pt-BR" sz="800" noProof="0"/>
                <a:t> etc.</a:t>
              </a:r>
              <a:endParaRPr lang="pt-BR" sz="800" baseline="-25000" noProof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FD0F343-9E98-5E1E-656D-F781A06AAE0B}"/>
                </a:ext>
              </a:extLst>
            </p:cNvPr>
            <p:cNvSpPr/>
            <p:nvPr/>
          </p:nvSpPr>
          <p:spPr>
            <a:xfrm rot="16200000">
              <a:off x="5611870" y="5216390"/>
              <a:ext cx="53369" cy="1901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endParaRPr lang="pt-BR" sz="800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06324AC-B166-EF93-79B0-7D936914846B}"/>
                </a:ext>
              </a:extLst>
            </p:cNvPr>
            <p:cNvSpPr/>
            <p:nvPr/>
          </p:nvSpPr>
          <p:spPr>
            <a:xfrm rot="16200000">
              <a:off x="5813758" y="5150091"/>
              <a:ext cx="185963" cy="1901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endParaRPr lang="pt-BR" sz="800">
                <a:solidFill>
                  <a:schemeClr val="tx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1C21BA5-C030-F702-5852-E965930F968B}"/>
                </a:ext>
              </a:extLst>
            </p:cNvPr>
            <p:cNvSpPr/>
            <p:nvPr/>
          </p:nvSpPr>
          <p:spPr>
            <a:xfrm rot="16200000">
              <a:off x="5997845" y="5065993"/>
              <a:ext cx="354159" cy="1901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endParaRPr lang="pt-BR" sz="80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DF7257F-3C95-2B1C-7CEE-C2C583972675}"/>
                </a:ext>
              </a:extLst>
            </p:cNvPr>
            <p:cNvSpPr/>
            <p:nvPr/>
          </p:nvSpPr>
          <p:spPr>
            <a:xfrm rot="16200000">
              <a:off x="6204298" y="5004265"/>
              <a:ext cx="477614" cy="1901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endParaRPr lang="pt-BR" sz="80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A764C6D-ECE5-72EC-175E-9944A2893740}"/>
                </a:ext>
              </a:extLst>
            </p:cNvPr>
            <p:cNvSpPr/>
            <p:nvPr/>
          </p:nvSpPr>
          <p:spPr>
            <a:xfrm rot="16200000">
              <a:off x="6382949" y="4914731"/>
              <a:ext cx="656685" cy="1901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endParaRPr lang="pt-BR" sz="800">
                <a:solidFill>
                  <a:schemeClr val="tx1"/>
                </a:solidFill>
              </a:endParaRP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35F916B-41FE-2227-D015-E9003E8770D4}"/>
                </a:ext>
              </a:extLst>
            </p:cNvPr>
            <p:cNvCxnSpPr/>
            <p:nvPr/>
          </p:nvCxnSpPr>
          <p:spPr>
            <a:xfrm rot="16200000">
              <a:off x="6186713" y="4644927"/>
              <a:ext cx="0" cy="1386456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5E2772F-50BA-26C7-1CF6-12FD2B36E0CA}"/>
                </a:ext>
              </a:extLst>
            </p:cNvPr>
            <p:cNvSpPr txBox="1"/>
            <p:nvPr/>
          </p:nvSpPr>
          <p:spPr>
            <a:xfrm>
              <a:off x="5673943" y="5760789"/>
              <a:ext cx="792000" cy="369332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/>
                <a:t>Reconciliação </a:t>
              </a:r>
              <a:r>
                <a:rPr lang="pt-BR" sz="800" err="1"/>
                <a:t>bottom-up</a:t>
              </a:r>
              <a:r>
                <a:rPr lang="pt-BR" sz="800"/>
                <a:t> x top-</a:t>
              </a:r>
              <a:r>
                <a:rPr lang="pt-BR" sz="800" err="1"/>
                <a:t>down</a:t>
              </a:r>
              <a:endParaRPr lang="pt-BR" sz="800" noProof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88F898E-AD3D-63B5-1817-18038A2F154E}"/>
                </a:ext>
              </a:extLst>
            </p:cNvPr>
            <p:cNvSpPr txBox="1"/>
            <p:nvPr/>
          </p:nvSpPr>
          <p:spPr>
            <a:xfrm>
              <a:off x="6937990" y="5699234"/>
              <a:ext cx="1152000" cy="492443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 noProof="0"/>
                <a:t>Benefícios por onda e compromisso dos donos de frentes</a:t>
              </a:r>
            </a:p>
          </p:txBody>
        </p:sp>
        <p:sp>
          <p:nvSpPr>
            <p:cNvPr id="87" name="Arrow: Chevron 86">
              <a:extLst>
                <a:ext uri="{FF2B5EF4-FFF2-40B4-BE49-F238E27FC236}">
                  <a16:creationId xmlns:a16="http://schemas.microsoft.com/office/drawing/2014/main" id="{3E41FCC7-E2DF-CBD6-3F3E-B93C86A37854}"/>
                </a:ext>
              </a:extLst>
            </p:cNvPr>
            <p:cNvSpPr/>
            <p:nvPr/>
          </p:nvSpPr>
          <p:spPr>
            <a:xfrm>
              <a:off x="6507463" y="5864456"/>
              <a:ext cx="112047" cy="161999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sz="1200" err="1">
                <a:solidFill>
                  <a:schemeClr val="tx1"/>
                </a:solidFill>
              </a:endParaRPr>
            </a:p>
          </p:txBody>
        </p:sp>
        <p:cxnSp>
          <p:nvCxnSpPr>
            <p:cNvPr id="88" name="Straight Arrow Connector 245">
              <a:extLst>
                <a:ext uri="{FF2B5EF4-FFF2-40B4-BE49-F238E27FC236}">
                  <a16:creationId xmlns:a16="http://schemas.microsoft.com/office/drawing/2014/main" id="{16F2F1DB-B5CF-203C-4F27-FD2A2B033F25}"/>
                </a:ext>
              </a:extLst>
            </p:cNvPr>
            <p:cNvCxnSpPr>
              <a:cxnSpLocks/>
              <a:stCxn id="44" idx="3"/>
              <a:endCxn id="75" idx="1"/>
            </p:cNvCxnSpPr>
            <p:nvPr/>
          </p:nvCxnSpPr>
          <p:spPr>
            <a:xfrm flipV="1">
              <a:off x="8213967" y="3565403"/>
              <a:ext cx="367643" cy="777439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245">
              <a:extLst>
                <a:ext uri="{FF2B5EF4-FFF2-40B4-BE49-F238E27FC236}">
                  <a16:creationId xmlns:a16="http://schemas.microsoft.com/office/drawing/2014/main" id="{CB186941-6EA6-93AF-6B93-7113C997451F}"/>
                </a:ext>
              </a:extLst>
            </p:cNvPr>
            <p:cNvCxnSpPr>
              <a:cxnSpLocks/>
              <a:stCxn id="45" idx="3"/>
              <a:endCxn id="75" idx="1"/>
            </p:cNvCxnSpPr>
            <p:nvPr/>
          </p:nvCxnSpPr>
          <p:spPr>
            <a:xfrm flipV="1">
              <a:off x="8213967" y="3565403"/>
              <a:ext cx="367643" cy="2380051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5D66C23-35F2-74D2-B6B8-0AD0AC196691}"/>
                </a:ext>
              </a:extLst>
            </p:cNvPr>
            <p:cNvSpPr txBox="1"/>
            <p:nvPr/>
          </p:nvSpPr>
          <p:spPr>
            <a:xfrm>
              <a:off x="10113634" y="2570458"/>
              <a:ext cx="1008000" cy="246221"/>
            </a:xfrm>
            <a:prstGeom prst="rect">
              <a:avLst/>
            </a:prstGeom>
            <a:noFill/>
          </p:spPr>
          <p:txBody>
            <a:bodyPr wrap="square" lIns="0" tIns="0" rIns="72000" bIns="0" rtlCol="0" anchor="ctr">
              <a:spAutoFit/>
            </a:bodyPr>
            <a:lstStyle/>
            <a:p>
              <a:pPr algn="r" defTabSz="228600">
                <a:spcAft>
                  <a:spcPts val="1200"/>
                </a:spcAft>
              </a:pPr>
              <a:r>
                <a:rPr lang="pt-BR" sz="800" noProof="0"/>
                <a:t>Acompanhamento, indução e metas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A2FD711-10FC-82B1-1518-BBAC7004A67F}"/>
                </a:ext>
              </a:extLst>
            </p:cNvPr>
            <p:cNvSpPr txBox="1"/>
            <p:nvPr/>
          </p:nvSpPr>
          <p:spPr>
            <a:xfrm>
              <a:off x="8963759" y="2585570"/>
              <a:ext cx="1008000" cy="246221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 noProof="0"/>
                <a:t>Governança executiva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4F5D271-3AE7-9EFC-6BCF-E208395E1693}"/>
                </a:ext>
              </a:extLst>
            </p:cNvPr>
            <p:cNvSpPr txBox="1"/>
            <p:nvPr/>
          </p:nvSpPr>
          <p:spPr>
            <a:xfrm>
              <a:off x="8963759" y="3764126"/>
              <a:ext cx="1008000" cy="246221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800" noProof="0"/>
                <a:t>Tracking da captura de valor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29DE33D-700E-5AB1-030E-4D46929A98C2}"/>
                </a:ext>
              </a:extLst>
            </p:cNvPr>
            <p:cNvSpPr txBox="1"/>
            <p:nvPr/>
          </p:nvSpPr>
          <p:spPr>
            <a:xfrm>
              <a:off x="10113633" y="3764126"/>
              <a:ext cx="1008000" cy="246221"/>
            </a:xfrm>
            <a:prstGeom prst="rect">
              <a:avLst/>
            </a:prstGeom>
            <a:noFill/>
          </p:spPr>
          <p:txBody>
            <a:bodyPr wrap="square" lIns="0" tIns="0" rIns="72000" bIns="0" rtlCol="0" anchor="ctr">
              <a:spAutoFit/>
            </a:bodyPr>
            <a:lstStyle/>
            <a:p>
              <a:pPr algn="r" defTabSz="228600">
                <a:spcAft>
                  <a:spcPts val="1200"/>
                </a:spcAft>
              </a:pPr>
              <a:r>
                <a:rPr lang="pt-BR" sz="800" noProof="0"/>
                <a:t>Gestão de riscos e mitigadores</a:t>
              </a: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FF6E79A7-4FB0-1913-14FF-02E947A638FC}"/>
                </a:ext>
              </a:extLst>
            </p:cNvPr>
            <p:cNvSpPr/>
            <p:nvPr/>
          </p:nvSpPr>
          <p:spPr>
            <a:xfrm>
              <a:off x="9475296" y="2884170"/>
              <a:ext cx="1092629" cy="650166"/>
            </a:xfrm>
            <a:prstGeom prst="roundRect">
              <a:avLst>
                <a:gd name="adj" fmla="val 10514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828000" rIns="36000" bIns="0" rtlCol="0" anchor="ctr"/>
            <a:lstStyle/>
            <a:p>
              <a:pPr algn="ctr"/>
              <a:r>
                <a:rPr lang="pt-BR" sz="600" b="1" noProof="0">
                  <a:solidFill>
                    <a:schemeClr val="accent3">
                      <a:lumMod val="50000"/>
                    </a:schemeClr>
                  </a:solidFill>
                </a:rPr>
                <a:t>Accenture &amp; BB</a:t>
              </a:r>
            </a:p>
            <a:p>
              <a:pPr algn="ctr"/>
              <a:r>
                <a:rPr lang="pt-BR" sz="600" b="1" noProof="0" err="1">
                  <a:solidFill>
                    <a:schemeClr val="accent3">
                      <a:lumMod val="50000"/>
                    </a:schemeClr>
                  </a:solidFill>
                </a:rPr>
                <a:t>Value</a:t>
              </a:r>
              <a:r>
                <a:rPr lang="pt-BR" sz="600" b="1" noProof="0">
                  <a:solidFill>
                    <a:schemeClr val="accent3">
                      <a:lumMod val="50000"/>
                    </a:schemeClr>
                  </a:solidFill>
                </a:rPr>
                <a:t> Management Office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A398A3B-E698-5D9D-841B-A8AB62C683F8}"/>
                </a:ext>
              </a:extLst>
            </p:cNvPr>
            <p:cNvGrpSpPr/>
            <p:nvPr/>
          </p:nvGrpSpPr>
          <p:grpSpPr>
            <a:xfrm>
              <a:off x="10721546" y="2960497"/>
              <a:ext cx="99061" cy="405116"/>
              <a:chOff x="9924078" y="3556328"/>
              <a:chExt cx="99061" cy="405116"/>
            </a:xfrm>
          </p:grpSpPr>
          <p:sp>
            <p:nvSpPr>
              <p:cNvPr id="152" name="Arrow: Right 151">
                <a:extLst>
                  <a:ext uri="{FF2B5EF4-FFF2-40B4-BE49-F238E27FC236}">
                    <a16:creationId xmlns:a16="http://schemas.microsoft.com/office/drawing/2014/main" id="{AAAE9868-9FDC-096D-078A-0CDC2C9F20F8}"/>
                  </a:ext>
                </a:extLst>
              </p:cNvPr>
              <p:cNvSpPr/>
              <p:nvPr/>
            </p:nvSpPr>
            <p:spPr>
              <a:xfrm rot="19756351">
                <a:off x="9924079" y="3556328"/>
                <a:ext cx="99060" cy="95250"/>
              </a:xfrm>
              <a:prstGeom prst="rightArrow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sz="1200" noProof="0"/>
              </a:p>
            </p:txBody>
          </p:sp>
          <p:sp>
            <p:nvSpPr>
              <p:cNvPr id="153" name="Arrow: Right 152">
                <a:extLst>
                  <a:ext uri="{FF2B5EF4-FFF2-40B4-BE49-F238E27FC236}">
                    <a16:creationId xmlns:a16="http://schemas.microsoft.com/office/drawing/2014/main" id="{D6F135A9-019C-C9FA-D92B-966D375D2BBD}"/>
                  </a:ext>
                </a:extLst>
              </p:cNvPr>
              <p:cNvSpPr/>
              <p:nvPr/>
            </p:nvSpPr>
            <p:spPr>
              <a:xfrm rot="1843649" flipV="1">
                <a:off x="9924078" y="3866194"/>
                <a:ext cx="99060" cy="95250"/>
              </a:xfrm>
              <a:prstGeom prst="rightArrow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sz="1200" noProof="0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C8D3F8FA-81B9-C31A-9C22-818D1749E4E1}"/>
                </a:ext>
              </a:extLst>
            </p:cNvPr>
            <p:cNvGrpSpPr/>
            <p:nvPr/>
          </p:nvGrpSpPr>
          <p:grpSpPr>
            <a:xfrm>
              <a:off x="9273539" y="2960497"/>
              <a:ext cx="99061" cy="405116"/>
              <a:chOff x="9324306" y="3556328"/>
              <a:chExt cx="99061" cy="405116"/>
            </a:xfrm>
          </p:grpSpPr>
          <p:sp>
            <p:nvSpPr>
              <p:cNvPr id="150" name="Arrow: Right 149">
                <a:extLst>
                  <a:ext uri="{FF2B5EF4-FFF2-40B4-BE49-F238E27FC236}">
                    <a16:creationId xmlns:a16="http://schemas.microsoft.com/office/drawing/2014/main" id="{32AC6368-E252-2BCF-4862-F6FE53BB20DC}"/>
                  </a:ext>
                </a:extLst>
              </p:cNvPr>
              <p:cNvSpPr/>
              <p:nvPr/>
            </p:nvSpPr>
            <p:spPr>
              <a:xfrm rot="1843649" flipH="1">
                <a:off x="9324307" y="3556328"/>
                <a:ext cx="99060" cy="95250"/>
              </a:xfrm>
              <a:prstGeom prst="rightArrow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sz="1200" noProof="0"/>
              </a:p>
            </p:txBody>
          </p:sp>
          <p:sp>
            <p:nvSpPr>
              <p:cNvPr id="151" name="Arrow: Right 150">
                <a:extLst>
                  <a:ext uri="{FF2B5EF4-FFF2-40B4-BE49-F238E27FC236}">
                    <a16:creationId xmlns:a16="http://schemas.microsoft.com/office/drawing/2014/main" id="{1F1864FA-E2C0-34B3-9889-B150877AA50B}"/>
                  </a:ext>
                </a:extLst>
              </p:cNvPr>
              <p:cNvSpPr/>
              <p:nvPr/>
            </p:nvSpPr>
            <p:spPr>
              <a:xfrm rot="19756351" flipH="1" flipV="1">
                <a:off x="9324306" y="3866194"/>
                <a:ext cx="99060" cy="95250"/>
              </a:xfrm>
              <a:prstGeom prst="rightArrow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sz="1200" noProof="0"/>
              </a:p>
            </p:txBody>
          </p:sp>
        </p:grpSp>
        <p:sp>
          <p:nvSpPr>
            <p:cNvPr id="97" name="Right Brace 96">
              <a:extLst>
                <a:ext uri="{FF2B5EF4-FFF2-40B4-BE49-F238E27FC236}">
                  <a16:creationId xmlns:a16="http://schemas.microsoft.com/office/drawing/2014/main" id="{98E943E9-17DF-AE47-011D-F0DC6F771F91}"/>
                </a:ext>
              </a:extLst>
            </p:cNvPr>
            <p:cNvSpPr/>
            <p:nvPr/>
          </p:nvSpPr>
          <p:spPr>
            <a:xfrm rot="5400000">
              <a:off x="9943209" y="2951915"/>
              <a:ext cx="156803" cy="2632047"/>
            </a:xfrm>
            <a:prstGeom prst="rightBrace">
              <a:avLst>
                <a:gd name="adj1" fmla="val 36441"/>
                <a:gd name="adj2" fmla="val 49202"/>
              </a:avLst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noProof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6E81F78-6A74-B97A-76F6-FF3C60F428BE}"/>
                </a:ext>
              </a:extLst>
            </p:cNvPr>
            <p:cNvSpPr txBox="1"/>
            <p:nvPr/>
          </p:nvSpPr>
          <p:spPr>
            <a:xfrm>
              <a:off x="8963757" y="4513476"/>
              <a:ext cx="2412000" cy="246221"/>
            </a:xfrm>
            <a:prstGeom prst="rect">
              <a:avLst/>
            </a:prstGeom>
            <a:noFill/>
          </p:spPr>
          <p:txBody>
            <a:bodyPr wrap="square" lIns="72000" tIns="0" rIns="0" bIns="0" rtlCol="0" anchor="ctr">
              <a:spAutoFit/>
            </a:bodyPr>
            <a:lstStyle/>
            <a:p>
              <a:pPr defTabSz="228600">
                <a:spcAft>
                  <a:spcPts val="100"/>
                </a:spcAft>
              </a:pPr>
              <a:r>
                <a:rPr lang="pt-BR" sz="800" noProof="0"/>
                <a:t>Ações de correção de rota; cenários e realocações de recursos em conjunto com o BB</a:t>
              </a:r>
              <a:endParaRPr lang="pt-BR" sz="800" baseline="-25000" noProof="0"/>
            </a:p>
          </p:txBody>
        </p:sp>
        <p:pic>
          <p:nvPicPr>
            <p:cNvPr id="99" name="Graphic 98" descr="Abacus with solid fill">
              <a:extLst>
                <a:ext uri="{FF2B5EF4-FFF2-40B4-BE49-F238E27FC236}">
                  <a16:creationId xmlns:a16="http://schemas.microsoft.com/office/drawing/2014/main" id="{8E1A3D75-BAEE-836C-D572-64453215F0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210301" y="2564103"/>
              <a:ext cx="216000" cy="216000"/>
            </a:xfrm>
            <a:prstGeom prst="rect">
              <a:avLst/>
            </a:prstGeom>
          </p:spPr>
        </p:pic>
        <p:pic>
          <p:nvPicPr>
            <p:cNvPr id="100" name="Graphic 99" descr="Bar graph with upward trend with solid fill">
              <a:extLst>
                <a:ext uri="{FF2B5EF4-FFF2-40B4-BE49-F238E27FC236}">
                  <a16:creationId xmlns:a16="http://schemas.microsoft.com/office/drawing/2014/main" id="{059633D8-6BC4-74D2-1BFC-06B62A4646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78522" y="4595008"/>
              <a:ext cx="216000" cy="216000"/>
            </a:xfrm>
            <a:prstGeom prst="rect">
              <a:avLst/>
            </a:prstGeom>
          </p:spPr>
        </p:pic>
        <p:pic>
          <p:nvPicPr>
            <p:cNvPr id="101" name="Graphic 100" descr="Blockchain with solid fill">
              <a:extLst>
                <a:ext uri="{FF2B5EF4-FFF2-40B4-BE49-F238E27FC236}">
                  <a16:creationId xmlns:a16="http://schemas.microsoft.com/office/drawing/2014/main" id="{38910FF5-C474-65B0-7171-720BBE045E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10301" y="5783453"/>
              <a:ext cx="216000" cy="216000"/>
            </a:xfrm>
            <a:prstGeom prst="rect">
              <a:avLst/>
            </a:prstGeom>
          </p:spPr>
        </p:pic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26B052B2-1FCC-8981-A300-43314A0BA50C}"/>
                </a:ext>
              </a:extLst>
            </p:cNvPr>
            <p:cNvGrpSpPr/>
            <p:nvPr/>
          </p:nvGrpSpPr>
          <p:grpSpPr>
            <a:xfrm>
              <a:off x="8747760" y="5632949"/>
              <a:ext cx="1447791" cy="492443"/>
              <a:chOff x="8747760" y="5561884"/>
              <a:chExt cx="1447791" cy="492443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1AC718B7-AD74-CCDA-2268-FB1B94640416}"/>
                  </a:ext>
                </a:extLst>
              </p:cNvPr>
              <p:cNvSpPr txBox="1"/>
              <p:nvPr/>
            </p:nvSpPr>
            <p:spPr>
              <a:xfrm>
                <a:off x="8963758" y="5561884"/>
                <a:ext cx="1231793" cy="492443"/>
              </a:xfrm>
              <a:prstGeom prst="rect">
                <a:avLst/>
              </a:prstGeom>
              <a:noFill/>
            </p:spPr>
            <p:txBody>
              <a:bodyPr wrap="square" lIns="72000" tIns="0" rIns="0" bIns="0" rtlCol="0" anchor="ctr">
                <a:spAutoFit/>
              </a:bodyPr>
              <a:lstStyle/>
              <a:p>
                <a:pPr defTabSz="228600">
                  <a:spcAft>
                    <a:spcPts val="1200"/>
                  </a:spcAft>
                </a:pPr>
                <a:r>
                  <a:rPr lang="pt-BR" sz="800" noProof="0"/>
                  <a:t>Reportes operacionais e executivos: o que mudou, o que trava e o que decidir</a:t>
                </a:r>
              </a:p>
            </p:txBody>
          </p:sp>
          <p:pic>
            <p:nvPicPr>
              <p:cNvPr id="149" name="Graphic 148" descr="Board Of Directors with solid fill">
                <a:extLst>
                  <a:ext uri="{FF2B5EF4-FFF2-40B4-BE49-F238E27FC236}">
                    <a16:creationId xmlns:a16="http://schemas.microsoft.com/office/drawing/2014/main" id="{36D026A3-E0DD-AC9A-5149-A90BBF9486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747760" y="5561884"/>
                <a:ext cx="216000" cy="216000"/>
              </a:xfrm>
              <a:prstGeom prst="rect">
                <a:avLst/>
              </a:prstGeom>
            </p:spPr>
          </p:pic>
        </p:grpSp>
        <p:pic>
          <p:nvPicPr>
            <p:cNvPr id="103" name="Graphic 102" descr="Exponential Graph with solid fill">
              <a:extLst>
                <a:ext uri="{FF2B5EF4-FFF2-40B4-BE49-F238E27FC236}">
                  <a16:creationId xmlns:a16="http://schemas.microsoft.com/office/drawing/2014/main" id="{5E025BE9-CC4D-0F11-1243-CB584605F9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57944" y="4059177"/>
              <a:ext cx="216000" cy="216000"/>
            </a:xfrm>
            <a:prstGeom prst="rect">
              <a:avLst/>
            </a:prstGeom>
          </p:spPr>
        </p:pic>
        <p:pic>
          <p:nvPicPr>
            <p:cNvPr id="104" name="Graphic 103" descr="List with solid fill">
              <a:extLst>
                <a:ext uri="{FF2B5EF4-FFF2-40B4-BE49-F238E27FC236}">
                  <a16:creationId xmlns:a16="http://schemas.microsoft.com/office/drawing/2014/main" id="{3928E2B5-180E-78F0-E755-AC34E2F5B5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65991" y="2564105"/>
              <a:ext cx="216000" cy="216000"/>
            </a:xfrm>
            <a:prstGeom prst="rect">
              <a:avLst/>
            </a:prstGeom>
          </p:spPr>
        </p:pic>
        <p:pic>
          <p:nvPicPr>
            <p:cNvPr id="105" name="Graphic 104" descr="Meeting with solid fill">
              <a:extLst>
                <a:ext uri="{FF2B5EF4-FFF2-40B4-BE49-F238E27FC236}">
                  <a16:creationId xmlns:a16="http://schemas.microsoft.com/office/drawing/2014/main" id="{AE211755-1762-25D3-917F-05B7CAEC48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18348" y="5783455"/>
              <a:ext cx="216000" cy="216000"/>
            </a:xfrm>
            <a:prstGeom prst="rect">
              <a:avLst/>
            </a:prstGeom>
          </p:spPr>
        </p:pic>
        <p:pic>
          <p:nvPicPr>
            <p:cNvPr id="106" name="Graphic 105" descr="Priorities with solid fill">
              <a:extLst>
                <a:ext uri="{FF2B5EF4-FFF2-40B4-BE49-F238E27FC236}">
                  <a16:creationId xmlns:a16="http://schemas.microsoft.com/office/drawing/2014/main" id="{1489AE53-8A9A-3B4E-B6F3-CD5EBA2AF6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21633" y="2585568"/>
              <a:ext cx="216000" cy="216000"/>
            </a:xfrm>
            <a:prstGeom prst="rect">
              <a:avLst/>
            </a:prstGeom>
          </p:spPr>
        </p:pic>
        <p:pic>
          <p:nvPicPr>
            <p:cNvPr id="107" name="Graphic 106" descr="Pyramid Shape with solid fill">
              <a:extLst>
                <a:ext uri="{FF2B5EF4-FFF2-40B4-BE49-F238E27FC236}">
                  <a16:creationId xmlns:a16="http://schemas.microsoft.com/office/drawing/2014/main" id="{E61E818A-BAED-9FE0-73B9-A61B6EC06C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618348" y="2564105"/>
              <a:ext cx="216000" cy="216000"/>
            </a:xfrm>
            <a:prstGeom prst="rect">
              <a:avLst/>
            </a:prstGeom>
          </p:spPr>
        </p:pic>
        <p:sp>
          <p:nvSpPr>
            <p:cNvPr id="108" name="Retângulo 5">
              <a:extLst>
                <a:ext uri="{FF2B5EF4-FFF2-40B4-BE49-F238E27FC236}">
                  <a16:creationId xmlns:a16="http://schemas.microsoft.com/office/drawing/2014/main" id="{3D297FCE-5D23-359F-A2F7-91A3911CFE98}"/>
                </a:ext>
              </a:extLst>
            </p:cNvPr>
            <p:cNvSpPr/>
            <p:nvPr/>
          </p:nvSpPr>
          <p:spPr>
            <a:xfrm>
              <a:off x="350680" y="1773099"/>
              <a:ext cx="8397080" cy="4571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1200" err="1"/>
            </a:p>
          </p:txBody>
        </p:sp>
        <p:sp>
          <p:nvSpPr>
            <p:cNvPr id="109" name="Retângulo 5">
              <a:extLst>
                <a:ext uri="{FF2B5EF4-FFF2-40B4-BE49-F238E27FC236}">
                  <a16:creationId xmlns:a16="http://schemas.microsoft.com/office/drawing/2014/main" id="{ADD3D4A3-3EF7-B678-D1EF-7E7E89450105}"/>
                </a:ext>
              </a:extLst>
            </p:cNvPr>
            <p:cNvSpPr/>
            <p:nvPr/>
          </p:nvSpPr>
          <p:spPr>
            <a:xfrm>
              <a:off x="350680" y="1350818"/>
              <a:ext cx="8397080" cy="4571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1200" err="1"/>
            </a:p>
          </p:txBody>
        </p:sp>
        <p:sp>
          <p:nvSpPr>
            <p:cNvPr id="110" name="Retângulo 5">
              <a:extLst>
                <a:ext uri="{FF2B5EF4-FFF2-40B4-BE49-F238E27FC236}">
                  <a16:creationId xmlns:a16="http://schemas.microsoft.com/office/drawing/2014/main" id="{4C48C481-6D66-E00B-EAAD-1D0271C011F6}"/>
                </a:ext>
              </a:extLst>
            </p:cNvPr>
            <p:cNvSpPr/>
            <p:nvPr/>
          </p:nvSpPr>
          <p:spPr>
            <a:xfrm>
              <a:off x="350679" y="1350818"/>
              <a:ext cx="108000" cy="44932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1200" err="1"/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548AC265-AE56-A3E3-E194-031C839EB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121633" y="3779236"/>
              <a:ext cx="216000" cy="216000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51783B8E-5425-36D4-F05D-47B6EB5AD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9312" y="2684627"/>
              <a:ext cx="216000" cy="216000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B52B500B-5C93-4E25-B0F6-121DD80CC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29312" y="5493862"/>
              <a:ext cx="216000" cy="216000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E152DA01-AFD2-452F-9316-1BF35719E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9312" y="3612601"/>
              <a:ext cx="216000" cy="216000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9F737131-CDDA-DEA3-E183-312F9A6CC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457944" y="3535339"/>
              <a:ext cx="216000" cy="216000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4634ED84-D4FE-5A77-AA61-0CF85F315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721990" y="5837455"/>
              <a:ext cx="216000" cy="216000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DB4ACBD0-8266-01FC-E96A-8290DDA0E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747760" y="3779236"/>
              <a:ext cx="216000" cy="216000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56DCA8C5-0BDC-D9AE-E734-DC546C6A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457944" y="5837454"/>
              <a:ext cx="216000" cy="216000"/>
            </a:xfrm>
            <a:prstGeom prst="rect">
              <a:avLst/>
            </a:prstGeom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920E480A-BFF7-C01A-ED31-E57E74950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457944" y="2564103"/>
              <a:ext cx="216000" cy="216000"/>
            </a:xfrm>
            <a:prstGeom prst="rect">
              <a:avLst/>
            </a:prstGeom>
          </p:spPr>
        </p:pic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D54F400C-0CEE-59A6-5C1F-F68518984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47760" y="4528586"/>
              <a:ext cx="216000" cy="216000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0884650F-C22A-2629-CFEB-9695B0C48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29312" y="4549983"/>
              <a:ext cx="216000" cy="216000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4329C113-2874-2E02-2BDA-72088486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8747760" y="2600680"/>
              <a:ext cx="216000" cy="216000"/>
            </a:xfrm>
            <a:prstGeom prst="rect">
              <a:avLst/>
            </a:prstGeom>
          </p:spPr>
        </p:pic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DC1F9F3A-9E63-56FA-9AE9-60FEC216CC31}"/>
                </a:ext>
              </a:extLst>
            </p:cNvPr>
            <p:cNvGrpSpPr/>
            <p:nvPr/>
          </p:nvGrpSpPr>
          <p:grpSpPr>
            <a:xfrm>
              <a:off x="10369522" y="5527101"/>
              <a:ext cx="968112" cy="633624"/>
              <a:chOff x="10369522" y="5531808"/>
              <a:chExt cx="968112" cy="633624"/>
            </a:xfrm>
          </p:grpSpPr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6AF34ABB-6AE2-AB5E-16AE-4AFF4E945975}"/>
                  </a:ext>
                </a:extLst>
              </p:cNvPr>
              <p:cNvCxnSpPr/>
              <p:nvPr/>
            </p:nvCxnSpPr>
            <p:spPr>
              <a:xfrm rot="16200000">
                <a:off x="10853578" y="5553668"/>
                <a:ext cx="0" cy="968112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1E1C57E8-80FD-D1E0-DF9E-61326C205CB6}"/>
                  </a:ext>
                </a:extLst>
              </p:cNvPr>
              <p:cNvSpPr/>
              <p:nvPr/>
            </p:nvSpPr>
            <p:spPr>
              <a:xfrm>
                <a:off x="10417736" y="5543547"/>
                <a:ext cx="845332" cy="370519"/>
              </a:xfrm>
              <a:custGeom>
                <a:avLst/>
                <a:gdLst>
                  <a:gd name="csX0" fmla="*/ 0 w 828675"/>
                  <a:gd name="csY0" fmla="*/ 556260 h 556260"/>
                  <a:gd name="csX1" fmla="*/ 323850 w 828675"/>
                  <a:gd name="csY1" fmla="*/ 470535 h 556260"/>
                  <a:gd name="csX2" fmla="*/ 651510 w 828675"/>
                  <a:gd name="csY2" fmla="*/ 320040 h 556260"/>
                  <a:gd name="csX3" fmla="*/ 828675 w 828675"/>
                  <a:gd name="csY3" fmla="*/ 0 h 5562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28675" h="556260">
                    <a:moveTo>
                      <a:pt x="0" y="556260"/>
                    </a:moveTo>
                    <a:cubicBezTo>
                      <a:pt x="107632" y="533082"/>
                      <a:pt x="215265" y="509905"/>
                      <a:pt x="323850" y="470535"/>
                    </a:cubicBezTo>
                    <a:cubicBezTo>
                      <a:pt x="432435" y="431165"/>
                      <a:pt x="567373" y="398462"/>
                      <a:pt x="651510" y="320040"/>
                    </a:cubicBezTo>
                    <a:cubicBezTo>
                      <a:pt x="735647" y="241618"/>
                      <a:pt x="796290" y="40322"/>
                      <a:pt x="828675" y="0"/>
                    </a:cubicBezTo>
                  </a:path>
                </a:pathLst>
              </a:cu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95E7CBEF-9057-EFEA-F92A-F51111997A28}"/>
                  </a:ext>
                </a:extLst>
              </p:cNvPr>
              <p:cNvSpPr/>
              <p:nvPr/>
            </p:nvSpPr>
            <p:spPr>
              <a:xfrm>
                <a:off x="10417737" y="5773607"/>
                <a:ext cx="872002" cy="148405"/>
              </a:xfrm>
              <a:custGeom>
                <a:avLst/>
                <a:gdLst>
                  <a:gd name="csX0" fmla="*/ 0 w 828675"/>
                  <a:gd name="csY0" fmla="*/ 556260 h 556260"/>
                  <a:gd name="csX1" fmla="*/ 323850 w 828675"/>
                  <a:gd name="csY1" fmla="*/ 470535 h 556260"/>
                  <a:gd name="csX2" fmla="*/ 651510 w 828675"/>
                  <a:gd name="csY2" fmla="*/ 320040 h 556260"/>
                  <a:gd name="csX3" fmla="*/ 828675 w 828675"/>
                  <a:gd name="csY3" fmla="*/ 0 h 556260"/>
                  <a:gd name="csX0" fmla="*/ 0 w 849217"/>
                  <a:gd name="csY0" fmla="*/ 379095 h 379095"/>
                  <a:gd name="csX1" fmla="*/ 323850 w 849217"/>
                  <a:gd name="csY1" fmla="*/ 293370 h 379095"/>
                  <a:gd name="csX2" fmla="*/ 651510 w 849217"/>
                  <a:gd name="csY2" fmla="*/ 142875 h 379095"/>
                  <a:gd name="csX3" fmla="*/ 849217 w 849217"/>
                  <a:gd name="csY3" fmla="*/ 0 h 379095"/>
                  <a:gd name="csX0" fmla="*/ 0 w 849217"/>
                  <a:gd name="csY0" fmla="*/ 379095 h 379095"/>
                  <a:gd name="csX1" fmla="*/ 323850 w 849217"/>
                  <a:gd name="csY1" fmla="*/ 293370 h 379095"/>
                  <a:gd name="csX2" fmla="*/ 645908 w 849217"/>
                  <a:gd name="csY2" fmla="*/ 112395 h 379095"/>
                  <a:gd name="csX3" fmla="*/ 849217 w 849217"/>
                  <a:gd name="csY3" fmla="*/ 0 h 379095"/>
                  <a:gd name="csX0" fmla="*/ 0 w 854819"/>
                  <a:gd name="csY0" fmla="*/ 320040 h 320040"/>
                  <a:gd name="csX1" fmla="*/ 323850 w 854819"/>
                  <a:gd name="csY1" fmla="*/ 234315 h 320040"/>
                  <a:gd name="csX2" fmla="*/ 645908 w 854819"/>
                  <a:gd name="csY2" fmla="*/ 53340 h 320040"/>
                  <a:gd name="csX3" fmla="*/ 854819 w 854819"/>
                  <a:gd name="csY3" fmla="*/ 0 h 320040"/>
                  <a:gd name="csX0" fmla="*/ 0 w 854819"/>
                  <a:gd name="csY0" fmla="*/ 320040 h 320040"/>
                  <a:gd name="csX1" fmla="*/ 323850 w 854819"/>
                  <a:gd name="csY1" fmla="*/ 234315 h 320040"/>
                  <a:gd name="csX2" fmla="*/ 670185 w 854819"/>
                  <a:gd name="csY2" fmla="*/ 135255 h 320040"/>
                  <a:gd name="csX3" fmla="*/ 854819 w 854819"/>
                  <a:gd name="csY3" fmla="*/ 0 h 320040"/>
                  <a:gd name="csX0" fmla="*/ 0 w 854819"/>
                  <a:gd name="csY0" fmla="*/ 222801 h 222801"/>
                  <a:gd name="csX1" fmla="*/ 323850 w 854819"/>
                  <a:gd name="csY1" fmla="*/ 137076 h 222801"/>
                  <a:gd name="csX2" fmla="*/ 670185 w 854819"/>
                  <a:gd name="csY2" fmla="*/ 38016 h 222801"/>
                  <a:gd name="csX3" fmla="*/ 854819 w 854819"/>
                  <a:gd name="csY3" fmla="*/ 0 h 222801"/>
                  <a:gd name="csX0" fmla="*/ 0 w 854819"/>
                  <a:gd name="csY0" fmla="*/ 222801 h 222801"/>
                  <a:gd name="csX1" fmla="*/ 323850 w 854819"/>
                  <a:gd name="csY1" fmla="*/ 137076 h 222801"/>
                  <a:gd name="csX2" fmla="*/ 673920 w 854819"/>
                  <a:gd name="csY2" fmla="*/ 112376 h 222801"/>
                  <a:gd name="csX3" fmla="*/ 854819 w 854819"/>
                  <a:gd name="csY3" fmla="*/ 0 h 222801"/>
                  <a:gd name="csX0" fmla="*/ 0 w 854819"/>
                  <a:gd name="csY0" fmla="*/ 222801 h 222801"/>
                  <a:gd name="csX1" fmla="*/ 323850 w 854819"/>
                  <a:gd name="csY1" fmla="*/ 137076 h 222801"/>
                  <a:gd name="csX2" fmla="*/ 619764 w 854819"/>
                  <a:gd name="csY2" fmla="*/ 149555 h 222801"/>
                  <a:gd name="csX3" fmla="*/ 854819 w 854819"/>
                  <a:gd name="csY3" fmla="*/ 0 h 2228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54819" h="222801">
                    <a:moveTo>
                      <a:pt x="0" y="222801"/>
                    </a:moveTo>
                    <a:cubicBezTo>
                      <a:pt x="107632" y="199623"/>
                      <a:pt x="220556" y="149284"/>
                      <a:pt x="323850" y="137076"/>
                    </a:cubicBezTo>
                    <a:cubicBezTo>
                      <a:pt x="427144" y="124868"/>
                      <a:pt x="535627" y="227977"/>
                      <a:pt x="619764" y="149555"/>
                    </a:cubicBezTo>
                    <a:cubicBezTo>
                      <a:pt x="703901" y="71133"/>
                      <a:pt x="822434" y="40322"/>
                      <a:pt x="854819" y="0"/>
                    </a:cubicBezTo>
                  </a:path>
                </a:pathLst>
              </a:custGeom>
              <a:noFill/>
              <a:ln w="6350">
                <a:solidFill>
                  <a:schemeClr val="accent2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1C5FB494-5EBC-95E9-6FC0-285517092545}"/>
                  </a:ext>
                </a:extLst>
              </p:cNvPr>
              <p:cNvSpPr txBox="1"/>
              <p:nvPr/>
            </p:nvSpPr>
            <p:spPr>
              <a:xfrm>
                <a:off x="10561299" y="6057070"/>
                <a:ext cx="584558" cy="10836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pPr algn="ctr"/>
                <a:r>
                  <a:rPr lang="pt-BR" sz="700">
                    <a:solidFill>
                      <a:schemeClr val="bg2">
                        <a:lumMod val="25000"/>
                      </a:schemeClr>
                    </a:solidFill>
                  </a:rPr>
                  <a:t>Tempo</a:t>
                </a: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F8C96C98-7229-9F88-FA79-905A420ED594}"/>
                  </a:ext>
                </a:extLst>
              </p:cNvPr>
              <p:cNvSpPr/>
              <p:nvPr/>
            </p:nvSpPr>
            <p:spPr>
              <a:xfrm>
                <a:off x="10399395" y="5884896"/>
                <a:ext cx="53340" cy="533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sz="1200" err="1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E77C5EE7-40BF-B225-C6F4-6965CD0C6875}"/>
                  </a:ext>
                </a:extLst>
              </p:cNvPr>
              <p:cNvSpPr/>
              <p:nvPr/>
            </p:nvSpPr>
            <p:spPr>
              <a:xfrm>
                <a:off x="10608469" y="5842935"/>
                <a:ext cx="53340" cy="533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sz="1200" err="1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E170F94-F80E-4F03-3AD7-80FF8FC5D18E}"/>
                  </a:ext>
                </a:extLst>
              </p:cNvPr>
              <p:cNvSpPr/>
              <p:nvPr/>
            </p:nvSpPr>
            <p:spPr>
              <a:xfrm>
                <a:off x="10817543" y="5783220"/>
                <a:ext cx="53340" cy="533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sz="1200" err="1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4354D658-D0EE-7848-AAB1-3F4FF7EBA44F}"/>
                  </a:ext>
                </a:extLst>
              </p:cNvPr>
              <p:cNvSpPr/>
              <p:nvPr/>
            </p:nvSpPr>
            <p:spPr>
              <a:xfrm>
                <a:off x="11026617" y="5734518"/>
                <a:ext cx="53340" cy="533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sz="1200" err="1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46FA1FD7-4AF7-7036-1933-9155EB59D3D3}"/>
                  </a:ext>
                </a:extLst>
              </p:cNvPr>
              <p:cNvSpPr/>
              <p:nvPr/>
            </p:nvSpPr>
            <p:spPr>
              <a:xfrm>
                <a:off x="11235690" y="5531808"/>
                <a:ext cx="53340" cy="533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sz="1200" err="1"/>
              </a:p>
            </p:txBody>
          </p:sp>
        </p:grp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E93173C-2079-4057-8EA4-D15BC9CBC978}"/>
                </a:ext>
              </a:extLst>
            </p:cNvPr>
            <p:cNvSpPr/>
            <p:nvPr/>
          </p:nvSpPr>
          <p:spPr>
            <a:xfrm>
              <a:off x="523954" y="2110230"/>
              <a:ext cx="1224000" cy="377208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rgbClr val="E1E7FF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lvl="1" algn="ctr">
                <a:spcAft>
                  <a:spcPts val="750"/>
                </a:spcAft>
                <a:defRPr/>
              </a:pPr>
              <a:r>
                <a:rPr lang="pt-BR" sz="9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"/>
                  <a:cs typeface="Arial" charset="0"/>
                </a:rPr>
                <a:t>Mobilização do projeto</a:t>
              </a:r>
            </a:p>
          </p:txBody>
        </p:sp>
        <p:sp>
          <p:nvSpPr>
            <p:cNvPr id="125" name="Right Triangle 124">
              <a:extLst>
                <a:ext uri="{FF2B5EF4-FFF2-40B4-BE49-F238E27FC236}">
                  <a16:creationId xmlns:a16="http://schemas.microsoft.com/office/drawing/2014/main" id="{930D125F-7A8C-9608-6F6B-BA463E2E7299}"/>
                </a:ext>
              </a:extLst>
            </p:cNvPr>
            <p:cNvSpPr/>
            <p:nvPr/>
          </p:nvSpPr>
          <p:spPr>
            <a:xfrm rot="5400000">
              <a:off x="4495220" y="-2793722"/>
              <a:ext cx="108000" cy="8397080"/>
            </a:xfrm>
            <a:prstGeom prst="rtTriangl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sz="1200" err="1"/>
            </a:p>
          </p:txBody>
        </p:sp>
        <p:sp>
          <p:nvSpPr>
            <p:cNvPr id="126" name="Right Triangle 125">
              <a:extLst>
                <a:ext uri="{FF2B5EF4-FFF2-40B4-BE49-F238E27FC236}">
                  <a16:creationId xmlns:a16="http://schemas.microsoft.com/office/drawing/2014/main" id="{3D200BD1-527D-00F0-92F3-8042B132F0DD}"/>
                </a:ext>
              </a:extLst>
            </p:cNvPr>
            <p:cNvSpPr/>
            <p:nvPr/>
          </p:nvSpPr>
          <p:spPr>
            <a:xfrm rot="16200000" flipV="1">
              <a:off x="4495220" y="-2433722"/>
              <a:ext cx="108000" cy="8397080"/>
            </a:xfrm>
            <a:prstGeom prst="rtTriangl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sz="1200" err="1"/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21B62EA-817D-AB90-BC59-16F46A4BA9B3}"/>
                </a:ext>
              </a:extLst>
            </p:cNvPr>
            <p:cNvGrpSpPr/>
            <p:nvPr/>
          </p:nvGrpSpPr>
          <p:grpSpPr>
            <a:xfrm>
              <a:off x="9552458" y="3211830"/>
              <a:ext cx="938302" cy="267012"/>
              <a:chOff x="9573546" y="3056192"/>
              <a:chExt cx="870723" cy="238072"/>
            </a:xfrm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4F386BF6-B606-E492-9D5F-1866BDF6CCCD}"/>
                  </a:ext>
                </a:extLst>
              </p:cNvPr>
              <p:cNvSpPr/>
              <p:nvPr/>
            </p:nvSpPr>
            <p:spPr>
              <a:xfrm>
                <a:off x="9573546" y="3056192"/>
                <a:ext cx="224421" cy="238072"/>
              </a:xfrm>
              <a:prstGeom prst="rect">
                <a:avLst/>
              </a:prstGeom>
              <a:solidFill>
                <a:srgbClr val="D7D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b"/>
              <a:lstStyle/>
              <a:p>
                <a:pPr algn="ctr"/>
                <a:r>
                  <a:rPr lang="pt-BR" sz="700">
                    <a:solidFill>
                      <a:schemeClr val="accent3">
                        <a:lumMod val="50000"/>
                      </a:schemeClr>
                    </a:solidFill>
                  </a:rPr>
                  <a:t>UN1</a:t>
                </a: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F8EF9B8F-FF0B-5205-6397-5CC29D13082A}"/>
                  </a:ext>
                </a:extLst>
              </p:cNvPr>
              <p:cNvSpPr/>
              <p:nvPr/>
            </p:nvSpPr>
            <p:spPr>
              <a:xfrm>
                <a:off x="9831049" y="3056192"/>
                <a:ext cx="224421" cy="238072"/>
              </a:xfrm>
              <a:prstGeom prst="rect">
                <a:avLst/>
              </a:prstGeom>
              <a:solidFill>
                <a:srgbClr val="D7D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b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7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rPr>
                  <a:t>UN2</a:t>
                </a: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FA8DD2AB-2168-3346-FEEB-5673245F1B58}"/>
                  </a:ext>
                </a:extLst>
              </p:cNvPr>
              <p:cNvSpPr/>
              <p:nvPr/>
            </p:nvSpPr>
            <p:spPr>
              <a:xfrm>
                <a:off x="10088552" y="3056192"/>
                <a:ext cx="224421" cy="238072"/>
              </a:xfrm>
              <a:prstGeom prst="rect">
                <a:avLst/>
              </a:prstGeom>
              <a:solidFill>
                <a:srgbClr val="D7D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b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7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rPr>
                  <a:t>UN3</a:t>
                </a: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718CBCFB-F0BD-8B33-75F8-41E9B5159258}"/>
                  </a:ext>
                </a:extLst>
              </p:cNvPr>
              <p:cNvSpPr/>
              <p:nvPr/>
            </p:nvSpPr>
            <p:spPr>
              <a:xfrm>
                <a:off x="10346055" y="3056192"/>
                <a:ext cx="98214" cy="238072"/>
              </a:xfrm>
              <a:prstGeom prst="rect">
                <a:avLst/>
              </a:prstGeom>
              <a:solidFill>
                <a:srgbClr val="D7D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none" lIns="0" tIns="0" rIns="0" bIns="0" rtlCol="0" anchor="b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7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rPr>
                  <a:t>...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DA08C6E-4450-A221-4CC4-DB38FDB7A51E}"/>
                </a:ext>
              </a:extLst>
            </p:cNvPr>
            <p:cNvSpPr/>
            <p:nvPr/>
          </p:nvSpPr>
          <p:spPr>
            <a:xfrm>
              <a:off x="9552459" y="3205396"/>
              <a:ext cx="938302" cy="128648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pt-BR" sz="900" b="1"/>
                <a:t>VMO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94CCA10C-9491-29EB-783A-C95C90BEFF6B}"/>
                </a:ext>
              </a:extLst>
            </p:cNvPr>
            <p:cNvSpPr/>
            <p:nvPr/>
          </p:nvSpPr>
          <p:spPr>
            <a:xfrm>
              <a:off x="9552459" y="3072516"/>
              <a:ext cx="938302" cy="106321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pt-BR" sz="700"/>
                <a:t>COPAT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63B3AC31-ABE1-20E6-D61F-D0E67BEEC75B}"/>
                </a:ext>
              </a:extLst>
            </p:cNvPr>
            <p:cNvSpPr/>
            <p:nvPr/>
          </p:nvSpPr>
          <p:spPr>
            <a:xfrm>
              <a:off x="9552459" y="2933921"/>
              <a:ext cx="938302" cy="106321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pt-BR" sz="700"/>
                <a:t>CD</a:t>
              </a:r>
            </a:p>
          </p:txBody>
        </p:sp>
        <p:sp>
          <p:nvSpPr>
            <p:cNvPr id="131" name="Arrow: Up-Down 130">
              <a:extLst>
                <a:ext uri="{FF2B5EF4-FFF2-40B4-BE49-F238E27FC236}">
                  <a16:creationId xmlns:a16="http://schemas.microsoft.com/office/drawing/2014/main" id="{1D54192E-B1B1-F847-7D82-7D803068118E}"/>
                </a:ext>
              </a:extLst>
            </p:cNvPr>
            <p:cNvSpPr/>
            <p:nvPr/>
          </p:nvSpPr>
          <p:spPr>
            <a:xfrm>
              <a:off x="10392327" y="2990850"/>
              <a:ext cx="66123" cy="426105"/>
            </a:xfrm>
            <a:prstGeom prst="up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sz="1200" err="1"/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FFCB3E6-9BF5-59B1-12B4-B5B4FE14047E}"/>
                </a:ext>
              </a:extLst>
            </p:cNvPr>
            <p:cNvCxnSpPr/>
            <p:nvPr/>
          </p:nvCxnSpPr>
          <p:spPr>
            <a:xfrm flipV="1">
              <a:off x="10753725" y="5612130"/>
              <a:ext cx="0" cy="415290"/>
            </a:xfrm>
            <a:prstGeom prst="line">
              <a:avLst/>
            </a:prstGeom>
            <a:ln w="9525">
              <a:solidFill>
                <a:srgbClr val="FF3246"/>
              </a:solidFill>
              <a:tailEnd type="diamond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895C5D8-65F7-7D4B-0E05-9197E5BCFCED}"/>
                </a:ext>
              </a:extLst>
            </p:cNvPr>
            <p:cNvSpPr txBox="1"/>
            <p:nvPr/>
          </p:nvSpPr>
          <p:spPr>
            <a:xfrm>
              <a:off x="10455416" y="5473904"/>
              <a:ext cx="538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228600">
                <a:spcAft>
                  <a:spcPts val="1200"/>
                </a:spcAft>
              </a:pPr>
              <a:r>
                <a:rPr lang="pt-BR" sz="600" b="1" noProof="0">
                  <a:solidFill>
                    <a:srgbClr val="FF3246"/>
                  </a:solidFill>
                </a:rPr>
                <a:t>Correção rota</a:t>
              </a:r>
            </a:p>
          </p:txBody>
        </p:sp>
        <mc:AlternateContent xmlns:mc="http://schemas.openxmlformats.org/markup-compatibility/2006">
          <mc:Choice xmlns:pslz="http://schemas.microsoft.com/office/powerpoint/2016/slidezoom" Requires="pslz">
            <p:graphicFrame>
              <p:nvGraphicFramePr>
                <p:cNvPr id="134" name="Zoom de Slide 22">
                  <a:extLst>
                    <a:ext uri="{FF2B5EF4-FFF2-40B4-BE49-F238E27FC236}">
                      <a16:creationId xmlns:a16="http://schemas.microsoft.com/office/drawing/2014/main" id="{6DA93188-1CBF-E14B-9540-146D2EEB152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67756286"/>
                    </p:ext>
                  </p:extLst>
                </p:nvPr>
              </p:nvGraphicFramePr>
              <p:xfrm>
                <a:off x="2194171" y="3986465"/>
                <a:ext cx="548209" cy="308368"/>
              </p:xfrm>
              <a:graphic>
                <a:graphicData uri="http://schemas.microsoft.com/office/powerpoint/2016/slidezoom">
                  <pslz:sldZm>
                    <pslz:sldZmObj sldId="375" cId="3739023248">
                      <pslz:zmPr id="{DE5137DC-E858-411A-9F31-93DD0B9F7E4B}" returnToParent="0" transitionDur="1000">
                        <p166:blipFill xmlns:p166="http://schemas.microsoft.com/office/powerpoint/2016/6/main">
                          <a:blip r:embed="rId23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548209" cy="308368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>
            <p:pic>
              <p:nvPicPr>
                <p:cNvPr id="134" name="Zoom de Slide 22">
                  <a:extLst>
                    <a:ext uri="{FF2B5EF4-FFF2-40B4-BE49-F238E27FC236}">
                      <a16:creationId xmlns:a16="http://schemas.microsoft.com/office/drawing/2014/main" id="{6DA93188-1CBF-E14B-9540-146D2EEB152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4171" y="3986465"/>
                  <a:ext cx="548209" cy="30836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9224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Graphik</vt:lpstr>
      <vt:lpstr>Graphik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2026-08-24T13:20:08Z</dcterms:created>
  <dcterms:modified xsi:type="dcterms:W3CDTF">2026-08-24T13:20:08Z</dcterms:modified>
</cp:coreProperties>
</file>