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D447-2F48-FD5D-159F-57A11DBDE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E99A0-CD30-3794-F806-E0DB92CD0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09756-AC92-44B9-4452-E6D23A55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45F09-86D4-C535-C350-F53D030A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C1997-2EEE-9D99-4054-A1AE7731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9545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A281B-7F1F-9B90-8B64-599B11A5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DF205-DA0A-938B-6418-4F2A37722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72153-ECCC-B795-B1C1-6D36CDCDC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ED2A-5855-AFFA-67B4-DD49E78D7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C910E-C59E-1DCE-8460-531B37C1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112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E48E1-CC11-70E3-AE1B-16C3BCD0A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9D947-27E5-ED02-BAA3-01FB818BF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CEA9-80FA-AFDB-BE8B-DEB969D44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303DB-190C-0ADC-D48E-1540655A1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8900C-7A8F-3FFB-0991-EB775CCC5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728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6B3D-9B8A-3EFC-91F4-48D188A6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07287-8D81-BCD6-CBDB-846D642C3E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FC7A3-DCC9-2748-2F5C-613D580AA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D7CFF-16FF-1333-D3DE-978CB52C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8127-72CE-CB6A-E6DA-0DD81F1F0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C2FC0-D97A-3253-FA24-E9B8D030C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21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FAEE-7398-7425-BDF8-B5052529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77B98-C804-C735-2293-31BE25814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28A81E-8715-2BDD-62F4-9366530A6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C7DF5F-3DB5-98D9-593C-9A2AB9CB5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40B3D-D955-42D4-38E0-E57FD5B1D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9C7D7-9379-38DA-5C90-0B585EAB7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528BCA-60F4-2549-A3AE-6FB8FC0F9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484311-E64E-C1EF-B8CB-535FB7E6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64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75661-CEA2-E1EF-7F7D-F582D5E3F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9AC7E7-4578-D9D5-50D5-44E04919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D3106-D78E-C840-154C-10310FB4D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E3BEB-6171-A1DD-2DF2-01638524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994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1A8F9-C093-F77F-7F77-71325774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34F38-C07E-1786-C28C-6E9EA232E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6664F-5EF1-19B9-7930-2DEF5FA8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15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E3D2-F5CF-CCBF-8EF1-55892CB1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C609-D7C8-D626-8419-0B3970893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961627-AF84-76B0-8C28-16E6E1970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B68274-9A37-BB13-D403-ED439F066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BA083-FD7F-7AC4-E6D8-79C0E2CCE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28223-DF2A-CCE1-5C93-E22AC1E6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22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65FD-75C3-CAE0-5F88-C6D216C6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E28B8D-7462-6CF9-9710-A4BB08357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5B9B2-F47E-0C08-CA9B-6B5462DFA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D6EF6-DF10-2B01-106A-A293E5932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C990F-6A2B-026C-67F8-8686817A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9CE3C-A230-F188-12F0-3838E239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83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E1C8-4D86-3975-5358-9003CE06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FAE74-7B9E-EF39-F133-1D084315C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2EF1E-14C7-0F4B-57DC-C136A83E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40F73-2C48-BF41-C1F6-2CC0F115F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E0EF5-ACC5-C265-1C03-029EE15A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75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F031A-5246-1929-0AE4-28E59BB1C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B966A-18B3-2280-725D-2FF01F38D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E222-00E9-F148-313B-807EEACEB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D2B6-B78B-C0A0-F1A3-52BB8FDAD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B95C-E1C5-6CBE-E8FE-1E26F529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563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E8B4B3-547B-4E4D-0618-7CB0D331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82EC9-E96A-AEFC-D1C9-290EAC361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D152D-5163-812B-2560-5E254A2F7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90910-2E18-4346-9069-51FA16FFED2C}" type="datetimeFigureOut">
              <a:rPr lang="pt-BR" smtClean="0"/>
              <a:t>18/08/2026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83ABF-B769-E534-19AB-4A328B052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03A52-A3EC-051B-0B47-A546EA724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4B426-3CFD-47EE-9DAE-36733678E43B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11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741AC22-6036-0B73-553B-20F77CCD1B74}"/>
              </a:ext>
            </a:extLst>
          </p:cNvPr>
          <p:cNvGrpSpPr/>
          <p:nvPr/>
        </p:nvGrpSpPr>
        <p:grpSpPr>
          <a:xfrm>
            <a:off x="502920" y="1554133"/>
            <a:ext cx="11338613" cy="4792408"/>
            <a:chOff x="502920" y="1554133"/>
            <a:chExt cx="11338613" cy="47924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4A7534D-8820-DD9E-16CB-7E34DB1DE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2212" y="5927441"/>
              <a:ext cx="1047750" cy="419100"/>
            </a:xfrm>
            <a:prstGeom prst="rect">
              <a:avLst/>
            </a:prstGeom>
          </p:spPr>
        </p:pic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6438B115-B036-39F1-8A78-0049A23AC857}"/>
                </a:ext>
              </a:extLst>
            </p:cNvPr>
            <p:cNvSpPr/>
            <p:nvPr/>
          </p:nvSpPr>
          <p:spPr>
            <a:xfrm rot="5400000">
              <a:off x="2878572" y="3298880"/>
              <a:ext cx="4291821" cy="1079137"/>
            </a:xfrm>
            <a:prstGeom prst="triangle">
              <a:avLst/>
            </a:prstGeom>
            <a:gradFill>
              <a:gsLst>
                <a:gs pos="100000">
                  <a:schemeClr val="bg1"/>
                </a:gs>
                <a:gs pos="35000">
                  <a:srgbClr val="ECCCFF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912C5381-C7DB-8DC5-CAB2-13F7B38564F8}"/>
                </a:ext>
              </a:extLst>
            </p:cNvPr>
            <p:cNvSpPr/>
            <p:nvPr/>
          </p:nvSpPr>
          <p:spPr>
            <a:xfrm rot="16200000">
              <a:off x="5132686" y="3298880"/>
              <a:ext cx="4291821" cy="1079137"/>
            </a:xfrm>
            <a:prstGeom prst="triangle">
              <a:avLst/>
            </a:prstGeom>
            <a:gradFill>
              <a:gsLst>
                <a:gs pos="100000">
                  <a:schemeClr val="bg1"/>
                </a:gs>
                <a:gs pos="35000">
                  <a:srgbClr val="ECCCFF"/>
                </a:gs>
              </a:gsLst>
              <a:lin ang="5400000" scaled="1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b="1" dirty="0">
                <a:solidFill>
                  <a:schemeClr val="bg1"/>
                </a:solidFill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CD54676-2C58-97C0-246A-918EDEE7904F}"/>
                </a:ext>
              </a:extLst>
            </p:cNvPr>
            <p:cNvGrpSpPr/>
            <p:nvPr/>
          </p:nvGrpSpPr>
          <p:grpSpPr>
            <a:xfrm>
              <a:off x="4825725" y="2397645"/>
              <a:ext cx="2677686" cy="2677686"/>
              <a:chOff x="4544568" y="1987095"/>
              <a:chExt cx="3240000" cy="3240000"/>
            </a:xfrm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F3FBB432-63EF-E20C-1515-1E303079FF0C}"/>
                  </a:ext>
                </a:extLst>
              </p:cNvPr>
              <p:cNvSpPr/>
              <p:nvPr/>
            </p:nvSpPr>
            <p:spPr>
              <a:xfrm>
                <a:off x="4544568" y="1987095"/>
                <a:ext cx="3240000" cy="3240000"/>
              </a:xfrm>
              <a:prstGeom prst="ellipse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934910D-76C6-1FAE-3318-F7879AEAE1BC}"/>
                  </a:ext>
                </a:extLst>
              </p:cNvPr>
              <p:cNvSpPr/>
              <p:nvPr/>
            </p:nvSpPr>
            <p:spPr>
              <a:xfrm>
                <a:off x="4727448" y="2169975"/>
                <a:ext cx="2880000" cy="2880000"/>
              </a:xfrm>
              <a:prstGeom prst="ellipse">
                <a:avLst/>
              </a:prstGeom>
              <a:solidFill>
                <a:schemeClr val="bg1"/>
              </a:solidFill>
              <a:ln w="1016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noProof="0" dirty="0"/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038B6-5952-CD09-E898-25DD37DD08DD}"/>
                </a:ext>
              </a:extLst>
            </p:cNvPr>
            <p:cNvSpPr/>
            <p:nvPr/>
          </p:nvSpPr>
          <p:spPr>
            <a:xfrm>
              <a:off x="502920" y="1695845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1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A3B422-325A-F0FF-B4B8-1A16C5A88C01}"/>
                </a:ext>
              </a:extLst>
            </p:cNvPr>
            <p:cNvSpPr/>
            <p:nvPr/>
          </p:nvSpPr>
          <p:spPr>
            <a:xfrm>
              <a:off x="502920" y="2626177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2</a:t>
              </a:r>
            </a:p>
          </p:txBody>
        </p:sp>
        <p:pic>
          <p:nvPicPr>
            <p:cNvPr id="9" name="Segoe SVG team" descr="Segoe SVG team">
              <a:extLst>
                <a:ext uri="{FF2B5EF4-FFF2-40B4-BE49-F238E27FC236}">
                  <a16:creationId xmlns:a16="http://schemas.microsoft.com/office/drawing/2014/main" id="{A60587CE-9A8D-DBC4-6483-4936BDB2BA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28" y="2618581"/>
              <a:ext cx="360000" cy="360000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B6E4AD7-46EC-4D35-A54C-C07FB582E456}"/>
                </a:ext>
              </a:extLst>
            </p:cNvPr>
            <p:cNvSpPr/>
            <p:nvPr/>
          </p:nvSpPr>
          <p:spPr>
            <a:xfrm>
              <a:off x="502920" y="3556509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9210865-640E-9E9B-FDF1-1896B7A54F0B}"/>
                </a:ext>
              </a:extLst>
            </p:cNvPr>
            <p:cNvSpPr/>
            <p:nvPr/>
          </p:nvSpPr>
          <p:spPr>
            <a:xfrm>
              <a:off x="502920" y="4486841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4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CCD769-C072-3684-1178-E008027B997C}"/>
                </a:ext>
              </a:extLst>
            </p:cNvPr>
            <p:cNvSpPr/>
            <p:nvPr/>
          </p:nvSpPr>
          <p:spPr>
            <a:xfrm>
              <a:off x="502920" y="5417173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5</a:t>
              </a:r>
            </a:p>
          </p:txBody>
        </p:sp>
        <p:pic>
          <p:nvPicPr>
            <p:cNvPr id="13" name="Segoe SVG map_layers" descr="Segoe SVG map_layers">
              <a:extLst>
                <a:ext uri="{FF2B5EF4-FFF2-40B4-BE49-F238E27FC236}">
                  <a16:creationId xmlns:a16="http://schemas.microsoft.com/office/drawing/2014/main" id="{40A1EB01-E666-7EF0-1B71-F12C272D27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28" y="5397612"/>
              <a:ext cx="360000" cy="3600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E47C67-E2E8-7E0A-2B33-5E60A5206D68}"/>
                </a:ext>
              </a:extLst>
            </p:cNvPr>
            <p:cNvSpPr txBox="1"/>
            <p:nvPr/>
          </p:nvSpPr>
          <p:spPr>
            <a:xfrm>
              <a:off x="1563623" y="1631077"/>
              <a:ext cx="2784129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Acoplamento e integrações rígidas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FF38D1-A182-D43D-BA14-D9D4B092E05F}"/>
                </a:ext>
              </a:extLst>
            </p:cNvPr>
            <p:cNvSpPr txBox="1"/>
            <p:nvPr/>
          </p:nvSpPr>
          <p:spPr>
            <a:xfrm>
              <a:off x="1563623" y="1877453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Mudanças entre canais, sistemas e parceiros reduzem a flexibilidade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71F85EE-2796-24F0-B711-DC8C9BCF042D}"/>
                </a:ext>
              </a:extLst>
            </p:cNvPr>
            <p:cNvSpPr txBox="1"/>
            <p:nvPr/>
          </p:nvSpPr>
          <p:spPr>
            <a:xfrm>
              <a:off x="1563623" y="2573373"/>
              <a:ext cx="2684696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Dependência de fornecedores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97434B-6808-F060-3F19-CE2626CF2A75}"/>
                </a:ext>
              </a:extLst>
            </p:cNvPr>
            <p:cNvSpPr txBox="1"/>
            <p:nvPr/>
          </p:nvSpPr>
          <p:spPr>
            <a:xfrm>
              <a:off x="1563623" y="2819749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 err="1">
                  <a:solidFill>
                    <a:srgbClr val="818180"/>
                  </a:solidFill>
                  <a:latin typeface="Graphik"/>
                </a:rPr>
                <a:t>Lock</a:t>
              </a:r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-in eleva custos e dificulta negociação e substituições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49B9DFE-ABE8-983E-4DD0-B22FF0804BBA}"/>
                </a:ext>
              </a:extLst>
            </p:cNvPr>
            <p:cNvSpPr txBox="1"/>
            <p:nvPr/>
          </p:nvSpPr>
          <p:spPr>
            <a:xfrm>
              <a:off x="1563623" y="3442053"/>
              <a:ext cx="2684696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Fragmentação de capacidades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A2AD6EE-6C40-D85C-A217-4E328BC2DEE6}"/>
                </a:ext>
              </a:extLst>
            </p:cNvPr>
            <p:cNvSpPr txBox="1"/>
            <p:nvPr/>
          </p:nvSpPr>
          <p:spPr>
            <a:xfrm>
              <a:off x="1563623" y="3688429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Soluções por produto geram duplicidade e reduzem o reuso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953D04-36B3-DA7F-E34F-8415B07F97B0}"/>
                </a:ext>
              </a:extLst>
            </p:cNvPr>
            <p:cNvSpPr txBox="1"/>
            <p:nvPr/>
          </p:nvSpPr>
          <p:spPr>
            <a:xfrm>
              <a:off x="1563623" y="4265057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Baixa agilidade para lançar e escalar produtos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A5EF4A-ADA0-7B22-B789-F01018957522}"/>
                </a:ext>
              </a:extLst>
            </p:cNvPr>
            <p:cNvSpPr txBox="1"/>
            <p:nvPr/>
          </p:nvSpPr>
          <p:spPr>
            <a:xfrm>
              <a:off x="1563623" y="4588377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Arquitetura e processos não acompanham a velocidade do mercado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E0C4E47-222E-D749-F0FA-70EF96BE4935}"/>
                </a:ext>
              </a:extLst>
            </p:cNvPr>
            <p:cNvSpPr txBox="1"/>
            <p:nvPr/>
          </p:nvSpPr>
          <p:spPr>
            <a:xfrm>
              <a:off x="1563623" y="5275460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Baixa modularidade e evolução independente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8394BF-BA2E-300D-B7B2-CF5BE787A81F}"/>
                </a:ext>
              </a:extLst>
            </p:cNvPr>
            <p:cNvSpPr txBox="1"/>
            <p:nvPr/>
          </p:nvSpPr>
          <p:spPr>
            <a:xfrm>
              <a:off x="1563623" y="5598781"/>
              <a:ext cx="2684696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Componentes não evoluem de forma isolada e independente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487431E-EE8D-0E96-49EA-759EEAB6FC58}"/>
                </a:ext>
              </a:extLst>
            </p:cNvPr>
            <p:cNvSpPr/>
            <p:nvPr/>
          </p:nvSpPr>
          <p:spPr>
            <a:xfrm>
              <a:off x="8164666" y="1695845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6</a:t>
              </a:r>
            </a:p>
          </p:txBody>
        </p:sp>
        <p:pic>
          <p:nvPicPr>
            <p:cNvPr id="25" name="Segoe SVG time" descr="Segoe SVG time">
              <a:extLst>
                <a:ext uri="{FF2B5EF4-FFF2-40B4-BE49-F238E27FC236}">
                  <a16:creationId xmlns:a16="http://schemas.microsoft.com/office/drawing/2014/main" id="{55D2DE92-26BB-FE1C-7F29-03F1D6E0D7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85875" y="1676285"/>
              <a:ext cx="360000" cy="360000"/>
            </a:xfrm>
            <a:prstGeom prst="rect">
              <a:avLst/>
            </a:prstGeom>
          </p:spPr>
        </p:pic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E3D1D0F-C757-0884-3545-753BC1C15936}"/>
                </a:ext>
              </a:extLst>
            </p:cNvPr>
            <p:cNvSpPr/>
            <p:nvPr/>
          </p:nvSpPr>
          <p:spPr>
            <a:xfrm>
              <a:off x="8164666" y="2626177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7</a:t>
              </a:r>
            </a:p>
          </p:txBody>
        </p:sp>
        <p:pic>
          <p:nvPicPr>
            <p:cNvPr id="27" name="Segoe SVG chart" descr="Segoe SVG chart">
              <a:extLst>
                <a:ext uri="{FF2B5EF4-FFF2-40B4-BE49-F238E27FC236}">
                  <a16:creationId xmlns:a16="http://schemas.microsoft.com/office/drawing/2014/main" id="{ADCB876B-F5F2-C97E-D244-5F43BDFA1A7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85875" y="2499245"/>
              <a:ext cx="360000" cy="360000"/>
            </a:xfrm>
            <a:prstGeom prst="rect">
              <a:avLst/>
            </a:prstGeom>
          </p:spPr>
        </p:pic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A43FE9F-EEC9-E285-E878-AC5292049618}"/>
                </a:ext>
              </a:extLst>
            </p:cNvPr>
            <p:cNvSpPr/>
            <p:nvPr/>
          </p:nvSpPr>
          <p:spPr>
            <a:xfrm>
              <a:off x="8164666" y="3556509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8</a:t>
              </a:r>
            </a:p>
          </p:txBody>
        </p:sp>
        <p:pic>
          <p:nvPicPr>
            <p:cNvPr id="29" name="Segoe SVG code" descr="Segoe SVG code">
              <a:extLst>
                <a:ext uri="{FF2B5EF4-FFF2-40B4-BE49-F238E27FC236}">
                  <a16:creationId xmlns:a16="http://schemas.microsoft.com/office/drawing/2014/main" id="{2BAF41D1-6C5B-6509-0938-5D2DFD9A0B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685875" y="3530163"/>
              <a:ext cx="360000" cy="360000"/>
            </a:xfrm>
            <a:prstGeom prst="rect">
              <a:avLst/>
            </a:prstGeom>
          </p:spPr>
        </p:pic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F1F75E2-3403-C7B3-4D61-3DB82C1219D6}"/>
                </a:ext>
              </a:extLst>
            </p:cNvPr>
            <p:cNvSpPr/>
            <p:nvPr/>
          </p:nvSpPr>
          <p:spPr>
            <a:xfrm>
              <a:off x="8164666" y="4486841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9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5487CEA-B265-353C-6DB7-93A824BEE41B}"/>
                </a:ext>
              </a:extLst>
            </p:cNvPr>
            <p:cNvSpPr/>
            <p:nvPr/>
          </p:nvSpPr>
          <p:spPr>
            <a:xfrm>
              <a:off x="8164666" y="5417173"/>
              <a:ext cx="384048" cy="384048"/>
            </a:xfrm>
            <a:prstGeom prst="ellipse">
              <a:avLst/>
            </a:prstGeom>
            <a:solidFill>
              <a:srgbClr val="7500C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pt-BR" sz="1400" b="1" noProof="0" dirty="0">
                  <a:solidFill>
                    <a:srgbClr val="FFFFFF"/>
                  </a:solidFill>
                  <a:latin typeface="Graphik"/>
                </a:rPr>
                <a:t>10</a:t>
              </a:r>
            </a:p>
          </p:txBody>
        </p:sp>
        <p:pic>
          <p:nvPicPr>
            <p:cNvPr id="32" name="Segoe SVG warning" descr="Segoe SVG warning">
              <a:extLst>
                <a:ext uri="{FF2B5EF4-FFF2-40B4-BE49-F238E27FC236}">
                  <a16:creationId xmlns:a16="http://schemas.microsoft.com/office/drawing/2014/main" id="{C9E387BD-761C-579D-66B0-62DA326779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85875" y="5397612"/>
              <a:ext cx="360000" cy="3600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A57FC6F-D0A3-DB65-6D42-D8AB81AA2AD6}"/>
                </a:ext>
              </a:extLst>
            </p:cNvPr>
            <p:cNvSpPr txBox="1"/>
            <p:nvPr/>
          </p:nvSpPr>
          <p:spPr>
            <a:xfrm>
              <a:off x="9225370" y="1554133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Processamento batch e baixa fluidez operacional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DC5C617-1BCB-F592-03C2-63B38FEDCE17}"/>
                </a:ext>
              </a:extLst>
            </p:cNvPr>
            <p:cNvSpPr txBox="1"/>
            <p:nvPr/>
          </p:nvSpPr>
          <p:spPr>
            <a:xfrm>
              <a:off x="9225370" y="1877453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Batch aumenta latência e prejudica jornadas em tempo real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531D7F2-384A-14F1-FC3C-17E4340F48DB}"/>
                </a:ext>
              </a:extLst>
            </p:cNvPr>
            <p:cNvSpPr txBox="1"/>
            <p:nvPr/>
          </p:nvSpPr>
          <p:spPr>
            <a:xfrm>
              <a:off x="9225370" y="2377093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Observabilidade e rastreabilidade limitadas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78BFE5C-68F7-1F5F-6BF0-4E19ABA826E8}"/>
                </a:ext>
              </a:extLst>
            </p:cNvPr>
            <p:cNvSpPr txBox="1"/>
            <p:nvPr/>
          </p:nvSpPr>
          <p:spPr>
            <a:xfrm>
              <a:off x="9225370" y="2700413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Baixa visibilidade dificulta diagnóstico, SLA e auditoria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18C68E-5015-F111-2F23-60991AC7D1FE}"/>
                </a:ext>
              </a:extLst>
            </p:cNvPr>
            <p:cNvSpPr txBox="1"/>
            <p:nvPr/>
          </p:nvSpPr>
          <p:spPr>
            <a:xfrm>
              <a:off x="9225370" y="3408011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Manutenção onerosa e releases complexos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D4CD09B-62A2-DF8B-02BA-DDEC1EFD5CA9}"/>
                </a:ext>
              </a:extLst>
            </p:cNvPr>
            <p:cNvSpPr txBox="1"/>
            <p:nvPr/>
          </p:nvSpPr>
          <p:spPr>
            <a:xfrm>
              <a:off x="9225370" y="3731331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Dependências geram regressões e elevam o custo de sustentação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217E14C-3ACC-221D-2EA0-F5DF65FA0A01}"/>
                </a:ext>
              </a:extLst>
            </p:cNvPr>
            <p:cNvSpPr txBox="1"/>
            <p:nvPr/>
          </p:nvSpPr>
          <p:spPr>
            <a:xfrm>
              <a:off x="9225370" y="4322783"/>
              <a:ext cx="2616163" cy="209288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Fraudes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7437E85-7581-8DE2-AA52-7B230CDFCC80}"/>
                </a:ext>
              </a:extLst>
            </p:cNvPr>
            <p:cNvSpPr txBox="1"/>
            <p:nvPr/>
          </p:nvSpPr>
          <p:spPr>
            <a:xfrm>
              <a:off x="9225370" y="4569159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Crescente riscos de fraudes com ataques cada vez mais sofisticados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8C4EAA4-635B-8AB4-86C1-400AE07174B5}"/>
                </a:ext>
              </a:extLst>
            </p:cNvPr>
            <p:cNvSpPr txBox="1"/>
            <p:nvPr/>
          </p:nvSpPr>
          <p:spPr>
            <a:xfrm>
              <a:off x="9225370" y="5275460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000000"/>
                  </a:solidFill>
                  <a:latin typeface="Graphik Semibold"/>
                </a:rPr>
                <a:t>Pressão sobre cobrança e recuperação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7A63FB-FABC-5538-4E52-8F3CC265B88D}"/>
                </a:ext>
              </a:extLst>
            </p:cNvPr>
            <p:cNvSpPr txBox="1"/>
            <p:nvPr/>
          </p:nvSpPr>
          <p:spPr>
            <a:xfrm>
              <a:off x="9225370" y="5598781"/>
              <a:ext cx="2616163" cy="363176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/>
              <a:r>
                <a:rPr lang="pt-BR" sz="1000" noProof="0" dirty="0">
                  <a:solidFill>
                    <a:srgbClr val="818180"/>
                  </a:solidFill>
                  <a:latin typeface="Graphik"/>
                </a:rPr>
                <a:t>Carteiras maiores exigem pós-venda e recuperação escaláveis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98517B6-E550-D752-5104-81A8F0507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5183" t="7009" r="2365" b="5693"/>
            <a:stretch>
              <a:fillRect/>
            </a:stretch>
          </p:blipFill>
          <p:spPr>
            <a:xfrm>
              <a:off x="5255055" y="2610971"/>
              <a:ext cx="1870864" cy="1766556"/>
            </a:xfrm>
            <a:prstGeom prst="ellipse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ACE8D5A-BEC6-3EEA-4C57-C2CE6551025B}"/>
                </a:ext>
              </a:extLst>
            </p:cNvPr>
            <p:cNvSpPr txBox="1"/>
            <p:nvPr/>
          </p:nvSpPr>
          <p:spPr>
            <a:xfrm>
              <a:off x="5258098" y="4212252"/>
              <a:ext cx="1909866" cy="517065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spAutoFit/>
            </a:bodyPr>
            <a:lstStyle/>
            <a:p>
              <a:pPr algn="ctr"/>
              <a:r>
                <a:rPr lang="pt-BR" sz="1500" noProof="0" dirty="0">
                  <a:solidFill>
                    <a:srgbClr val="000000"/>
                  </a:solidFill>
                  <a:latin typeface="Graphik Semibold"/>
                </a:rPr>
                <a:t>Plataformas de crédito</a:t>
              </a:r>
            </a:p>
          </p:txBody>
        </p:sp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4CAF8EC-0B16-5637-1DE0-4BCA212F9D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9542" y="3530163"/>
              <a:ext cx="360000" cy="360000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CF844E3E-763A-A3DD-608E-E9F334098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102727" y="5198668"/>
              <a:ext cx="854290" cy="266626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446D5F23-394D-9C76-7582-8B96965C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053747" y="5165305"/>
              <a:ext cx="1047750" cy="371475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977E0E78-676B-69A2-E632-3F942BBC9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00646" y="5535545"/>
              <a:ext cx="1066800" cy="361950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BF7F2C61-EFF2-A1A7-463B-C4155223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431761" y="5516408"/>
              <a:ext cx="1066800" cy="428625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FBDD921-C17E-1CF5-9898-66043A548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05997" y="5949761"/>
              <a:ext cx="1047750" cy="371475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DB75C98A-E45C-C99F-D44B-BB3CED0438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2161" y="4451895"/>
              <a:ext cx="360000" cy="360000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FEE654DC-9672-374B-504D-677A7E5B41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42161" y="1697453"/>
              <a:ext cx="360000" cy="360000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7CEABD70-074E-30AA-82D1-AEBBE03292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685875" y="4492358"/>
              <a:ext cx="337114" cy="337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782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</Words>
  <Application>Microsoft Office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Graphik</vt:lpstr>
      <vt:lpstr>Graphik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2026-08-18T11:08:39Z</dcterms:created>
  <dcterms:modified xsi:type="dcterms:W3CDTF">2026-08-18T11:08:39Z</dcterms:modified>
</cp:coreProperties>
</file>