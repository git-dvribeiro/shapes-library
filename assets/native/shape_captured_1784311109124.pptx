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FF5A7-9CF9-9253-BCB0-C328C6C68A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23453F-B378-A308-9AD9-FEF110BB55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EC5E7-BD82-F078-9ABD-EEDE1427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4FB81-2EB5-D43F-5ED2-6511ED685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C5D36-8C1F-D149-9B3B-B4A5633E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953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6BD4E-76D3-8C9C-42A7-326F9EB92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844C4-1CF3-76D3-D10D-CD5D060B2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AC61C-1446-0987-D3B9-34635F153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8236D-1BEE-5C60-34B8-100AE80A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05FE1-2433-6C6C-6E92-63B5E6BD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368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E476-DCD2-51AA-9004-8E5D6C773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6ED0C-F221-6700-376D-50478450C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84D61-2D95-1597-0284-816D0DC38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488F7-FFC7-5DC6-C576-1ECB16ABC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292E-736E-E640-243A-F55805F5A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844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F8785-3D91-79DC-D274-D540A53CD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7A604-CB22-1E5A-B2BA-2686618284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323F7-26A8-DA84-BF38-96243FC10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024087-0BE5-37CF-AC8B-279A968CC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03A62-7DD8-C295-EA7E-1C25DA53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7611A-48A5-8848-401D-41ADFB691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7578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14315-90EA-656A-C8CE-1EE9BE794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D580F-8893-90DE-47E8-A1CA4713F2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4618F-2D9C-D75C-A258-9B6976C41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4DB0F-7595-4358-C677-73B0681C0E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84DE6-CCC1-FE0D-CB5F-2927A25594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7ABFB1-C861-7BFB-8EF2-E3926DE27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6FBF9-0101-9BE7-261B-1861B3798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8B829-07CF-3549-19CE-1A40070EB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56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8678-6273-66D3-38D9-014D62015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ECA43-1109-D55D-FE14-07B57425A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1EBA0-5FFC-519E-BBDD-B33EF8EC1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E47D8-3D62-709C-FF03-67EBD69C8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26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6BF96-4C9E-7FBB-3AEF-5A6ED11D8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166914-6ED4-62C9-24BF-9A217EBC0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571815-0C6F-BD10-0F5E-D9F8EAB68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6252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11E2F-D800-6A85-D58F-B1B5AF0CF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F875-9787-0320-9D49-92F2F7255F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A4A03-6BBB-0454-5382-375DEB2A73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F95248-EB0F-82BB-05BA-B7A474790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02469-28B4-46AA-3744-D35C0DF00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F5A42-D1FB-9400-C235-00B6791CA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0475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E355-B869-BD32-010E-F88CFBF11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58BA3D-0CF1-A046-07E1-E75A17169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CE0675-5769-1F6D-0856-4BBAAA443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EB4B4-373F-A5B5-A1F2-9C947E47A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EB3AE-2DC6-8EBF-14A9-A2683EC9D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0BAA-1C67-B638-F7E2-1F7DC76E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477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DDF7E-3AFC-11AD-041F-804175881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499DF5-D815-E6ED-A2EE-A48C3232AD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2BE5C-4DF2-44E3-ED28-C423E10D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CBA21-9E1B-81AF-88D7-3B2BDF694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2B7F9-8CF5-CFDA-74E6-5B1D2810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3407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C8CDC0-BE4C-B3CD-C3FC-803D04958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A00F94-F4CA-EC8A-0974-98D89990F0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B361B-DC04-4965-493F-069DFF05F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2E32F-5F0A-04D0-02DB-6D044661F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C6E69-025B-F93E-33A2-AFF7D62F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6555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0F223-699F-5484-368A-F79192852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AB3ABE-4C1A-B83E-F793-3565DC47B5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730AB-2800-A074-81E2-4D3827F42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5D5D7E-0481-438C-8966-F33ACFE7997B}" type="datetimeFigureOut">
              <a:rPr lang="pt-BR" smtClean="0"/>
              <a:t>17/07/2026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30D96-6727-9BE5-0D78-310196529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DF2D4-95D6-0BCA-A34D-9DB280675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DD072-3DBB-4243-8D9D-40C5222AA69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5122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778587D-B17A-258E-B65C-0A31285F0E6B}"/>
              </a:ext>
            </a:extLst>
          </p:cNvPr>
          <p:cNvGrpSpPr/>
          <p:nvPr/>
        </p:nvGrpSpPr>
        <p:grpSpPr>
          <a:xfrm>
            <a:off x="356915" y="1388221"/>
            <a:ext cx="11613712" cy="5298331"/>
            <a:chOff x="356915" y="1388221"/>
            <a:chExt cx="11613712" cy="5298331"/>
          </a:xfrm>
        </p:grpSpPr>
        <p:sp>
          <p:nvSpPr>
            <p:cNvPr id="3" name="Trapezoid 42">
              <a:extLst>
                <a:ext uri="{FF2B5EF4-FFF2-40B4-BE49-F238E27FC236}">
                  <a16:creationId xmlns:a16="http://schemas.microsoft.com/office/drawing/2014/main" id="{D011ED6C-41A4-10E9-5C68-A9D8EEEB8EA6}"/>
                </a:ext>
              </a:extLst>
            </p:cNvPr>
            <p:cNvSpPr/>
            <p:nvPr/>
          </p:nvSpPr>
          <p:spPr>
            <a:xfrm rot="10800000">
              <a:off x="356915" y="3747240"/>
              <a:ext cx="3021510" cy="215277"/>
            </a:xfrm>
            <a:custGeom>
              <a:avLst/>
              <a:gdLst>
                <a:gd name="csX0" fmla="*/ 0 w 3021510"/>
                <a:gd name="csY0" fmla="*/ 261169 h 261169"/>
                <a:gd name="csX1" fmla="*/ 553255 w 3021510"/>
                <a:gd name="csY1" fmla="*/ 0 h 261169"/>
                <a:gd name="csX2" fmla="*/ 2468255 w 3021510"/>
                <a:gd name="csY2" fmla="*/ 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5325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21510" h="261169">
                  <a:moveTo>
                    <a:pt x="0" y="261169"/>
                  </a:moveTo>
                  <a:cubicBezTo>
                    <a:pt x="213383" y="202888"/>
                    <a:pt x="423568" y="138211"/>
                    <a:pt x="563415" y="0"/>
                  </a:cubicBezTo>
                  <a:lnTo>
                    <a:pt x="2534295" y="5080"/>
                  </a:lnTo>
                  <a:cubicBezTo>
                    <a:pt x="2658333" y="132007"/>
                    <a:pt x="2827133" y="188595"/>
                    <a:pt x="3021510" y="261169"/>
                  </a:cubicBezTo>
                  <a:lnTo>
                    <a:pt x="0" y="261169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F2F2F2"/>
                </a:gs>
                <a:gs pos="32000">
                  <a:schemeClr val="bg1">
                    <a:lumMod val="95000"/>
                  </a:schemeClr>
                </a:gs>
                <a:gs pos="86000">
                  <a:schemeClr val="accent4">
                    <a:lumMod val="20000"/>
                    <a:lumOff val="8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sp>
          <p:nvSpPr>
            <p:cNvPr id="4" name="Trapezoid 42">
              <a:extLst>
                <a:ext uri="{FF2B5EF4-FFF2-40B4-BE49-F238E27FC236}">
                  <a16:creationId xmlns:a16="http://schemas.microsoft.com/office/drawing/2014/main" id="{DF75B926-93AB-3D49-E279-5ABF0398603A}"/>
                </a:ext>
              </a:extLst>
            </p:cNvPr>
            <p:cNvSpPr/>
            <p:nvPr/>
          </p:nvSpPr>
          <p:spPr>
            <a:xfrm>
              <a:off x="361995" y="4489446"/>
              <a:ext cx="3021510" cy="167752"/>
            </a:xfrm>
            <a:custGeom>
              <a:avLst/>
              <a:gdLst>
                <a:gd name="csX0" fmla="*/ 0 w 3021510"/>
                <a:gd name="csY0" fmla="*/ 261169 h 261169"/>
                <a:gd name="csX1" fmla="*/ 553255 w 3021510"/>
                <a:gd name="csY1" fmla="*/ 0 h 261169"/>
                <a:gd name="csX2" fmla="*/ 2468255 w 3021510"/>
                <a:gd name="csY2" fmla="*/ 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5325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53429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563415 w 3021510"/>
                <a:gd name="csY1" fmla="*/ 0 h 261169"/>
                <a:gd name="csX2" fmla="*/ 243777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1169 h 261169"/>
                <a:gd name="csX1" fmla="*/ 487215 w 3021510"/>
                <a:gd name="csY1" fmla="*/ 0 h 261169"/>
                <a:gd name="csX2" fmla="*/ 2437775 w 3021510"/>
                <a:gd name="csY2" fmla="*/ 5080 h 261169"/>
                <a:gd name="csX3" fmla="*/ 3021510 w 3021510"/>
                <a:gd name="csY3" fmla="*/ 261169 h 261169"/>
                <a:gd name="csX4" fmla="*/ 0 w 3021510"/>
                <a:gd name="csY4" fmla="*/ 261169 h 261169"/>
                <a:gd name="csX0" fmla="*/ 0 w 3021510"/>
                <a:gd name="csY0" fmla="*/ 263707 h 263707"/>
                <a:gd name="csX1" fmla="*/ 487215 w 3021510"/>
                <a:gd name="csY1" fmla="*/ 2538 h 263707"/>
                <a:gd name="csX2" fmla="*/ 2437775 w 3021510"/>
                <a:gd name="csY2" fmla="*/ 0 h 263707"/>
                <a:gd name="csX3" fmla="*/ 3021510 w 3021510"/>
                <a:gd name="csY3" fmla="*/ 263707 h 263707"/>
                <a:gd name="csX4" fmla="*/ 0 w 3021510"/>
                <a:gd name="csY4" fmla="*/ 263707 h 263707"/>
                <a:gd name="csX0" fmla="*/ 0 w 3021510"/>
                <a:gd name="csY0" fmla="*/ 263707 h 263707"/>
                <a:gd name="csX1" fmla="*/ 487215 w 3021510"/>
                <a:gd name="csY1" fmla="*/ 2538 h 263707"/>
                <a:gd name="csX2" fmla="*/ 2437775 w 3021510"/>
                <a:gd name="csY2" fmla="*/ 0 h 263707"/>
                <a:gd name="csX3" fmla="*/ 3021510 w 3021510"/>
                <a:gd name="csY3" fmla="*/ 263707 h 263707"/>
                <a:gd name="csX4" fmla="*/ 0 w 3021510"/>
                <a:gd name="csY4" fmla="*/ 263707 h 263707"/>
                <a:gd name="csX0" fmla="*/ 0 w 3021510"/>
                <a:gd name="csY0" fmla="*/ 263707 h 263707"/>
                <a:gd name="csX1" fmla="*/ 487215 w 3021510"/>
                <a:gd name="csY1" fmla="*/ 2538 h 263707"/>
                <a:gd name="csX2" fmla="*/ 2437775 w 3021510"/>
                <a:gd name="csY2" fmla="*/ 0 h 263707"/>
                <a:gd name="csX3" fmla="*/ 3021510 w 3021510"/>
                <a:gd name="csY3" fmla="*/ 263707 h 263707"/>
                <a:gd name="csX4" fmla="*/ 0 w 3021510"/>
                <a:gd name="csY4" fmla="*/ 263707 h 263707"/>
                <a:gd name="csX0" fmla="*/ 0 w 3021510"/>
                <a:gd name="csY0" fmla="*/ 263707 h 263707"/>
                <a:gd name="csX1" fmla="*/ 487215 w 3021510"/>
                <a:gd name="csY1" fmla="*/ 2538 h 263707"/>
                <a:gd name="csX2" fmla="*/ 2437775 w 3021510"/>
                <a:gd name="csY2" fmla="*/ 0 h 263707"/>
                <a:gd name="csX3" fmla="*/ 3021510 w 3021510"/>
                <a:gd name="csY3" fmla="*/ 263707 h 263707"/>
                <a:gd name="csX4" fmla="*/ 0 w 3021510"/>
                <a:gd name="csY4" fmla="*/ 263707 h 263707"/>
                <a:gd name="csX0" fmla="*/ 0 w 3021510"/>
                <a:gd name="csY0" fmla="*/ 263707 h 263707"/>
                <a:gd name="csX1" fmla="*/ 487215 w 3021510"/>
                <a:gd name="csY1" fmla="*/ 2538 h 263707"/>
                <a:gd name="csX2" fmla="*/ 2437775 w 3021510"/>
                <a:gd name="csY2" fmla="*/ 0 h 263707"/>
                <a:gd name="csX3" fmla="*/ 3021510 w 3021510"/>
                <a:gd name="csY3" fmla="*/ 263707 h 263707"/>
                <a:gd name="csX4" fmla="*/ 0 w 3021510"/>
                <a:gd name="csY4" fmla="*/ 263707 h 263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021510" h="263707">
                  <a:moveTo>
                    <a:pt x="0" y="263707"/>
                  </a:moveTo>
                  <a:cubicBezTo>
                    <a:pt x="191180" y="214744"/>
                    <a:pt x="391952" y="150542"/>
                    <a:pt x="487215" y="2538"/>
                  </a:cubicBezTo>
                  <a:lnTo>
                    <a:pt x="2437775" y="0"/>
                  </a:lnTo>
                  <a:cubicBezTo>
                    <a:pt x="2597184" y="137421"/>
                    <a:pt x="2798157" y="206280"/>
                    <a:pt x="3021510" y="263707"/>
                  </a:cubicBezTo>
                  <a:lnTo>
                    <a:pt x="0" y="263707"/>
                  </a:lnTo>
                  <a:close/>
                </a:path>
              </a:pathLst>
            </a:custGeom>
            <a:gradFill>
              <a:gsLst>
                <a:gs pos="0">
                  <a:srgbClr val="F2F2F2"/>
                </a:gs>
                <a:gs pos="32000">
                  <a:schemeClr val="bg1">
                    <a:lumMod val="95000"/>
                  </a:schemeClr>
                </a:gs>
                <a:gs pos="86000">
                  <a:schemeClr val="accent4">
                    <a:lumMod val="20000"/>
                    <a:lumOff val="80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087F267-2E4B-0509-5240-F22B2F974C97}"/>
                </a:ext>
              </a:extLst>
            </p:cNvPr>
            <p:cNvSpPr/>
            <p:nvPr/>
          </p:nvSpPr>
          <p:spPr>
            <a:xfrm rot="16200000">
              <a:off x="7427923" y="3656790"/>
              <a:ext cx="3560155" cy="571923"/>
            </a:xfrm>
            <a:prstGeom prst="rect">
              <a:avLst/>
            </a:prstGeom>
            <a:solidFill>
              <a:srgbClr val="580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r"/>
              <a:r>
                <a:rPr lang="en-US" sz="1050">
                  <a:solidFill>
                    <a:schemeClr val="bg1"/>
                  </a:solidFill>
                </a:rPr>
                <a:t>Org. &amp; Tech</a:t>
              </a:r>
            </a:p>
            <a:p>
              <a:pPr algn="r"/>
              <a:r>
                <a:rPr lang="en-US" sz="700">
                  <a:solidFill>
                    <a:schemeClr val="bg1"/>
                  </a:solidFill>
                </a:rPr>
                <a:t>(</a:t>
              </a:r>
              <a:r>
                <a:rPr lang="en-US" sz="700" err="1">
                  <a:solidFill>
                    <a:schemeClr val="bg1"/>
                  </a:solidFill>
                </a:rPr>
                <a:t>Tamanho</a:t>
              </a:r>
              <a:r>
                <a:rPr lang="en-US" sz="700">
                  <a:solidFill>
                    <a:schemeClr val="bg1"/>
                  </a:solidFill>
                </a:rPr>
                <a:t> de times,</a:t>
              </a:r>
              <a:br>
                <a:rPr lang="en-US" sz="700">
                  <a:solidFill>
                    <a:schemeClr val="bg1"/>
                  </a:solidFill>
                </a:rPr>
              </a:br>
              <a:r>
                <a:rPr lang="en-US" sz="700">
                  <a:solidFill>
                    <a:schemeClr val="bg1"/>
                  </a:solidFill>
                </a:rPr>
                <a:t>Build, Buy or Borrow)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042D09E-C7D7-A8DF-1904-4A212A13DA5A}"/>
                </a:ext>
              </a:extLst>
            </p:cNvPr>
            <p:cNvSpPr/>
            <p:nvPr/>
          </p:nvSpPr>
          <p:spPr>
            <a:xfrm rot="16200000">
              <a:off x="6123536" y="3656790"/>
              <a:ext cx="3560154" cy="571923"/>
            </a:xfrm>
            <a:prstGeom prst="rect">
              <a:avLst/>
            </a:prstGeom>
            <a:solidFill>
              <a:srgbClr val="580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r"/>
              <a:r>
                <a:rPr lang="pt-BR" sz="1050"/>
                <a:t>Go </a:t>
              </a:r>
              <a:r>
                <a:rPr lang="pt-BR" sz="1050" err="1"/>
                <a:t>to</a:t>
              </a:r>
              <a:r>
                <a:rPr lang="pt-BR" sz="1050"/>
                <a:t> Market </a:t>
              </a:r>
            </a:p>
            <a:p>
              <a:pPr algn="r"/>
              <a:r>
                <a:rPr lang="pt-BR" sz="700"/>
                <a:t>(Experiência, </a:t>
              </a:r>
            </a:p>
            <a:p>
              <a:pPr algn="r"/>
              <a:r>
                <a:rPr lang="pt-BR" sz="700"/>
                <a:t>Modelo de distribuição, </a:t>
              </a:r>
            </a:p>
            <a:p>
              <a:pPr algn="r"/>
              <a:r>
                <a:rPr lang="pt-BR" sz="700"/>
                <a:t>Posicionamento )</a:t>
              </a:r>
              <a:endParaRPr lang="pt-BR" sz="105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978FA54-4A71-A0EA-D78E-215A621F012B}"/>
                </a:ext>
              </a:extLst>
            </p:cNvPr>
            <p:cNvSpPr/>
            <p:nvPr/>
          </p:nvSpPr>
          <p:spPr>
            <a:xfrm rot="16200000">
              <a:off x="6775730" y="3656789"/>
              <a:ext cx="3560154" cy="571925"/>
            </a:xfrm>
            <a:prstGeom prst="rect">
              <a:avLst/>
            </a:prstGeom>
            <a:solidFill>
              <a:srgbClr val="58009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r"/>
              <a:r>
                <a:rPr lang="pt-BR" sz="1050"/>
                <a:t>Infra Regulatória</a:t>
              </a:r>
            </a:p>
            <a:p>
              <a:pPr algn="r"/>
              <a:r>
                <a:rPr lang="pt-BR" sz="700"/>
                <a:t>(Licença &amp; Self Clearing)</a:t>
              </a:r>
              <a:endParaRPr lang="en-US" sz="700"/>
            </a:p>
          </p:txBody>
        </p:sp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CB480A2C-45FD-B1A4-D219-319819871CC2}"/>
                </a:ext>
              </a:extLst>
            </p:cNvPr>
            <p:cNvSpPr/>
            <p:nvPr/>
          </p:nvSpPr>
          <p:spPr>
            <a:xfrm>
              <a:off x="380998" y="1388221"/>
              <a:ext cx="3176811" cy="330448"/>
            </a:xfrm>
            <a:prstGeom prst="homePlat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1200" b="1"/>
                <a:t>Mercado: Demandas e Competição</a:t>
              </a:r>
            </a:p>
          </p:txBody>
        </p:sp>
        <p:sp>
          <p:nvSpPr>
            <p:cNvPr id="9" name="Arrow: Chevron 8">
              <a:extLst>
                <a:ext uri="{FF2B5EF4-FFF2-40B4-BE49-F238E27FC236}">
                  <a16:creationId xmlns:a16="http://schemas.microsoft.com/office/drawing/2014/main" id="{3D3262FB-AAD3-F8E3-7587-9E9B28529F07}"/>
                </a:ext>
              </a:extLst>
            </p:cNvPr>
            <p:cNvSpPr/>
            <p:nvPr/>
          </p:nvSpPr>
          <p:spPr>
            <a:xfrm>
              <a:off x="3405285" y="1388221"/>
              <a:ext cx="6377070" cy="330448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Caminho de crescimento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8507549-705D-78BA-E579-DE28ADD2579D}"/>
                </a:ext>
              </a:extLst>
            </p:cNvPr>
            <p:cNvSpPr/>
            <p:nvPr/>
          </p:nvSpPr>
          <p:spPr>
            <a:xfrm>
              <a:off x="366722" y="1788041"/>
              <a:ext cx="3021510" cy="1959197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ctr"/>
              <a:r>
                <a:rPr lang="pt-BR" sz="1100">
                  <a:solidFill>
                    <a:schemeClr val="accent1"/>
                  </a:solidFill>
                  <a:latin typeface="+mj-lt"/>
                </a:rPr>
                <a:t>DEMANDA CLIENTES</a:t>
              </a:r>
              <a:endParaRPr lang="en-US" sz="110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1DDC5D5-8547-536D-4FCB-C42D5906F84B}"/>
                </a:ext>
              </a:extLst>
            </p:cNvPr>
            <p:cNvSpPr txBox="1"/>
            <p:nvPr/>
          </p:nvSpPr>
          <p:spPr>
            <a:xfrm>
              <a:off x="439235" y="2045584"/>
              <a:ext cx="2846308" cy="914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/>
                <a:t>Mercado </a:t>
              </a:r>
              <a:r>
                <a:rPr lang="pt-BR" sz="1050" b="1" noProof="0"/>
                <a:t>offshore</a:t>
              </a:r>
              <a:r>
                <a:rPr lang="pt-BR" sz="1050" noProof="0"/>
                <a:t> de investimentos ainda é </a:t>
              </a:r>
              <a:r>
                <a:rPr lang="pt-BR" sz="1050" b="1" noProof="0" err="1"/>
                <a:t>subpenetrado</a:t>
              </a:r>
              <a:endParaRPr lang="pt-BR" sz="1050" b="1" noProof="0"/>
            </a:p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/>
                <a:t>Clientes alvo buscam </a:t>
              </a:r>
              <a:r>
                <a:rPr lang="pt-BR" sz="1050" b="1" noProof="0"/>
                <a:t>vida mais global</a:t>
              </a:r>
              <a:r>
                <a:rPr lang="pt-BR" sz="1050" noProof="0"/>
                <a:t>, além de investimentos (e.g. </a:t>
              </a:r>
              <a:r>
                <a:rPr lang="pt-BR" sz="1050" noProof="0" err="1"/>
                <a:t>mortgage</a:t>
              </a:r>
              <a:r>
                <a:rPr lang="pt-BR" sz="1050" noProof="0"/>
                <a:t>)</a:t>
              </a:r>
            </a:p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/>
                <a:t>Base de </a:t>
              </a:r>
              <a:r>
                <a:rPr lang="pt-BR" sz="1050" b="1"/>
                <a:t>clientes Itaú </a:t>
              </a:r>
              <a:r>
                <a:rPr lang="pt-BR" sz="1050"/>
                <a:t>é mais que suficiente para </a:t>
              </a:r>
              <a:r>
                <a:rPr lang="pt-BR" sz="1050" b="1"/>
                <a:t>viabilizar crescimento</a:t>
              </a:r>
              <a:endParaRPr lang="pt-BR" sz="1050" b="1" noProof="0"/>
            </a:p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/>
                <a:t>Clientes valorizam </a:t>
              </a:r>
              <a:r>
                <a:rPr lang="pt-BR" sz="1050" b="1" noProof="0"/>
                <a:t>experiência integrada </a:t>
              </a:r>
              <a:r>
                <a:rPr lang="pt-BR" sz="1050" noProof="0"/>
                <a:t>(</a:t>
              </a:r>
              <a:r>
                <a:rPr lang="pt-BR" sz="1050" noProof="0" err="1"/>
                <a:t>onshore</a:t>
              </a:r>
              <a:r>
                <a:rPr lang="pt-BR" sz="1050" noProof="0"/>
                <a:t> + offshore)</a:t>
              </a:r>
              <a:endParaRPr lang="pt-BR" sz="1050" noProof="0">
                <a:highlight>
                  <a:srgbClr val="FFFF00"/>
                </a:highlight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F850E1ED-6C54-B9AE-4965-AD282BB58962}"/>
                </a:ext>
              </a:extLst>
            </p:cNvPr>
            <p:cNvGrpSpPr/>
            <p:nvPr/>
          </p:nvGrpSpPr>
          <p:grpSpPr>
            <a:xfrm>
              <a:off x="826667" y="3956115"/>
              <a:ext cx="1999987" cy="529933"/>
              <a:chOff x="826667" y="3956115"/>
              <a:chExt cx="1999987" cy="529933"/>
            </a:xfrm>
          </p:grpSpPr>
          <p:sp>
            <p:nvSpPr>
              <p:cNvPr id="73" name="Rectangle: Rounded Corners 72">
                <a:extLst>
                  <a:ext uri="{FF2B5EF4-FFF2-40B4-BE49-F238E27FC236}">
                    <a16:creationId xmlns:a16="http://schemas.microsoft.com/office/drawing/2014/main" id="{1359965C-0B50-B000-FECD-DC2B3F9FC929}"/>
                  </a:ext>
                </a:extLst>
              </p:cNvPr>
              <p:cNvSpPr/>
              <p:nvPr/>
            </p:nvSpPr>
            <p:spPr>
              <a:xfrm>
                <a:off x="826667" y="3956115"/>
                <a:ext cx="1999987" cy="529933"/>
              </a:xfrm>
              <a:prstGeom prst="roundRect">
                <a:avLst>
                  <a:gd name="adj" fmla="val 6471"/>
                </a:avLst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endParaRPr lang="pt-BR" err="1"/>
              </a:p>
            </p:txBody>
          </p:sp>
          <p:pic>
            <p:nvPicPr>
              <p:cNvPr id="74" name="Picture 2">
                <a:extLst>
                  <a:ext uri="{FF2B5EF4-FFF2-40B4-BE49-F238E27FC236}">
                    <a16:creationId xmlns:a16="http://schemas.microsoft.com/office/drawing/2014/main" id="{AD342ED9-A29D-96D3-E5D4-42AE250A98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2582" y="4133669"/>
                <a:ext cx="964583" cy="180369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5" name="Picture 2" descr="Itaú is made of the future">
                <a:extLst>
                  <a:ext uri="{FF2B5EF4-FFF2-40B4-BE49-F238E27FC236}">
                    <a16:creationId xmlns:a16="http://schemas.microsoft.com/office/drawing/2014/main" id="{18747B2E-F4D3-9785-7A7C-07EA8A37BB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2704" r="19862" b="3755"/>
              <a:stretch>
                <a:fillRect/>
              </a:stretch>
            </p:blipFill>
            <p:spPr bwMode="auto">
              <a:xfrm>
                <a:off x="2232377" y="3998968"/>
                <a:ext cx="379465" cy="380478"/>
              </a:xfrm>
              <a:prstGeom prst="rect">
                <a:avLst/>
              </a:prstGeom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CEB33201-F853-BD33-6A88-E14129C0F023}"/>
                  </a:ext>
                </a:extLst>
              </p:cNvPr>
              <p:cNvSpPr txBox="1"/>
              <p:nvPr/>
            </p:nvSpPr>
            <p:spPr>
              <a:xfrm>
                <a:off x="2037573" y="4093693"/>
                <a:ext cx="160867" cy="15233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 defTabSz="228600">
                  <a:spcAft>
                    <a:spcPts val="1200"/>
                  </a:spcAft>
                </a:pPr>
                <a:r>
                  <a:rPr lang="pt-BR" sz="1600" noProof="0">
                    <a:solidFill>
                      <a:schemeClr val="bg1">
                        <a:lumMod val="65000"/>
                      </a:schemeClr>
                    </a:solidFill>
                  </a:rPr>
                  <a:t>+</a:t>
                </a:r>
                <a:endParaRPr lang="pt-BR" sz="2000" noProof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B67794-014D-5D3E-E60F-9EA0593CEF0F}"/>
                </a:ext>
              </a:extLst>
            </p:cNvPr>
            <p:cNvSpPr/>
            <p:nvPr/>
          </p:nvSpPr>
          <p:spPr>
            <a:xfrm rot="10800000">
              <a:off x="366714" y="4657197"/>
              <a:ext cx="3016789" cy="171781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ctr"/>
              <a:endParaRPr lang="en-US" sz="1100" b="1" err="1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3551D2E-C33E-9311-0237-1C9A5F4A5C4F}"/>
                </a:ext>
              </a:extLst>
            </p:cNvPr>
            <p:cNvSpPr txBox="1"/>
            <p:nvPr/>
          </p:nvSpPr>
          <p:spPr>
            <a:xfrm>
              <a:off x="1068207" y="6112074"/>
              <a:ext cx="1460606" cy="23423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noAutofit/>
            </a:bodyPr>
            <a:lstStyle/>
            <a:p>
              <a:pPr algn="ctr" defTabSz="228600">
                <a:spcAft>
                  <a:spcPts val="600"/>
                </a:spcAft>
              </a:pPr>
              <a:r>
                <a:rPr lang="pt-BR" sz="1100">
                  <a:solidFill>
                    <a:schemeClr val="accent1"/>
                  </a:solidFill>
                  <a:latin typeface="+mj-lt"/>
                </a:rPr>
                <a:t>COMPETIÇÃO</a:t>
              </a:r>
              <a:endParaRPr lang="en-US" sz="110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A9009A-8092-385C-6FE0-4257E31E2B4E}"/>
                </a:ext>
              </a:extLst>
            </p:cNvPr>
            <p:cNvSpPr txBox="1"/>
            <p:nvPr/>
          </p:nvSpPr>
          <p:spPr>
            <a:xfrm>
              <a:off x="439234" y="4866072"/>
              <a:ext cx="2944271" cy="91440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/>
                <a:t>Avenue foi pioneira em invest. offshore, mas </a:t>
              </a:r>
              <a:r>
                <a:rPr lang="pt-BR" sz="1050" b="1" noProof="0"/>
                <a:t>competidores já fizeram o catch-</a:t>
              </a:r>
              <a:r>
                <a:rPr lang="pt-BR" sz="1050" b="1" noProof="0" err="1"/>
                <a:t>up</a:t>
              </a:r>
              <a:endParaRPr lang="pt-BR" sz="1050" b="1" noProof="0"/>
            </a:p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b="1" noProof="0"/>
                <a:t>Avenue está atrás </a:t>
              </a:r>
              <a:r>
                <a:rPr lang="pt-BR" sz="1050" noProof="0"/>
                <a:t>de competidores em oferta de </a:t>
              </a:r>
              <a:r>
                <a:rPr lang="pt-BR" sz="1050" b="1" noProof="0"/>
                <a:t>banking e crédito offshore</a:t>
              </a:r>
            </a:p>
            <a:p>
              <a:pPr marL="144000" indent="-144000" algn="l" defTabSz="2286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/>
                <a:t>Evolução competitiva da oferta rival coloca em </a:t>
              </a:r>
              <a:r>
                <a:rPr lang="pt-BR" sz="1050" b="1"/>
                <a:t>risco a principalidade de clientes Itaú</a:t>
              </a:r>
              <a:endParaRPr lang="pt-BR" sz="105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4EE0ADA-CBB9-EDD2-BE4E-A9CF1747487B}"/>
                </a:ext>
              </a:extLst>
            </p:cNvPr>
            <p:cNvSpPr/>
            <p:nvPr/>
          </p:nvSpPr>
          <p:spPr>
            <a:xfrm>
              <a:off x="3598355" y="2985509"/>
              <a:ext cx="2527046" cy="3128400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t" anchorCtr="0"/>
            <a:lstStyle/>
            <a:p>
              <a:pPr>
                <a:spcAft>
                  <a:spcPts val="900"/>
                </a:spcAft>
              </a:pPr>
              <a:r>
                <a:rPr lang="pt-BR" sz="1100">
                  <a:solidFill>
                    <a:schemeClr val="accent1"/>
                  </a:solidFill>
                  <a:latin typeface="+mj-lt"/>
                </a:rPr>
                <a:t>ESTRATÉGIA PROPOSTA</a:t>
              </a:r>
            </a:p>
            <a:p>
              <a:pPr>
                <a:spcAft>
                  <a:spcPts val="900"/>
                </a:spcAft>
              </a:pPr>
              <a:r>
                <a:rPr lang="pt-BR" sz="1050" b="1" noProof="0">
                  <a:solidFill>
                    <a:schemeClr val="tx1"/>
                  </a:solidFill>
                </a:rPr>
                <a:t>Aumentar penetração em clientes do Itaú</a:t>
              </a:r>
              <a:r>
                <a:rPr lang="pt-BR" sz="1050" noProof="0">
                  <a:solidFill>
                    <a:schemeClr val="tx1"/>
                  </a:solidFill>
                </a:rPr>
                <a:t>, se aproveitando da principalidade e oferecendo melhor proposição de valor ao:</a:t>
              </a:r>
            </a:p>
            <a:p>
              <a:pPr marL="144000" indent="-1440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tx1"/>
                  </a:solidFill>
                </a:rPr>
                <a:t>Aumentar a </a:t>
              </a:r>
              <a:r>
                <a:rPr lang="pt-BR" sz="1050" b="1" noProof="0">
                  <a:solidFill>
                    <a:schemeClr val="tx1"/>
                  </a:solidFill>
                </a:rPr>
                <a:t>amplitude da oferta</a:t>
              </a:r>
              <a:r>
                <a:rPr lang="pt-BR" sz="1050" noProof="0">
                  <a:solidFill>
                    <a:schemeClr val="tx1"/>
                  </a:solidFill>
                </a:rPr>
                <a:t> off </a:t>
              </a:r>
              <a:r>
                <a:rPr lang="pt-BR" sz="1050" noProof="0" err="1">
                  <a:solidFill>
                    <a:schemeClr val="tx1"/>
                  </a:solidFill>
                </a:rPr>
                <a:t>shore</a:t>
              </a:r>
              <a:r>
                <a:rPr lang="pt-BR" sz="1050" noProof="0">
                  <a:solidFill>
                    <a:schemeClr val="tx1"/>
                  </a:solidFill>
                </a:rPr>
                <a:t> para junto com Itaú ser </a:t>
              </a:r>
              <a:r>
                <a:rPr lang="pt-BR" sz="1050" b="1" noProof="0" err="1">
                  <a:solidFill>
                    <a:schemeClr val="tx1"/>
                  </a:solidFill>
                </a:rPr>
                <a:t>one</a:t>
              </a:r>
              <a:r>
                <a:rPr lang="pt-BR" sz="1050" b="1" noProof="0">
                  <a:solidFill>
                    <a:schemeClr val="tx1"/>
                  </a:solidFill>
                </a:rPr>
                <a:t> stop shop</a:t>
              </a:r>
              <a:endParaRPr lang="pt-BR" sz="1050" noProof="0">
                <a:solidFill>
                  <a:schemeClr val="tx1"/>
                </a:solidFill>
              </a:endParaRPr>
            </a:p>
            <a:p>
              <a:pPr marL="144000" indent="-1440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 noProof="0">
                  <a:solidFill>
                    <a:schemeClr val="tx1"/>
                  </a:solidFill>
                </a:rPr>
                <a:t>Prover experiência da </a:t>
              </a:r>
              <a:r>
                <a:rPr lang="pt-BR" sz="1050" b="1" noProof="0">
                  <a:solidFill>
                    <a:schemeClr val="tx1"/>
                  </a:solidFill>
                </a:rPr>
                <a:t>oferta integrada ao Itaú</a:t>
              </a:r>
            </a:p>
            <a:p>
              <a:pPr marL="144000" indent="-1440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>
                  <a:solidFill>
                    <a:schemeClr val="tx1"/>
                  </a:solidFill>
                </a:rPr>
                <a:t>Tornar</a:t>
              </a:r>
              <a:r>
                <a:rPr lang="pt-BR" sz="1050" b="1">
                  <a:solidFill>
                    <a:schemeClr val="tx1"/>
                  </a:solidFill>
                </a:rPr>
                <a:t> modelo de servir escalável </a:t>
              </a:r>
              <a:r>
                <a:rPr lang="pt-BR" sz="1050">
                  <a:solidFill>
                    <a:schemeClr val="tx1"/>
                  </a:solidFill>
                </a:rPr>
                <a:t>e eficiente</a:t>
              </a:r>
            </a:p>
            <a:p>
              <a:pPr marL="144000" indent="-144000">
                <a:spcAft>
                  <a:spcPts val="900"/>
                </a:spcAft>
                <a:buFont typeface="Arial" panose="020B0604020202020204" pitchFamily="34" charset="0"/>
                <a:buChar char="•"/>
              </a:pPr>
              <a:r>
                <a:rPr lang="pt-BR" sz="1050">
                  <a:solidFill>
                    <a:schemeClr val="tx1"/>
                  </a:solidFill>
                </a:rPr>
                <a:t>Assegurar</a:t>
              </a:r>
              <a:r>
                <a:rPr lang="pt-BR" sz="1050" b="1">
                  <a:solidFill>
                    <a:schemeClr val="tx1"/>
                  </a:solidFill>
                </a:rPr>
                <a:t> precificação adequada</a:t>
              </a:r>
              <a:endParaRPr lang="pt-BR" sz="1050" b="1" noProof="0">
                <a:solidFill>
                  <a:schemeClr val="tx1"/>
                </a:solidFill>
              </a:endParaRPr>
            </a:p>
          </p:txBody>
        </p:sp>
        <p:sp>
          <p:nvSpPr>
            <p:cNvPr id="17" name="Arrow: Pentagon 16">
              <a:extLst>
                <a:ext uri="{FF2B5EF4-FFF2-40B4-BE49-F238E27FC236}">
                  <a16:creationId xmlns:a16="http://schemas.microsoft.com/office/drawing/2014/main" id="{DF047B2C-5B23-9841-5897-4C46C327EA39}"/>
                </a:ext>
              </a:extLst>
            </p:cNvPr>
            <p:cNvSpPr/>
            <p:nvPr/>
          </p:nvSpPr>
          <p:spPr>
            <a:xfrm>
              <a:off x="6500131" y="3455455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Investimentos </a:t>
              </a:r>
              <a:br>
                <a:rPr lang="pt-BR" sz="1050" b="1">
                  <a:solidFill>
                    <a:schemeClr val="tx1"/>
                  </a:solidFill>
                </a:rPr>
              </a:br>
              <a:r>
                <a:rPr lang="pt-BR" sz="1050" b="1">
                  <a:solidFill>
                    <a:schemeClr val="tx1"/>
                  </a:solidFill>
                </a:rPr>
                <a:t>offshore</a:t>
              </a:r>
              <a:endParaRPr lang="en-US" sz="1050" b="1">
                <a:solidFill>
                  <a:schemeClr val="tx1"/>
                </a:solidFill>
              </a:endParaRPr>
            </a:p>
          </p:txBody>
        </p:sp>
        <p:sp>
          <p:nvSpPr>
            <p:cNvPr id="18" name="Arrow: Pentagon 17">
              <a:extLst>
                <a:ext uri="{FF2B5EF4-FFF2-40B4-BE49-F238E27FC236}">
                  <a16:creationId xmlns:a16="http://schemas.microsoft.com/office/drawing/2014/main" id="{29263725-2CF8-3859-15BF-459DC12F835D}"/>
                </a:ext>
              </a:extLst>
            </p:cNvPr>
            <p:cNvSpPr/>
            <p:nvPr/>
          </p:nvSpPr>
          <p:spPr>
            <a:xfrm>
              <a:off x="6500131" y="4965072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Cartão</a:t>
              </a:r>
              <a:endParaRPr lang="en-US" sz="1050" b="1" err="1">
                <a:solidFill>
                  <a:schemeClr val="tx1"/>
                </a:solidFill>
              </a:endParaRPr>
            </a:p>
          </p:txBody>
        </p:sp>
        <p:sp>
          <p:nvSpPr>
            <p:cNvPr id="19" name="Arrow: Pentagon 18">
              <a:extLst>
                <a:ext uri="{FF2B5EF4-FFF2-40B4-BE49-F238E27FC236}">
                  <a16:creationId xmlns:a16="http://schemas.microsoft.com/office/drawing/2014/main" id="{183FC100-FB84-268D-7B0A-C6050DEFDC81}"/>
                </a:ext>
              </a:extLst>
            </p:cNvPr>
            <p:cNvSpPr/>
            <p:nvPr/>
          </p:nvSpPr>
          <p:spPr>
            <a:xfrm>
              <a:off x="6500131" y="5339281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 err="1">
                  <a:solidFill>
                    <a:schemeClr val="tx1"/>
                  </a:solidFill>
                </a:rPr>
                <a:t>Mortgage</a:t>
              </a:r>
              <a:endParaRPr lang="en-US" sz="1050" b="1" err="1">
                <a:solidFill>
                  <a:schemeClr val="tx1"/>
                </a:solidFill>
              </a:endParaRPr>
            </a:p>
          </p:txBody>
        </p:sp>
        <p:sp>
          <p:nvSpPr>
            <p:cNvPr id="20" name="Arrow: Pentagon 19">
              <a:extLst>
                <a:ext uri="{FF2B5EF4-FFF2-40B4-BE49-F238E27FC236}">
                  <a16:creationId xmlns:a16="http://schemas.microsoft.com/office/drawing/2014/main" id="{6A5BEE43-ABBD-C7CC-23A5-80FCC114A263}"/>
                </a:ext>
              </a:extLst>
            </p:cNvPr>
            <p:cNvSpPr/>
            <p:nvPr/>
          </p:nvSpPr>
          <p:spPr>
            <a:xfrm>
              <a:off x="6500131" y="4587667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Cofrinho</a:t>
              </a:r>
              <a:endParaRPr lang="en-US" sz="1050" b="1" err="1">
                <a:solidFill>
                  <a:schemeClr val="tx1"/>
                </a:solidFill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3E3515F3-E2B6-7520-693F-1C0988FC9D3F}"/>
                </a:ext>
              </a:extLst>
            </p:cNvPr>
            <p:cNvSpPr/>
            <p:nvPr/>
          </p:nvSpPr>
          <p:spPr>
            <a:xfrm>
              <a:off x="9635480" y="1388221"/>
              <a:ext cx="2315220" cy="330448"/>
            </a:xfrm>
            <a:prstGeom prst="chevron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1200" b="1">
                  <a:solidFill>
                    <a:schemeClr val="bg1"/>
                  </a:solidFill>
                </a:rPr>
                <a:t>Modelo Execução</a:t>
              </a:r>
            </a:p>
          </p:txBody>
        </p:sp>
        <p:sp>
          <p:nvSpPr>
            <p:cNvPr id="22" name="Arrow: Pentagon 21">
              <a:extLst>
                <a:ext uri="{FF2B5EF4-FFF2-40B4-BE49-F238E27FC236}">
                  <a16:creationId xmlns:a16="http://schemas.microsoft.com/office/drawing/2014/main" id="{654AB622-B041-F39F-3046-429D74391FEA}"/>
                </a:ext>
              </a:extLst>
            </p:cNvPr>
            <p:cNvSpPr/>
            <p:nvPr/>
          </p:nvSpPr>
          <p:spPr>
            <a:xfrm>
              <a:off x="6500131" y="3832859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 err="1">
                  <a:solidFill>
                    <a:schemeClr val="tx1"/>
                  </a:solidFill>
                </a:rPr>
                <a:t>BOaaS</a:t>
              </a:r>
              <a:endParaRPr lang="en-US" sz="1050" b="1">
                <a:solidFill>
                  <a:schemeClr val="tx1"/>
                </a:solidFill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0BAAD28E-2A66-293D-7406-443CE3814138}"/>
                </a:ext>
              </a:extLst>
            </p:cNvPr>
            <p:cNvSpPr/>
            <p:nvPr/>
          </p:nvSpPr>
          <p:spPr>
            <a:xfrm>
              <a:off x="7819793" y="3507741"/>
              <a:ext cx="167640" cy="167640"/>
            </a:xfrm>
            <a:prstGeom prst="ellipse">
              <a:avLst/>
            </a:prstGeom>
            <a:solidFill>
              <a:srgbClr val="CD80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B7E9EBA-4DD8-44FA-B54D-7D1FE7252D94}"/>
                </a:ext>
              </a:extLst>
            </p:cNvPr>
            <p:cNvSpPr/>
            <p:nvPr/>
          </p:nvSpPr>
          <p:spPr>
            <a:xfrm>
              <a:off x="7819793" y="3890117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937450-742A-3B4D-A366-D786F0F17736}"/>
                </a:ext>
              </a:extLst>
            </p:cNvPr>
            <p:cNvSpPr/>
            <p:nvPr/>
          </p:nvSpPr>
          <p:spPr>
            <a:xfrm>
              <a:off x="7819793" y="4644925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C3A857-906F-BD85-0796-564D007C7F4C}"/>
                </a:ext>
              </a:extLst>
            </p:cNvPr>
            <p:cNvSpPr/>
            <p:nvPr/>
          </p:nvSpPr>
          <p:spPr>
            <a:xfrm>
              <a:off x="7819793" y="5022330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4C519C1-8A79-D7BB-DD84-0909E4AE70DE}"/>
                </a:ext>
              </a:extLst>
            </p:cNvPr>
            <p:cNvSpPr/>
            <p:nvPr/>
          </p:nvSpPr>
          <p:spPr>
            <a:xfrm>
              <a:off x="8471987" y="3517685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D6951B2-D0D4-F015-A6E0-1F9340177983}"/>
                </a:ext>
              </a:extLst>
            </p:cNvPr>
            <p:cNvSpPr/>
            <p:nvPr/>
          </p:nvSpPr>
          <p:spPr>
            <a:xfrm>
              <a:off x="8471987" y="3890117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05FD6FE6-9EAD-6F6C-5F4B-8293F69EC94B}"/>
                </a:ext>
              </a:extLst>
            </p:cNvPr>
            <p:cNvSpPr/>
            <p:nvPr/>
          </p:nvSpPr>
          <p:spPr>
            <a:xfrm>
              <a:off x="8471987" y="4644925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1A8992E-1C77-AB2E-9240-12EBB5F3926C}"/>
                </a:ext>
              </a:extLst>
            </p:cNvPr>
            <p:cNvSpPr/>
            <p:nvPr/>
          </p:nvSpPr>
          <p:spPr>
            <a:xfrm>
              <a:off x="8471987" y="5022330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20CF9DD-5E42-3A70-E172-8A6544F82044}"/>
                </a:ext>
              </a:extLst>
            </p:cNvPr>
            <p:cNvSpPr/>
            <p:nvPr/>
          </p:nvSpPr>
          <p:spPr>
            <a:xfrm>
              <a:off x="9124180" y="3517685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394279DB-58BC-DFEA-1868-4009ADADFBE9}"/>
                </a:ext>
              </a:extLst>
            </p:cNvPr>
            <p:cNvSpPr/>
            <p:nvPr/>
          </p:nvSpPr>
          <p:spPr>
            <a:xfrm>
              <a:off x="9124180" y="3890117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9A5F7C-21F6-DB09-F450-25EB015AF21C}"/>
                </a:ext>
              </a:extLst>
            </p:cNvPr>
            <p:cNvSpPr/>
            <p:nvPr/>
          </p:nvSpPr>
          <p:spPr>
            <a:xfrm>
              <a:off x="9124180" y="4644925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CDA53D5-B239-D3FA-76C1-7F233C991DED}"/>
                </a:ext>
              </a:extLst>
            </p:cNvPr>
            <p:cNvSpPr/>
            <p:nvPr/>
          </p:nvSpPr>
          <p:spPr>
            <a:xfrm>
              <a:off x="9124180" y="5022330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7B420C6-D7F0-6163-7575-CD9908B247AC}"/>
                </a:ext>
              </a:extLst>
            </p:cNvPr>
            <p:cNvSpPr/>
            <p:nvPr/>
          </p:nvSpPr>
          <p:spPr>
            <a:xfrm>
              <a:off x="10178095" y="2943209"/>
              <a:ext cx="1792532" cy="3142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t"/>
            <a:lstStyle/>
            <a:p>
              <a:r>
                <a:rPr lang="pt-BR" sz="1100">
                  <a:solidFill>
                    <a:schemeClr val="accent1"/>
                  </a:solidFill>
                  <a:latin typeface="+mj-lt"/>
                </a:rPr>
                <a:t>NOVO PLANO DE NEGÓCIOS</a:t>
              </a:r>
              <a:endParaRPr lang="en-US" sz="110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3FDFEE3-83AF-9B96-DBAE-FB104B3E4112}"/>
                </a:ext>
              </a:extLst>
            </p:cNvPr>
            <p:cNvSpPr/>
            <p:nvPr/>
          </p:nvSpPr>
          <p:spPr>
            <a:xfrm>
              <a:off x="10236200" y="4560884"/>
              <a:ext cx="1496245" cy="48727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Roadmap execução</a:t>
              </a:r>
              <a:endParaRPr lang="en-US" sz="1050" b="1">
                <a:solidFill>
                  <a:schemeClr val="tx1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8C076278-E417-4574-B019-36305C48B858}"/>
                </a:ext>
              </a:extLst>
            </p:cNvPr>
            <p:cNvSpPr/>
            <p:nvPr/>
          </p:nvSpPr>
          <p:spPr>
            <a:xfrm>
              <a:off x="10236200" y="3987208"/>
              <a:ext cx="1496245" cy="48727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Investimentos &amp; Retornos</a:t>
              </a:r>
              <a:endParaRPr lang="en-US" sz="1050" b="1">
                <a:solidFill>
                  <a:schemeClr val="tx1"/>
                </a:solidFill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14F5360-AC1F-B359-10B2-4681970F4898}"/>
                </a:ext>
              </a:extLst>
            </p:cNvPr>
            <p:cNvSpPr/>
            <p:nvPr/>
          </p:nvSpPr>
          <p:spPr>
            <a:xfrm>
              <a:off x="10236200" y="3413532"/>
              <a:ext cx="1496245" cy="487270"/>
            </a:xfrm>
            <a:prstGeom prst="rect">
              <a:avLst/>
            </a:prstGeom>
            <a:solidFill>
              <a:srgbClr val="F2F2F2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pt-BR" sz="1050" b="1">
                  <a:solidFill>
                    <a:schemeClr val="tx1"/>
                  </a:solidFill>
                </a:rPr>
                <a:t>Governança com Itaú</a:t>
              </a:r>
              <a:endParaRPr lang="en-US" sz="1050" b="1" err="1">
                <a:solidFill>
                  <a:schemeClr val="tx1"/>
                </a:solidFill>
              </a:endParaRP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BF73803-1A9F-EC79-DFDC-BCD3EB13E89E}"/>
                </a:ext>
              </a:extLst>
            </p:cNvPr>
            <p:cNvCxnSpPr/>
            <p:nvPr/>
          </p:nvCxnSpPr>
          <p:spPr>
            <a:xfrm>
              <a:off x="6299200" y="1947184"/>
              <a:ext cx="5578573" cy="0"/>
            </a:xfrm>
            <a:prstGeom prst="straightConnector1">
              <a:avLst/>
            </a:prstGeom>
            <a:ln w="28575">
              <a:solidFill>
                <a:schemeClr val="bg1">
                  <a:lumMod val="7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9B3F2EC-FE38-06C3-1057-CB685AAB0A46}"/>
                </a:ext>
              </a:extLst>
            </p:cNvPr>
            <p:cNvSpPr txBox="1"/>
            <p:nvPr/>
          </p:nvSpPr>
          <p:spPr>
            <a:xfrm>
              <a:off x="8131736" y="1843401"/>
              <a:ext cx="1734285" cy="19454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lIns="0" tIns="0" rIns="0" bIns="0" rtlCol="0" anchor="ctr">
              <a:noAutofit/>
            </a:bodyPr>
            <a:lstStyle/>
            <a:p>
              <a:pPr algn="ctr" defTabSz="228600">
                <a:spcAft>
                  <a:spcPts val="1200"/>
                </a:spcAft>
              </a:pPr>
              <a:r>
                <a:rPr lang="pt-BR" sz="1100" b="1" noProof="0"/>
                <a:t>Foco restante projeto</a:t>
              </a:r>
              <a:endParaRPr lang="en-US" sz="1100" b="1" noProof="0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2EC3439-A2E8-AB12-1900-FEE1C0543875}"/>
                </a:ext>
              </a:extLst>
            </p:cNvPr>
            <p:cNvSpPr/>
            <p:nvPr/>
          </p:nvSpPr>
          <p:spPr>
            <a:xfrm>
              <a:off x="11648625" y="3335728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8CB3D4C9-03EF-AA46-DD68-D3376AD169EB}"/>
                </a:ext>
              </a:extLst>
            </p:cNvPr>
            <p:cNvSpPr/>
            <p:nvPr/>
          </p:nvSpPr>
          <p:spPr>
            <a:xfrm>
              <a:off x="11648625" y="3917877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B66D27A-5B10-ACE5-DC4B-56E89FE8BBCD}"/>
                </a:ext>
              </a:extLst>
            </p:cNvPr>
            <p:cNvSpPr/>
            <p:nvPr/>
          </p:nvSpPr>
          <p:spPr>
            <a:xfrm>
              <a:off x="11648625" y="4476507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BBF877D-88C9-942B-5BC3-670873791EBE}"/>
                </a:ext>
              </a:extLst>
            </p:cNvPr>
            <p:cNvSpPr/>
            <p:nvPr/>
          </p:nvSpPr>
          <p:spPr>
            <a:xfrm>
              <a:off x="435706" y="2084206"/>
              <a:ext cx="95655" cy="95655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08ABD44A-EF36-5B17-B6C7-5C387951EA61}"/>
                </a:ext>
              </a:extLst>
            </p:cNvPr>
            <p:cNvSpPr/>
            <p:nvPr/>
          </p:nvSpPr>
          <p:spPr>
            <a:xfrm>
              <a:off x="435706" y="2515609"/>
              <a:ext cx="95655" cy="95655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8F0372D-B486-9E00-5A26-8CEE8FFD4AAC}"/>
                </a:ext>
              </a:extLst>
            </p:cNvPr>
            <p:cNvSpPr/>
            <p:nvPr/>
          </p:nvSpPr>
          <p:spPr>
            <a:xfrm>
              <a:off x="435706" y="2947012"/>
              <a:ext cx="95655" cy="95655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BB7DF6E-A2DE-884D-FBB6-DE49B492C1A1}"/>
                </a:ext>
              </a:extLst>
            </p:cNvPr>
            <p:cNvSpPr/>
            <p:nvPr/>
          </p:nvSpPr>
          <p:spPr>
            <a:xfrm>
              <a:off x="435706" y="3378416"/>
              <a:ext cx="95655" cy="9565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6E9319CD-A861-ACC4-23FD-C6EB24612F2B}"/>
                </a:ext>
              </a:extLst>
            </p:cNvPr>
            <p:cNvSpPr/>
            <p:nvPr/>
          </p:nvSpPr>
          <p:spPr>
            <a:xfrm>
              <a:off x="435706" y="4900267"/>
              <a:ext cx="95655" cy="95655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BCE4EE-FA0E-4D0E-8DBA-CAF2B44ABFDD}"/>
                </a:ext>
              </a:extLst>
            </p:cNvPr>
            <p:cNvSpPr/>
            <p:nvPr/>
          </p:nvSpPr>
          <p:spPr>
            <a:xfrm>
              <a:off x="435706" y="5357682"/>
              <a:ext cx="95655" cy="95655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1069AA3-EC6F-EB86-4E0A-1D83CA820990}"/>
                </a:ext>
              </a:extLst>
            </p:cNvPr>
            <p:cNvSpPr/>
            <p:nvPr/>
          </p:nvSpPr>
          <p:spPr>
            <a:xfrm>
              <a:off x="435706" y="5766839"/>
              <a:ext cx="95655" cy="9565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7E764F23-56E3-F5C2-204E-A8BEB5B804AB}"/>
                </a:ext>
              </a:extLst>
            </p:cNvPr>
            <p:cNvSpPr/>
            <p:nvPr/>
          </p:nvSpPr>
          <p:spPr>
            <a:xfrm>
              <a:off x="3659253" y="4165668"/>
              <a:ext cx="95655" cy="9565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6570CCE5-B577-7C57-C2B5-D4B55EE028A9}"/>
                </a:ext>
              </a:extLst>
            </p:cNvPr>
            <p:cNvSpPr/>
            <p:nvPr/>
          </p:nvSpPr>
          <p:spPr>
            <a:xfrm>
              <a:off x="3669396" y="4738692"/>
              <a:ext cx="95655" cy="9565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8CC7641-F2F2-331C-CF9F-BE1D38427ED7}"/>
                </a:ext>
              </a:extLst>
            </p:cNvPr>
            <p:cNvSpPr txBox="1"/>
            <p:nvPr/>
          </p:nvSpPr>
          <p:spPr>
            <a:xfrm>
              <a:off x="6545337" y="3214954"/>
              <a:ext cx="1028312" cy="33110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defTabSz="228600">
                <a:spcAft>
                  <a:spcPts val="600"/>
                </a:spcAft>
              </a:pPr>
              <a:r>
                <a:rPr lang="pt-BR" sz="1100">
                  <a:solidFill>
                    <a:schemeClr val="accent1"/>
                  </a:solidFill>
                  <a:latin typeface="+mj-lt"/>
                </a:rPr>
                <a:t>OFERTAS</a:t>
              </a:r>
              <a:endParaRPr lang="en-US" sz="110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54" name="Arrow: Pentagon 53">
              <a:extLst>
                <a:ext uri="{FF2B5EF4-FFF2-40B4-BE49-F238E27FC236}">
                  <a16:creationId xmlns:a16="http://schemas.microsoft.com/office/drawing/2014/main" id="{2DC47072-393D-2CB0-7B5E-0D0F4B2BB980}"/>
                </a:ext>
              </a:extLst>
            </p:cNvPr>
            <p:cNvSpPr/>
            <p:nvPr/>
          </p:nvSpPr>
          <p:spPr>
            <a:xfrm>
              <a:off x="6500131" y="4210263"/>
              <a:ext cx="3187700" cy="29210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r>
                <a:rPr lang="en-US" sz="1050" b="1">
                  <a:solidFill>
                    <a:schemeClr val="tx1"/>
                  </a:solidFill>
                </a:rPr>
                <a:t>Conta global </a:t>
              </a:r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24AEC1D-AD00-77B0-9541-C5FE64426F72}"/>
                </a:ext>
              </a:extLst>
            </p:cNvPr>
            <p:cNvSpPr/>
            <p:nvPr/>
          </p:nvSpPr>
          <p:spPr>
            <a:xfrm>
              <a:off x="7819793" y="5405853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D511F69-F703-A0C7-4B92-F1340949235F}"/>
                </a:ext>
              </a:extLst>
            </p:cNvPr>
            <p:cNvSpPr/>
            <p:nvPr/>
          </p:nvSpPr>
          <p:spPr>
            <a:xfrm>
              <a:off x="9139455" y="5405853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B2967D3-4B36-62C6-33B8-C386308D9DBD}"/>
                </a:ext>
              </a:extLst>
            </p:cNvPr>
            <p:cNvSpPr/>
            <p:nvPr/>
          </p:nvSpPr>
          <p:spPr>
            <a:xfrm>
              <a:off x="8471987" y="5405853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833FA82-AEDF-815A-8D51-C297DF06307D}"/>
                </a:ext>
              </a:extLst>
            </p:cNvPr>
            <p:cNvSpPr/>
            <p:nvPr/>
          </p:nvSpPr>
          <p:spPr>
            <a:xfrm>
              <a:off x="7819793" y="4267521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611F645-D000-0850-50BF-8B1114BF1405}"/>
                </a:ext>
              </a:extLst>
            </p:cNvPr>
            <p:cNvSpPr/>
            <p:nvPr/>
          </p:nvSpPr>
          <p:spPr>
            <a:xfrm>
              <a:off x="8471987" y="4267521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09C06E1-60F7-A2FE-D137-F3A15EF7CA0E}"/>
                </a:ext>
              </a:extLst>
            </p:cNvPr>
            <p:cNvSpPr/>
            <p:nvPr/>
          </p:nvSpPr>
          <p:spPr>
            <a:xfrm>
              <a:off x="9124180" y="4267521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98E9B09-4E58-57F1-C010-14EC2AABBE61}"/>
                </a:ext>
              </a:extLst>
            </p:cNvPr>
            <p:cNvSpPr/>
            <p:nvPr/>
          </p:nvSpPr>
          <p:spPr>
            <a:xfrm>
              <a:off x="3669396" y="5587508"/>
              <a:ext cx="97200" cy="9720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C21C8411-F55B-F67D-F36E-44508EEE6A74}"/>
                </a:ext>
              </a:extLst>
            </p:cNvPr>
            <p:cNvSpPr/>
            <p:nvPr/>
          </p:nvSpPr>
          <p:spPr>
            <a:xfrm>
              <a:off x="3669396" y="5191805"/>
              <a:ext cx="95655" cy="95655"/>
            </a:xfrm>
            <a:prstGeom prst="ellipse">
              <a:avLst/>
            </a:prstGeom>
            <a:solidFill>
              <a:srgbClr val="CD80FF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6FD90199-5812-5EDE-980A-AB30845893E2}"/>
                </a:ext>
              </a:extLst>
            </p:cNvPr>
            <p:cNvSpPr/>
            <p:nvPr/>
          </p:nvSpPr>
          <p:spPr>
            <a:xfrm>
              <a:off x="2607062" y="6491910"/>
              <a:ext cx="167640" cy="167640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E77A32B-21B2-6192-718F-B410395173EA}"/>
                </a:ext>
              </a:extLst>
            </p:cNvPr>
            <p:cNvSpPr txBox="1"/>
            <p:nvPr/>
          </p:nvSpPr>
          <p:spPr>
            <a:xfrm>
              <a:off x="2830661" y="6499569"/>
              <a:ext cx="724557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00" i="1" noProof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Já discutido</a:t>
              </a:r>
              <a:endParaRPr lang="en-US" sz="1000" i="1" noProof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CFFD338F-91FC-8611-C818-DD020C4BB0E1}"/>
                </a:ext>
              </a:extLst>
            </p:cNvPr>
            <p:cNvSpPr txBox="1"/>
            <p:nvPr/>
          </p:nvSpPr>
          <p:spPr>
            <a:xfrm>
              <a:off x="3954440" y="6499569"/>
              <a:ext cx="77905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00" i="1" noProof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Foco de hoje</a:t>
              </a:r>
              <a:endParaRPr lang="en-US" sz="1000" i="1" noProof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D9B494B-CCAF-7190-0C5B-0D3D20124279}"/>
                </a:ext>
              </a:extLst>
            </p:cNvPr>
            <p:cNvSpPr/>
            <p:nvPr/>
          </p:nvSpPr>
          <p:spPr>
            <a:xfrm>
              <a:off x="3718900" y="6491910"/>
              <a:ext cx="167640" cy="16764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803D133-9F25-595F-18A4-BB0C70834D7A}"/>
                </a:ext>
              </a:extLst>
            </p:cNvPr>
            <p:cNvSpPr txBox="1"/>
            <p:nvPr/>
          </p:nvSpPr>
          <p:spPr>
            <a:xfrm>
              <a:off x="5098642" y="6499569"/>
              <a:ext cx="1915589" cy="15388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 defTabSz="228600">
                <a:spcAft>
                  <a:spcPts val="1200"/>
                </a:spcAft>
              </a:pPr>
              <a:r>
                <a:rPr lang="pt-BR" sz="1000" i="1" noProof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Em execução – agendas futuras</a:t>
              </a:r>
              <a:endParaRPr lang="en-US" sz="1000" i="1" noProof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C7C0B0E-3AF3-06C3-3C64-A6DDE58C1B34}"/>
                </a:ext>
              </a:extLst>
            </p:cNvPr>
            <p:cNvSpPr/>
            <p:nvPr/>
          </p:nvSpPr>
          <p:spPr>
            <a:xfrm>
              <a:off x="4863102" y="6491910"/>
              <a:ext cx="167640" cy="167640"/>
            </a:xfrm>
            <a:prstGeom prst="ellipse">
              <a:avLst/>
            </a:prstGeom>
            <a:solidFill>
              <a:srgbClr val="FFC9C9"/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en-US" err="1"/>
            </a:p>
          </p:txBody>
        </p:sp>
        <p:sp>
          <p:nvSpPr>
            <p:cNvPr id="69" name="Content Placeholder 17">
              <a:extLst>
                <a:ext uri="{FF2B5EF4-FFF2-40B4-BE49-F238E27FC236}">
                  <a16:creationId xmlns:a16="http://schemas.microsoft.com/office/drawing/2014/main" id="{58D3E8A4-A9CD-3AB1-B4FF-FF03B22FA824}"/>
                </a:ext>
              </a:extLst>
            </p:cNvPr>
            <p:cNvSpPr txBox="1">
              <a:spLocks/>
            </p:cNvSpPr>
            <p:nvPr/>
          </p:nvSpPr>
          <p:spPr>
            <a:xfrm>
              <a:off x="706722" y="6488234"/>
              <a:ext cx="8279016" cy="198318"/>
            </a:xfrm>
            <a:prstGeom prst="rect">
              <a:avLst/>
            </a:prstGeom>
          </p:spPr>
          <p:txBody>
            <a:bodyPr vert="horz" lIns="0" tIns="0" rIns="0" bIns="0" rtlCol="0" anchor="ctr">
              <a:normAutofit/>
            </a:bodyPr>
            <a:lstStyle>
              <a:lvl1pPr marL="0" indent="0" algn="l" defTabSz="1734634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900" b="0" i="0" kern="1200" cap="none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Graphik" panose="020B0503030202060203" pitchFamily="34" charset="0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1pPr>
              <a:lvl2pPr marL="432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2pPr>
              <a:lvl3pPr marL="648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tabLst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3pPr>
              <a:lvl4pPr marL="864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4pPr>
              <a:lvl5pPr marL="1080000" indent="-216000" algn="l" defTabSz="1734634" rtl="0" eaLnBrk="1" latinLnBrk="0" hangingPunct="1">
                <a:lnSpc>
                  <a:spcPct val="100000"/>
                </a:lnSpc>
                <a:spcBef>
                  <a:spcPts val="400"/>
                </a:spcBef>
                <a:buFont typeface="Arial" panose="020B0604020202020204" pitchFamily="34" charset="0"/>
                <a:buChar char="•"/>
                <a:defRPr sz="1333" b="0" i="0" kern="1200" cap="none" baseline="0">
                  <a:solidFill>
                    <a:srgbClr val="404040"/>
                  </a:solidFill>
                  <a:latin typeface="+mn-lt"/>
                  <a:ea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defRPr>
              </a:lvl5pPr>
              <a:lvl6pPr marL="228594" indent="-182029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Char char="•"/>
                <a:tabLst/>
                <a:defRPr sz="2133" b="0" i="0" kern="1200" cap="none" baseline="0">
                  <a:solidFill>
                    <a:schemeClr val="tx2"/>
                  </a:solidFill>
                  <a:latin typeface="+mn-lt"/>
                  <a:ea typeface="Arial Bold" charset="0"/>
                  <a:cs typeface="Arial Bold" charset="0"/>
                </a:defRPr>
              </a:lvl6pPr>
              <a:lvl7pPr marL="0" indent="0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None/>
                <a:defRPr sz="1867" b="1" i="0" kern="1200" cap="none" baseline="0">
                  <a:solidFill>
                    <a:schemeClr val="tx1"/>
                  </a:solidFill>
                  <a:latin typeface="+mn-lt"/>
                  <a:ea typeface="Arial Bold" charset="0"/>
                  <a:cs typeface="Arial Bold" charset="0"/>
                </a:defRPr>
              </a:lvl7pPr>
              <a:lvl8pPr marL="0" indent="0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None/>
                <a:defRPr sz="1867" b="0" i="0" kern="1200" cap="none" baseline="0">
                  <a:solidFill>
                    <a:schemeClr val="tx1"/>
                  </a:solidFill>
                  <a:latin typeface="+mn-lt"/>
                  <a:ea typeface="Arial Bold" charset="0"/>
                  <a:cs typeface="Arial Bold" charset="0"/>
                </a:defRPr>
              </a:lvl8pPr>
              <a:lvl9pPr marL="192613" indent="-192613" algn="l" defTabSz="1734634" rtl="0" eaLnBrk="1" latinLnBrk="0" hangingPunct="1">
                <a:lnSpc>
                  <a:spcPct val="90000"/>
                </a:lnSpc>
                <a:spcBef>
                  <a:spcPts val="800"/>
                </a:spcBef>
                <a:buFont typeface="Arial" charset="0"/>
                <a:buChar char="•"/>
                <a:tabLst/>
                <a:defRPr sz="1867" b="0" i="0" kern="1200" cap="none" baseline="0">
                  <a:solidFill>
                    <a:schemeClr val="tx1"/>
                  </a:solidFill>
                  <a:latin typeface="+mn-lt"/>
                  <a:ea typeface="Arial Black" charset="0"/>
                  <a:cs typeface="Arial Black" charset="0"/>
                </a:defRPr>
              </a:lvl9pPr>
            </a:lstStyle>
            <a:p>
              <a:pPr marL="0" marR="0" lvl="0" indent="0" algn="l" defTabSz="17346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>
                      <a:lumMod val="50000"/>
                      <a:lumOff val="50000"/>
                    </a:srgbClr>
                  </a:solidFill>
                  <a:effectLst/>
                  <a:uLnTx/>
                  <a:uFillTx/>
                  <a:latin typeface="Graphik" panose="020B0503030202060203" pitchFamily="34" charset="0"/>
                  <a:cs typeface="Arial" panose="020B0604020202020204" pitchFamily="34" charset="0"/>
                  <a:sym typeface="Arial" panose="020B0604020202020204" pitchFamily="34" charset="0"/>
                </a:rPr>
                <a:t>Fonte: </a:t>
              </a:r>
              <a:r>
                <a:rPr lang="pt-BR" noProof="0">
                  <a:solidFill>
                    <a:srgbClr val="000000">
                      <a:lumMod val="50000"/>
                      <a:lumOff val="50000"/>
                    </a:srgbClr>
                  </a:solidFill>
                </a:rPr>
                <a:t>Elaboração Accenture.</a:t>
              </a:r>
              <a:endParaRPr kumimoji="0" lang="pt-BR" sz="9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50000"/>
                    <a:lumOff val="50000"/>
                  </a:srgbClr>
                </a:solidFill>
                <a:effectLst/>
                <a:uLnTx/>
                <a:uFillTx/>
                <a:latin typeface="Graphik" panose="020B0503030202060203" pitchFamily="34" charset="0"/>
                <a:cs typeface="Arial" panose="020B060402020202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70" name="Half Frame 69">
              <a:extLst>
                <a:ext uri="{FF2B5EF4-FFF2-40B4-BE49-F238E27FC236}">
                  <a16:creationId xmlns:a16="http://schemas.microsoft.com/office/drawing/2014/main" id="{51AC880D-F858-6720-45FE-68E124F3EFB1}"/>
                </a:ext>
              </a:extLst>
            </p:cNvPr>
            <p:cNvSpPr/>
            <p:nvPr/>
          </p:nvSpPr>
          <p:spPr>
            <a:xfrm rot="8224167">
              <a:off x="3078462" y="4032237"/>
              <a:ext cx="319562" cy="330448"/>
            </a:xfrm>
            <a:prstGeom prst="halfFrame">
              <a:avLst>
                <a:gd name="adj1" fmla="val 20074"/>
                <a:gd name="adj2" fmla="val 19529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>
                <a:solidFill>
                  <a:schemeClr val="tx1"/>
                </a:solidFill>
              </a:endParaRPr>
            </a:p>
          </p:txBody>
        </p:sp>
        <p:sp>
          <p:nvSpPr>
            <p:cNvPr id="71" name="Half Frame 70">
              <a:extLst>
                <a:ext uri="{FF2B5EF4-FFF2-40B4-BE49-F238E27FC236}">
                  <a16:creationId xmlns:a16="http://schemas.microsoft.com/office/drawing/2014/main" id="{8F98EBD0-C186-1C58-5255-0414DA5C3C71}"/>
                </a:ext>
              </a:extLst>
            </p:cNvPr>
            <p:cNvSpPr/>
            <p:nvPr/>
          </p:nvSpPr>
          <p:spPr>
            <a:xfrm rot="8224167">
              <a:off x="6038553" y="4032237"/>
              <a:ext cx="319562" cy="330448"/>
            </a:xfrm>
            <a:prstGeom prst="halfFrame">
              <a:avLst>
                <a:gd name="adj1" fmla="val 20074"/>
                <a:gd name="adj2" fmla="val 19529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>
                <a:solidFill>
                  <a:schemeClr val="tx1"/>
                </a:solidFill>
              </a:endParaRPr>
            </a:p>
          </p:txBody>
        </p:sp>
        <p:sp>
          <p:nvSpPr>
            <p:cNvPr id="72" name="Half Frame 71">
              <a:extLst>
                <a:ext uri="{FF2B5EF4-FFF2-40B4-BE49-F238E27FC236}">
                  <a16:creationId xmlns:a16="http://schemas.microsoft.com/office/drawing/2014/main" id="{5491886D-E049-64FB-C58B-BB755D97D6E2}"/>
                </a:ext>
              </a:extLst>
            </p:cNvPr>
            <p:cNvSpPr/>
            <p:nvPr/>
          </p:nvSpPr>
          <p:spPr>
            <a:xfrm rot="8224167">
              <a:off x="9669643" y="4032237"/>
              <a:ext cx="319562" cy="330448"/>
            </a:xfrm>
            <a:prstGeom prst="halfFrame">
              <a:avLst>
                <a:gd name="adj1" fmla="val 20074"/>
                <a:gd name="adj2" fmla="val 19529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endParaRPr lang="pt-BR" err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5053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</Words>
  <Application>Microsoft Office PowerPoint</Application>
  <PresentationFormat>Widescreen</PresentationFormat>
  <Paragraphs>43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Graphik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Graciotti, Brenno</dc:creator>
  <cp:lastModifiedBy>Graciotti, Brenno</cp:lastModifiedBy>
  <cp:revision>1</cp:revision>
  <dcterms:created xsi:type="dcterms:W3CDTF">2026-07-17T17:58:33Z</dcterms:created>
  <dcterms:modified xsi:type="dcterms:W3CDTF">2026-07-17T17:58:33Z</dcterms:modified>
</cp:coreProperties>
</file>