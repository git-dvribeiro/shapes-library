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917A969-7DAA-9263-540C-098CBECE8B3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EBFB3C-013B-59B9-188B-3B7429A4316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A9CB6D-890A-E1A1-1E13-6077B9B123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CCC1DCF-D2D1-06C5-4632-973D2692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D7774A3-FA6A-DD7F-C14F-9676D57AE3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65087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1F9A1CA-530D-B88A-7EAD-80EDCA36D1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2D2208-9536-8056-EDE1-B49129837F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994E4B-45F6-A80B-0391-81B03EB769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D8D6F79-0687-DF62-684A-F8D52D34FA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78B49E-87BF-274F-B500-E4C73C0CD1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045557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F16FCC-4CEF-FB56-9A76-FD5F0853979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FB45241-A173-6150-04C7-34EEB5A1322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448B625-067F-AC0C-C61F-41882A5014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77529-1307-200A-F73C-D436B50C06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388996-AB67-0F3F-048E-DC7CD977EF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054458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CE607F-425F-F445-6D49-5528EF220B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8BD914-5F76-B3BE-0769-97E2839EBF5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3C4381-377B-A959-F783-51B03B04D2D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50A4427-B130-BCE3-8C70-80BFFC4BFA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C11C292-C30A-059C-C429-71F8CE7C11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742EA58-0DAF-D12C-F434-22C32339F4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3986626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81A29-FA0C-A14F-A1A3-F8DACB6382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AE55AF-D1D2-2598-5BB8-2A14A2529BE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69FEAB-95B9-2392-D3E2-32E07B1F7C6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9CB9B41-EF20-D9AC-313D-6A1C15452D1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3231C76-2034-F07A-9677-B7C52D7E3E6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E31BD49-9117-6A2C-242C-58DA2E84D9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DA4486C-1ED8-1B8B-8A1E-7E07B3098C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F2F81C2-43C3-7C3D-1414-8CAE353DBA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211969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F98F40-9B3F-11AE-5909-F4D209222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CA32210-CC31-3C0E-DB05-BB5B3ECF77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C2488B-3EDD-CBD6-84DA-4642AAA605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6DD1591-2EFF-BD92-0DEA-03FE6ED7BE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654502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DA43C9D-3148-3F71-1587-7579E5E93F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E7645F4-6DAC-3E24-E1B9-D10D065548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668E5FB-ED4B-0E11-06C8-38141ECD95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721089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4ECBF6-2632-191F-4CF2-C060393708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93FC35-A59D-FE5C-654D-6DB207B4491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A91A486-FD46-06D3-BA04-ABB95B990EB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E095452-E336-4F0A-D55F-3EEB4F4CC3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2E5E0CD-2421-AEE4-03FB-9BD67E2D31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9DF843-1667-4895-FA93-A925C6F089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800785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CCB7D4D-417F-A064-874A-4CEACA19A8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91D9A0-C786-3260-D303-3C65D7D7F61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9BE2B5-6686-4E01-D758-C3349789B66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E9A35D-81BF-29A4-8675-92011A456E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C1F9E8-C919-2D9A-8535-7F305884D4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ABF3BA-12D1-78E7-4F62-49048F3E94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65252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29F4F0-7D59-6B09-8CFC-BE78F1AA92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CDF342E-5649-41EE-1E57-2701B9A61C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BD4073-2A6D-7D01-D124-B8786B434E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A4A27A-87DB-BE9A-2E6D-28941D88B5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4C195B7-D399-B598-487A-B3E8005CDA0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97200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C353D49-8D4A-D5A1-A38C-BA19194AA20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E045BDA-564F-EBE0-2300-3C888A8B1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F08338F-36FB-DEB9-2836-0DBD4ADD189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7E8A46-DFD3-4215-2E2E-EB93A1EEFC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A400D-39A6-1DE9-6B8F-51A9B1DA9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836649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462FD39-2D4C-1ABD-3B17-4BDDF1E10B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pt-BR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BBA689-43D2-D98F-5425-98CBC1C9DA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BR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0E9247-1537-5FC1-9AD8-5036D46D831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AFF997-9574-4A2A-9699-F1B7D7E119D6}" type="datetimeFigureOut">
              <a:rPr lang="pt-BR" smtClean="0"/>
              <a:t>05/02/2026</a:t>
            </a:fld>
            <a:endParaRPr lang="pt-BR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3930867-172C-749F-FF8A-F6E030FCD5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F087AE9-DFD0-F353-3429-240F96DB37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552FE8B-6644-4E08-9A86-20CC2036AEAA}" type="slidenum">
              <a:rPr lang="pt-BR" smtClean="0"/>
              <a:t>‹#›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359445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9DDA3BC6-9B5A-7628-128A-E12175FB5AC6}"/>
              </a:ext>
            </a:extLst>
          </p:cNvPr>
          <p:cNvSpPr/>
          <p:nvPr/>
        </p:nvSpPr>
        <p:spPr>
          <a:xfrm>
            <a:off x="180009" y="1226091"/>
            <a:ext cx="5915991" cy="4922705"/>
          </a:xfrm>
          <a:custGeom>
            <a:avLst/>
            <a:gdLst>
              <a:gd name="connsiteX0" fmla="*/ 0 w 5823031"/>
              <a:gd name="connsiteY0" fmla="*/ 0 h 5102427"/>
              <a:gd name="connsiteX1" fmla="*/ 5823031 w 5823031"/>
              <a:gd name="connsiteY1" fmla="*/ 0 h 5102427"/>
              <a:gd name="connsiteX2" fmla="*/ 5384898 w 5823031"/>
              <a:gd name="connsiteY2" fmla="*/ 5102427 h 5102427"/>
              <a:gd name="connsiteX3" fmla="*/ 0 w 5823031"/>
              <a:gd name="connsiteY3" fmla="*/ 5102427 h 510242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823031" h="5102427">
                <a:moveTo>
                  <a:pt x="0" y="0"/>
                </a:moveTo>
                <a:lnTo>
                  <a:pt x="5823031" y="0"/>
                </a:lnTo>
                <a:lnTo>
                  <a:pt x="5384898" y="5102427"/>
                </a:lnTo>
                <a:lnTo>
                  <a:pt x="0" y="5102427"/>
                </a:lnTo>
                <a:close/>
              </a:path>
            </a:pathLst>
          </a:custGeom>
          <a:solidFill>
            <a:schemeClr val="bg1">
              <a:lumMod val="9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108710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pt-BR" sz="1400" b="0" i="0" u="none" strike="noStrike" kern="1200" cap="none" spc="0" normalizeH="0" baseline="0" noProof="0">
              <a:ln>
                <a:noFill/>
              </a:ln>
              <a:solidFill>
                <a:sysClr val="windowText" lastClr="000000"/>
              </a:solidFill>
              <a:effectLst/>
              <a:uLnTx/>
              <a:uFillTx/>
              <a:latin typeface="Graphik"/>
              <a:ea typeface="+mn-ea"/>
              <a:cs typeface="+mn-cs"/>
            </a:endParaRPr>
          </a:p>
        </p:txBody>
      </p:sp>
      <p:sp>
        <p:nvSpPr>
          <p:cNvPr id="3" name="TextBox 91">
            <a:extLst>
              <a:ext uri="{FF2B5EF4-FFF2-40B4-BE49-F238E27FC236}">
                <a16:creationId xmlns:a16="http://schemas.microsoft.com/office/drawing/2014/main" id="{F124A56B-2838-C266-7AC9-9BEC02B90DCB}"/>
              </a:ext>
            </a:extLst>
          </p:cNvPr>
          <p:cNvSpPr txBox="1">
            <a:spLocks/>
          </p:cNvSpPr>
          <p:nvPr/>
        </p:nvSpPr>
        <p:spPr bwMode="auto">
          <a:xfrm>
            <a:off x="307777" y="1811380"/>
            <a:ext cx="5525864" cy="4021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72000" tIns="72000" rIns="72000" bIns="72000" anchor="t" anchorCtr="0">
            <a:noAutofit/>
          </a:bodyPr>
          <a:lstStyle>
            <a:lvl1pPr marL="342900" indent="-342900"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1pPr>
            <a:lvl2pPr marL="179388" indent="-179388"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2pPr>
            <a:lvl3pPr marL="574675" indent="-228600"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3pPr>
            <a:lvl4pPr marL="1600200" indent="-228600"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4pPr>
            <a:lvl5pPr marL="2057400" indent="-228600"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5pPr>
            <a:lvl6pPr marL="25146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6pPr>
            <a:lvl7pPr marL="29718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7pPr>
            <a:lvl8pPr marL="34290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8pPr>
            <a:lvl9pPr marL="3886200" indent="-228600" defTabSz="1085850" fontAlgn="base">
              <a:spcBef>
                <a:spcPct val="0"/>
              </a:spcBef>
              <a:spcAft>
                <a:spcPct val="0"/>
              </a:spcAft>
              <a:defRPr sz="2100">
                <a:solidFill>
                  <a:schemeClr val="tx1"/>
                </a:solidFill>
                <a:latin typeface="Graphik" panose="020B0503030202060203" pitchFamily="34" charset="0"/>
              </a:defRPr>
            </a:lvl9pPr>
          </a:lstStyle>
          <a:p>
            <a:pPr marL="0" indent="0">
              <a:spcBef>
                <a:spcPts val="600"/>
              </a:spcBef>
            </a:pPr>
            <a:r>
              <a:rPr lang="pt-BR" sz="1500">
                <a:latin typeface="Graphik (body)"/>
              </a:rPr>
              <a:t>A EDGE opera em um ecossistema energético </a:t>
            </a:r>
            <a:r>
              <a:rPr lang="pt-BR" sz="1500" b="1">
                <a:latin typeface="Graphik (body)"/>
              </a:rPr>
              <a:t>crítico, intensivo em capital e altamente regulado</a:t>
            </a:r>
            <a:r>
              <a:rPr lang="pt-BR" sz="1500">
                <a:latin typeface="Graphik (body)"/>
              </a:rPr>
              <a:t>, no qual tecnologia é parte indissociável da </a:t>
            </a:r>
            <a:r>
              <a:rPr lang="pt-BR" sz="1500" b="1">
                <a:latin typeface="Graphik (body)"/>
              </a:rPr>
              <a:t>continuidade operacional, segurança e geração de valor</a:t>
            </a:r>
            <a:r>
              <a:rPr lang="pt-BR" sz="1500">
                <a:latin typeface="Graphik (body)"/>
              </a:rPr>
              <a:t>.</a:t>
            </a:r>
          </a:p>
          <a:p>
            <a:pPr marL="0" indent="0">
              <a:spcBef>
                <a:spcPts val="600"/>
              </a:spcBef>
            </a:pPr>
            <a:r>
              <a:rPr lang="pt-BR" sz="1500">
                <a:latin typeface="Graphik (body)"/>
              </a:rPr>
              <a:t>A combinação entre </a:t>
            </a:r>
            <a:r>
              <a:rPr lang="pt-BR" sz="1500" b="1">
                <a:latin typeface="Graphik (body)"/>
              </a:rPr>
              <a:t>ativos físicos, operações 24x7, exigências regulatórias e ambições de crescimento </a:t>
            </a:r>
            <a:r>
              <a:rPr lang="pt-BR" sz="1500">
                <a:latin typeface="Graphik (body)"/>
              </a:rPr>
              <a:t>coloca a EDGE em um </a:t>
            </a:r>
            <a:r>
              <a:rPr lang="pt-BR" sz="1500" b="1">
                <a:latin typeface="Graphik (body)"/>
              </a:rPr>
              <a:t>ponto de inflexão tecnológico</a:t>
            </a:r>
            <a:r>
              <a:rPr lang="pt-BR" sz="1500">
                <a:latin typeface="Graphik (body)"/>
              </a:rPr>
              <a:t>: decisões fragmentadas ou reativas passam a representar risco operacional e financeiro.</a:t>
            </a:r>
          </a:p>
          <a:p>
            <a:pPr marL="0" indent="0">
              <a:spcBef>
                <a:spcPts val="600"/>
              </a:spcBef>
            </a:pPr>
            <a:r>
              <a:rPr lang="pt-BR" sz="1500">
                <a:latin typeface="Graphik (body)"/>
              </a:rPr>
              <a:t>Nesse contexto, </a:t>
            </a:r>
            <a:r>
              <a:rPr lang="pt-BR" sz="1500" b="1">
                <a:latin typeface="Graphik (body)"/>
              </a:rPr>
              <a:t>o Plano Diretor de TI deixa de ser um exercício técnico e passa a ser um instrumento de decisão executiva</a:t>
            </a:r>
            <a:r>
              <a:rPr lang="pt-BR" sz="1500">
                <a:latin typeface="Graphik (body)"/>
              </a:rPr>
              <a:t>, orientando investimentos, prioridades e governança para os próximos três anos.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CCFD60A-83AF-35B7-E17E-A835AEE50F28}"/>
              </a:ext>
            </a:extLst>
          </p:cNvPr>
          <p:cNvSpPr/>
          <p:nvPr/>
        </p:nvSpPr>
        <p:spPr>
          <a:xfrm>
            <a:off x="1062521" y="1347452"/>
            <a:ext cx="5577840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spcAft>
                <a:spcPts val="1200"/>
              </a:spcAft>
            </a:pPr>
            <a:r>
              <a:rPr lang="pt-BR" sz="1400" b="1">
                <a:solidFill>
                  <a:schemeClr val="tx1"/>
                </a:solidFill>
              </a:rPr>
              <a:t>CONTEXTO</a:t>
            </a:r>
          </a:p>
        </p:txBody>
      </p:sp>
      <p:cxnSp>
        <p:nvCxnSpPr>
          <p:cNvPr id="5" name="Straight Connector 4">
            <a:extLst>
              <a:ext uri="{FF2B5EF4-FFF2-40B4-BE49-F238E27FC236}">
                <a16:creationId xmlns:a16="http://schemas.microsoft.com/office/drawing/2014/main" id="{73916125-4ED1-B2A9-F5FB-1E3D780F13DB}"/>
              </a:ext>
            </a:extLst>
          </p:cNvPr>
          <p:cNvCxnSpPr>
            <a:cxnSpLocks/>
          </p:cNvCxnSpPr>
          <p:nvPr/>
        </p:nvCxnSpPr>
        <p:spPr>
          <a:xfrm>
            <a:off x="350308" y="1769195"/>
            <a:ext cx="5483333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Rectangle 5">
            <a:extLst>
              <a:ext uri="{FF2B5EF4-FFF2-40B4-BE49-F238E27FC236}">
                <a16:creationId xmlns:a16="http://schemas.microsoft.com/office/drawing/2014/main" id="{4C9E0219-0D20-8135-72F0-7A33D29A1DE4}"/>
              </a:ext>
            </a:extLst>
          </p:cNvPr>
          <p:cNvSpPr/>
          <p:nvPr/>
        </p:nvSpPr>
        <p:spPr>
          <a:xfrm>
            <a:off x="7068609" y="1792364"/>
            <a:ext cx="4680000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spcAft>
                <a:spcPts val="1200"/>
              </a:spcAft>
            </a:pPr>
            <a:endParaRPr lang="pt-BR" sz="1400" b="1">
              <a:solidFill>
                <a:srgbClr val="8B1C13"/>
              </a:solidFill>
            </a:endParaRPr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7B25D22E-60D8-03D5-28B3-FB97D81994F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096001" y="1801855"/>
            <a:ext cx="5867400" cy="36848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72000" tIns="72000" rIns="72000" bIns="72000" numCol="1" anchor="t" anchorCtr="0" compatLnSpc="1">
            <a:prstTxWarp prst="textNoShape">
              <a:avLst/>
            </a:prstTxWarp>
            <a:spAutoFit/>
          </a:bodyPr>
          <a:lstStyle/>
          <a:p>
            <a:pPr marL="112713" marR="0" lvl="0" indent="-112713" algn="l" defTabSz="914400" rtl="0" eaLnBrk="1" fontAlgn="auto" latinLnBrk="0" hangingPunct="1">
              <a:spcBef>
                <a:spcPts val="600"/>
              </a:spcBef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Traduzir a estratégia de crescimento da EDGE em decisões claras de tecnologia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definindo prioridades, trade-</a:t>
            </a:r>
            <a:r>
              <a:rPr kumimoji="0" lang="pt-BR" sz="15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offs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 e direcionadores de TI.</a:t>
            </a:r>
          </a:p>
          <a:p>
            <a:pPr marL="112713" marR="0" lvl="0" indent="-112713" algn="l" defTabSz="914400" rtl="0" eaLnBrk="1" fontAlgn="auto" latinLnBrk="0" hangingPunct="1">
              <a:spcBef>
                <a:spcPts val="600"/>
              </a:spcBef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Estabelecer uma visão objetiva do estado atual da TI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com 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inventário completo de sistemas e integrações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avaliação de arquitetura, governança, segurança, 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custos e </a:t>
            </a:r>
            <a:r>
              <a:rPr kumimoji="0" lang="pt-BR" sz="1500" b="1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headcount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criando transparência para decisão executiva.</a:t>
            </a:r>
          </a:p>
          <a:p>
            <a:pPr marL="112713" marR="0" lvl="0" indent="-112713" algn="l" defTabSz="914400" rtl="0" eaLnBrk="1" fontAlgn="auto" latinLnBrk="0" hangingPunct="1">
              <a:spcBef>
                <a:spcPts val="600"/>
              </a:spcBef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Definir a visão futura de TI da EDGE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orientada à 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eficiência operacional, segurança, flexibilidade e escala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com clareza sobre capacidades críticas e modelo de evolução.</a:t>
            </a:r>
          </a:p>
          <a:p>
            <a:pPr marL="112713" marR="0" lvl="0" indent="-112713" algn="l" defTabSz="914400" rtl="0" eaLnBrk="1" fontAlgn="auto" latinLnBrk="0" hangingPunct="1">
              <a:spcBef>
                <a:spcPts val="600"/>
              </a:spcBef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Construir um Plano Diretor de TI pragmático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com </a:t>
            </a:r>
            <a:r>
              <a:rPr kumimoji="0" lang="pt-BR" sz="1500" b="1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roadmap</a:t>
            </a:r>
            <a:r>
              <a:rPr kumimoji="0" lang="pt-BR" sz="15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 de 3 anos, investimentos priorizados e governança clara</a:t>
            </a:r>
            <a:r>
              <a:rPr kumimoji="0" lang="pt-BR" sz="15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Graphik (body)"/>
              </a:rPr>
              <a:t>, garantindo execução disciplinada e revisão contínua.</a:t>
            </a:r>
          </a:p>
          <a:p>
            <a:pPr marL="112713" marR="0" lvl="0" indent="-112713" algn="l" defTabSz="914400" rtl="0" eaLnBrk="1" fontAlgn="auto" latinLnBrk="0" hangingPunct="1">
              <a:spcBef>
                <a:spcPts val="600"/>
              </a:spcBef>
              <a:buClrTx/>
              <a:buSzTx/>
              <a:buFont typeface="Graphik" panose="020B0604020202020204" pitchFamily="34" charset="0"/>
              <a:buChar char="•"/>
              <a:tabLst/>
              <a:defRPr/>
            </a:pPr>
            <a:endParaRPr kumimoji="0" lang="pt-BR" sz="15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Graphik (body)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C6AE74FD-EB3C-2B8F-7BEE-8F97E4ED20F4}"/>
              </a:ext>
            </a:extLst>
          </p:cNvPr>
          <p:cNvSpPr/>
          <p:nvPr/>
        </p:nvSpPr>
        <p:spPr>
          <a:xfrm>
            <a:off x="6815150" y="1344604"/>
            <a:ext cx="3749040" cy="324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>
              <a:spcAft>
                <a:spcPts val="1200"/>
              </a:spcAft>
            </a:pPr>
            <a:r>
              <a:rPr lang="pt-BR" sz="1400" b="1">
                <a:solidFill>
                  <a:schemeClr val="tx1"/>
                </a:solidFill>
              </a:rPr>
              <a:t>OBJETIVOS DO TRABALHO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C38457D4-F6A7-6718-01F7-1858D2AFE978}"/>
              </a:ext>
            </a:extLst>
          </p:cNvPr>
          <p:cNvCxnSpPr>
            <a:cxnSpLocks/>
          </p:cNvCxnSpPr>
          <p:nvPr/>
        </p:nvCxnSpPr>
        <p:spPr>
          <a:xfrm>
            <a:off x="6152941" y="1769195"/>
            <a:ext cx="4937760" cy="0"/>
          </a:xfrm>
          <a:prstGeom prst="line">
            <a:avLst/>
          </a:prstGeom>
          <a:ln w="19050"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>
            <a:extLst>
              <a:ext uri="{FF2B5EF4-FFF2-40B4-BE49-F238E27FC236}">
                <a16:creationId xmlns:a16="http://schemas.microsoft.com/office/drawing/2014/main" id="{2EEA2BB7-F99D-7997-B3FE-F9B103AEFABA}"/>
              </a:ext>
            </a:extLst>
          </p:cNvPr>
          <p:cNvSpPr/>
          <p:nvPr/>
        </p:nvSpPr>
        <p:spPr>
          <a:xfrm>
            <a:off x="0" y="5679260"/>
            <a:ext cx="12192000" cy="73023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91440" bIns="91440" rtlCol="0" anchor="ctr"/>
          <a:lstStyle/>
          <a:p>
            <a:pPr algn="ctr"/>
            <a:r>
              <a:rPr lang="pt-BR">
                <a:solidFill>
                  <a:schemeClr val="bg1"/>
                </a:solidFill>
              </a:rPr>
              <a:t>Como transformar o PDTI em uma </a:t>
            </a:r>
            <a:r>
              <a:rPr lang="pt-BR" b="1">
                <a:solidFill>
                  <a:schemeClr val="bg1"/>
                </a:solidFill>
              </a:rPr>
              <a:t>alavanca concreta de decisão </a:t>
            </a:r>
            <a:r>
              <a:rPr lang="pt-BR">
                <a:solidFill>
                  <a:schemeClr val="bg1"/>
                </a:solidFill>
              </a:rPr>
              <a:t>para sustentar o </a:t>
            </a:r>
            <a:r>
              <a:rPr lang="pt-BR" b="1">
                <a:solidFill>
                  <a:schemeClr val="bg1"/>
                </a:solidFill>
              </a:rPr>
              <a:t>crescimento e a segurança operacional </a:t>
            </a:r>
            <a:r>
              <a:rPr lang="pt-BR">
                <a:solidFill>
                  <a:schemeClr val="bg1"/>
                </a:solidFill>
              </a:rPr>
              <a:t>da EDGE nos próximos três anos?</a:t>
            </a:r>
            <a:endParaRPr lang="pt-BR" b="1" spc="-50">
              <a:solidFill>
                <a:schemeClr val="bg1"/>
              </a:solidFill>
              <a:latin typeface="Graphik (Body)"/>
            </a:endParaRPr>
          </a:p>
        </p:txBody>
      </p:sp>
      <p:grpSp>
        <p:nvGrpSpPr>
          <p:cNvPr id="11" name="Group 133">
            <a:extLst>
              <a:ext uri="{FF2B5EF4-FFF2-40B4-BE49-F238E27FC236}">
                <a16:creationId xmlns:a16="http://schemas.microsoft.com/office/drawing/2014/main" id="{BFE84A5F-F9BD-2AAC-9B85-380758C0207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41259" y="1301163"/>
            <a:ext cx="390663" cy="392041"/>
            <a:chOff x="2596" y="3199"/>
            <a:chExt cx="422" cy="432"/>
          </a:xfrm>
          <a:solidFill>
            <a:schemeClr val="accent2"/>
          </a:solidFill>
        </p:grpSpPr>
        <p:sp>
          <p:nvSpPr>
            <p:cNvPr id="12" name="Freeform 134">
              <a:extLst>
                <a:ext uri="{FF2B5EF4-FFF2-40B4-BE49-F238E27FC236}">
                  <a16:creationId xmlns:a16="http://schemas.microsoft.com/office/drawing/2014/main" id="{A7141D74-8325-123C-AF77-5224C6B3D0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505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3" name="Freeform 135">
              <a:extLst>
                <a:ext uri="{FF2B5EF4-FFF2-40B4-BE49-F238E27FC236}">
                  <a16:creationId xmlns:a16="http://schemas.microsoft.com/office/drawing/2014/main" id="{C989C9B0-12EB-8729-07B9-5E7460902DD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5" y="3398"/>
              <a:ext cx="183" cy="71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4" name="Freeform 136">
              <a:extLst>
                <a:ext uri="{FF2B5EF4-FFF2-40B4-BE49-F238E27FC236}">
                  <a16:creationId xmlns:a16="http://schemas.microsoft.com/office/drawing/2014/main" id="{CBD9EF9A-7DE1-5328-BF8C-181AEE021E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3398"/>
              <a:ext cx="19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5" name="Freeform 137">
              <a:extLst>
                <a:ext uri="{FF2B5EF4-FFF2-40B4-BE49-F238E27FC236}">
                  <a16:creationId xmlns:a16="http://schemas.microsoft.com/office/drawing/2014/main" id="{41A63278-7647-01C7-79D8-7462E903739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3398"/>
              <a:ext cx="18" cy="71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6" name="Freeform 138">
              <a:extLst>
                <a:ext uri="{FF2B5EF4-FFF2-40B4-BE49-F238E27FC236}">
                  <a16:creationId xmlns:a16="http://schemas.microsoft.com/office/drawing/2014/main" id="{DA4E41E6-15E5-9D7A-96DD-CCC9A0CFFFF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6" y="3451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7" name="Freeform 139">
              <a:extLst>
                <a:ext uri="{FF2B5EF4-FFF2-40B4-BE49-F238E27FC236}">
                  <a16:creationId xmlns:a16="http://schemas.microsoft.com/office/drawing/2014/main" id="{924F72C8-672D-942C-343A-4BCCE6FA9A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3451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8" name="Freeform 140">
              <a:extLst>
                <a:ext uri="{FF2B5EF4-FFF2-40B4-BE49-F238E27FC236}">
                  <a16:creationId xmlns:a16="http://schemas.microsoft.com/office/drawing/2014/main" id="{B9A80B29-5B34-B5B4-92DF-8A3AF1BCE62F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3451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19" name="Freeform 141">
              <a:extLst>
                <a:ext uri="{FF2B5EF4-FFF2-40B4-BE49-F238E27FC236}">
                  <a16:creationId xmlns:a16="http://schemas.microsoft.com/office/drawing/2014/main" id="{57925141-8166-C816-9744-DA717BBBDF0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5" y="3505"/>
              <a:ext cx="183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0" name="Freeform 142">
              <a:extLst>
                <a:ext uri="{FF2B5EF4-FFF2-40B4-BE49-F238E27FC236}">
                  <a16:creationId xmlns:a16="http://schemas.microsoft.com/office/drawing/2014/main" id="{2B7BB29D-EA5D-0C22-AEE1-C64FD323C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3505"/>
              <a:ext cx="19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1" name="Freeform 143">
              <a:extLst>
                <a:ext uri="{FF2B5EF4-FFF2-40B4-BE49-F238E27FC236}">
                  <a16:creationId xmlns:a16="http://schemas.microsoft.com/office/drawing/2014/main" id="{AF1E9C31-DC3A-E9CA-19BF-8F4DB92564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3" y="3505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2" name="Freeform 144">
              <a:extLst>
                <a:ext uri="{FF2B5EF4-FFF2-40B4-BE49-F238E27FC236}">
                  <a16:creationId xmlns:a16="http://schemas.microsoft.com/office/drawing/2014/main" id="{1373FF26-27D5-C5A6-8630-81E9F3384C6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16" y="3559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3" name="Freeform 145">
              <a:extLst>
                <a:ext uri="{FF2B5EF4-FFF2-40B4-BE49-F238E27FC236}">
                  <a16:creationId xmlns:a16="http://schemas.microsoft.com/office/drawing/2014/main" id="{F11497A9-5B8C-F1D0-37E9-B9BB7CA394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3" y="3559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4" name="Freeform 146">
              <a:extLst>
                <a:ext uri="{FF2B5EF4-FFF2-40B4-BE49-F238E27FC236}">
                  <a16:creationId xmlns:a16="http://schemas.microsoft.com/office/drawing/2014/main" id="{CD5D97C2-161B-50DE-FA69-CFA17C0A4A6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5" y="3559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5" name="Freeform 147">
              <a:extLst>
                <a:ext uri="{FF2B5EF4-FFF2-40B4-BE49-F238E27FC236}">
                  <a16:creationId xmlns:a16="http://schemas.microsoft.com/office/drawing/2014/main" id="{8EDAD259-AC5D-1DC3-D4CF-5820EEE2B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596" y="3505"/>
              <a:ext cx="183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6" name="Freeform 148">
              <a:extLst>
                <a:ext uri="{FF2B5EF4-FFF2-40B4-BE49-F238E27FC236}">
                  <a16:creationId xmlns:a16="http://schemas.microsoft.com/office/drawing/2014/main" id="{EDAA7810-A12F-454C-CC35-857E6100BA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4" y="3505"/>
              <a:ext cx="19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7" name="Freeform 149">
              <a:extLst>
                <a:ext uri="{FF2B5EF4-FFF2-40B4-BE49-F238E27FC236}">
                  <a16:creationId xmlns:a16="http://schemas.microsoft.com/office/drawing/2014/main" id="{01782267-A408-1428-7E37-869FFA54F6F8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614" y="3559"/>
              <a:ext cx="184" cy="72"/>
            </a:xfrm>
            <a:custGeom>
              <a:avLst/>
              <a:gdLst>
                <a:gd name="T0" fmla="*/ 114 w 120"/>
                <a:gd name="T1" fmla="*/ 48 h 48"/>
                <a:gd name="T2" fmla="*/ 6 w 120"/>
                <a:gd name="T3" fmla="*/ 48 h 48"/>
                <a:gd name="T4" fmla="*/ 0 w 120"/>
                <a:gd name="T5" fmla="*/ 42 h 48"/>
                <a:gd name="T6" fmla="*/ 0 w 120"/>
                <a:gd name="T7" fmla="*/ 6 h 48"/>
                <a:gd name="T8" fmla="*/ 6 w 120"/>
                <a:gd name="T9" fmla="*/ 0 h 48"/>
                <a:gd name="T10" fmla="*/ 114 w 120"/>
                <a:gd name="T11" fmla="*/ 0 h 48"/>
                <a:gd name="T12" fmla="*/ 120 w 120"/>
                <a:gd name="T13" fmla="*/ 6 h 48"/>
                <a:gd name="T14" fmla="*/ 120 w 120"/>
                <a:gd name="T15" fmla="*/ 42 h 48"/>
                <a:gd name="T16" fmla="*/ 114 w 120"/>
                <a:gd name="T17" fmla="*/ 48 h 48"/>
                <a:gd name="T18" fmla="*/ 12 w 120"/>
                <a:gd name="T19" fmla="*/ 36 h 48"/>
                <a:gd name="T20" fmla="*/ 108 w 120"/>
                <a:gd name="T21" fmla="*/ 36 h 48"/>
                <a:gd name="T22" fmla="*/ 108 w 120"/>
                <a:gd name="T23" fmla="*/ 12 h 48"/>
                <a:gd name="T24" fmla="*/ 12 w 120"/>
                <a:gd name="T25" fmla="*/ 12 h 48"/>
                <a:gd name="T26" fmla="*/ 12 w 120"/>
                <a:gd name="T27" fmla="*/ 36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120" h="48">
                  <a:moveTo>
                    <a:pt x="114" y="48"/>
                  </a:moveTo>
                  <a:cubicBezTo>
                    <a:pt x="6" y="48"/>
                    <a:pt x="6" y="48"/>
                    <a:pt x="6" y="48"/>
                  </a:cubicBez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114" y="0"/>
                    <a:pt x="114" y="0"/>
                    <a:pt x="114" y="0"/>
                  </a:cubicBezTo>
                  <a:cubicBezTo>
                    <a:pt x="117" y="0"/>
                    <a:pt x="120" y="3"/>
                    <a:pt x="120" y="6"/>
                  </a:cubicBezTo>
                  <a:cubicBezTo>
                    <a:pt x="120" y="42"/>
                    <a:pt x="120" y="42"/>
                    <a:pt x="120" y="42"/>
                  </a:cubicBezTo>
                  <a:cubicBezTo>
                    <a:pt x="120" y="45"/>
                    <a:pt x="117" y="48"/>
                    <a:pt x="114" y="48"/>
                  </a:cubicBezTo>
                  <a:close/>
                  <a:moveTo>
                    <a:pt x="12" y="36"/>
                  </a:moveTo>
                  <a:cubicBezTo>
                    <a:pt x="108" y="36"/>
                    <a:pt x="108" y="36"/>
                    <a:pt x="108" y="36"/>
                  </a:cubicBezTo>
                  <a:cubicBezTo>
                    <a:pt x="108" y="12"/>
                    <a:pt x="108" y="12"/>
                    <a:pt x="108" y="12"/>
                  </a:cubicBezTo>
                  <a:cubicBezTo>
                    <a:pt x="12" y="12"/>
                    <a:pt x="12" y="12"/>
                    <a:pt x="12" y="12"/>
                  </a:cubicBezTo>
                  <a:lnTo>
                    <a:pt x="12" y="36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8" name="Freeform 150">
              <a:extLst>
                <a:ext uri="{FF2B5EF4-FFF2-40B4-BE49-F238E27FC236}">
                  <a16:creationId xmlns:a16="http://schemas.microsoft.com/office/drawing/2014/main" id="{A804D073-D616-871E-00C3-3C8386D993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3" y="3559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29" name="Freeform 151">
              <a:extLst>
                <a:ext uri="{FF2B5EF4-FFF2-40B4-BE49-F238E27FC236}">
                  <a16:creationId xmlns:a16="http://schemas.microsoft.com/office/drawing/2014/main" id="{8424BE0D-1A46-40A6-E5D5-8408618B1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559"/>
              <a:ext cx="18" cy="72"/>
            </a:xfrm>
            <a:custGeom>
              <a:avLst/>
              <a:gdLst>
                <a:gd name="T0" fmla="*/ 6 w 12"/>
                <a:gd name="T1" fmla="*/ 48 h 48"/>
                <a:gd name="T2" fmla="*/ 0 w 12"/>
                <a:gd name="T3" fmla="*/ 42 h 48"/>
                <a:gd name="T4" fmla="*/ 0 w 12"/>
                <a:gd name="T5" fmla="*/ 6 h 48"/>
                <a:gd name="T6" fmla="*/ 6 w 12"/>
                <a:gd name="T7" fmla="*/ 0 h 48"/>
                <a:gd name="T8" fmla="*/ 12 w 12"/>
                <a:gd name="T9" fmla="*/ 6 h 48"/>
                <a:gd name="T10" fmla="*/ 12 w 12"/>
                <a:gd name="T11" fmla="*/ 42 h 48"/>
                <a:gd name="T12" fmla="*/ 6 w 12"/>
                <a:gd name="T13" fmla="*/ 48 h 4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2" h="48">
                  <a:moveTo>
                    <a:pt x="6" y="48"/>
                  </a:moveTo>
                  <a:cubicBezTo>
                    <a:pt x="3" y="48"/>
                    <a:pt x="0" y="45"/>
                    <a:pt x="0" y="42"/>
                  </a:cubicBezTo>
                  <a:cubicBezTo>
                    <a:pt x="0" y="6"/>
                    <a:pt x="0" y="6"/>
                    <a:pt x="0" y="6"/>
                  </a:cubicBezTo>
                  <a:cubicBezTo>
                    <a:pt x="0" y="3"/>
                    <a:pt x="3" y="0"/>
                    <a:pt x="6" y="0"/>
                  </a:cubicBezTo>
                  <a:cubicBezTo>
                    <a:pt x="9" y="0"/>
                    <a:pt x="12" y="3"/>
                    <a:pt x="12" y="6"/>
                  </a:cubicBezTo>
                  <a:cubicBezTo>
                    <a:pt x="12" y="42"/>
                    <a:pt x="12" y="42"/>
                    <a:pt x="12" y="42"/>
                  </a:cubicBezTo>
                  <a:cubicBezTo>
                    <a:pt x="12" y="45"/>
                    <a:pt x="9" y="48"/>
                    <a:pt x="6" y="48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30" name="Freeform 152">
              <a:extLst>
                <a:ext uri="{FF2B5EF4-FFF2-40B4-BE49-F238E27FC236}">
                  <a16:creationId xmlns:a16="http://schemas.microsoft.com/office/drawing/2014/main" id="{3FCA5F14-1AC1-AC06-B8CC-029F15E9E2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3199"/>
              <a:ext cx="415" cy="252"/>
            </a:xfrm>
            <a:custGeom>
              <a:avLst/>
              <a:gdLst>
                <a:gd name="T0" fmla="*/ 7 w 271"/>
                <a:gd name="T1" fmla="*/ 169 h 169"/>
                <a:gd name="T2" fmla="*/ 3 w 271"/>
                <a:gd name="T3" fmla="*/ 167 h 169"/>
                <a:gd name="T4" fmla="*/ 3 w 271"/>
                <a:gd name="T5" fmla="*/ 158 h 169"/>
                <a:gd name="T6" fmla="*/ 111 w 271"/>
                <a:gd name="T7" fmla="*/ 50 h 169"/>
                <a:gd name="T8" fmla="*/ 119 w 271"/>
                <a:gd name="T9" fmla="*/ 50 h 169"/>
                <a:gd name="T10" fmla="*/ 174 w 271"/>
                <a:gd name="T11" fmla="*/ 95 h 169"/>
                <a:gd name="T12" fmla="*/ 260 w 271"/>
                <a:gd name="T13" fmla="*/ 3 h 169"/>
                <a:gd name="T14" fmla="*/ 269 w 271"/>
                <a:gd name="T15" fmla="*/ 3 h 169"/>
                <a:gd name="T16" fmla="*/ 269 w 271"/>
                <a:gd name="T17" fmla="*/ 11 h 169"/>
                <a:gd name="T18" fmla="*/ 179 w 271"/>
                <a:gd name="T19" fmla="*/ 107 h 169"/>
                <a:gd name="T20" fmla="*/ 171 w 271"/>
                <a:gd name="T21" fmla="*/ 107 h 169"/>
                <a:gd name="T22" fmla="*/ 115 w 271"/>
                <a:gd name="T23" fmla="*/ 63 h 169"/>
                <a:gd name="T24" fmla="*/ 11 w 271"/>
                <a:gd name="T25" fmla="*/ 167 h 169"/>
                <a:gd name="T26" fmla="*/ 7 w 271"/>
                <a:gd name="T27" fmla="*/ 169 h 16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71" h="169">
                  <a:moveTo>
                    <a:pt x="7" y="169"/>
                  </a:moveTo>
                  <a:cubicBezTo>
                    <a:pt x="5" y="169"/>
                    <a:pt x="4" y="168"/>
                    <a:pt x="3" y="167"/>
                  </a:cubicBezTo>
                  <a:cubicBezTo>
                    <a:pt x="0" y="165"/>
                    <a:pt x="0" y="161"/>
                    <a:pt x="3" y="158"/>
                  </a:cubicBezTo>
                  <a:cubicBezTo>
                    <a:pt x="111" y="50"/>
                    <a:pt x="111" y="50"/>
                    <a:pt x="111" y="50"/>
                  </a:cubicBezTo>
                  <a:cubicBezTo>
                    <a:pt x="113" y="48"/>
                    <a:pt x="116" y="48"/>
                    <a:pt x="119" y="50"/>
                  </a:cubicBezTo>
                  <a:cubicBezTo>
                    <a:pt x="174" y="95"/>
                    <a:pt x="174" y="95"/>
                    <a:pt x="174" y="95"/>
                  </a:cubicBezTo>
                  <a:cubicBezTo>
                    <a:pt x="260" y="3"/>
                    <a:pt x="260" y="3"/>
                    <a:pt x="260" y="3"/>
                  </a:cubicBezTo>
                  <a:cubicBezTo>
                    <a:pt x="263" y="1"/>
                    <a:pt x="267" y="0"/>
                    <a:pt x="269" y="3"/>
                  </a:cubicBezTo>
                  <a:cubicBezTo>
                    <a:pt x="271" y="5"/>
                    <a:pt x="271" y="9"/>
                    <a:pt x="269" y="11"/>
                  </a:cubicBezTo>
                  <a:cubicBezTo>
                    <a:pt x="179" y="107"/>
                    <a:pt x="179" y="107"/>
                    <a:pt x="179" y="107"/>
                  </a:cubicBezTo>
                  <a:cubicBezTo>
                    <a:pt x="177" y="109"/>
                    <a:pt x="174" y="109"/>
                    <a:pt x="171" y="107"/>
                  </a:cubicBezTo>
                  <a:cubicBezTo>
                    <a:pt x="115" y="63"/>
                    <a:pt x="115" y="63"/>
                    <a:pt x="115" y="63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10" y="168"/>
                    <a:pt x="8" y="169"/>
                    <a:pt x="7" y="16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31" name="Freeform 153">
              <a:extLst>
                <a:ext uri="{FF2B5EF4-FFF2-40B4-BE49-F238E27FC236}">
                  <a16:creationId xmlns:a16="http://schemas.microsoft.com/office/drawing/2014/main" id="{F4DE0715-0742-C69D-4D71-7840395DBA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3" y="3200"/>
              <a:ext cx="145" cy="133"/>
            </a:xfrm>
            <a:custGeom>
              <a:avLst/>
              <a:gdLst>
                <a:gd name="T0" fmla="*/ 89 w 95"/>
                <a:gd name="T1" fmla="*/ 89 h 89"/>
                <a:gd name="T2" fmla="*/ 83 w 95"/>
                <a:gd name="T3" fmla="*/ 83 h 89"/>
                <a:gd name="T4" fmla="*/ 83 w 95"/>
                <a:gd name="T5" fmla="*/ 12 h 89"/>
                <a:gd name="T6" fmla="*/ 6 w 95"/>
                <a:gd name="T7" fmla="*/ 12 h 89"/>
                <a:gd name="T8" fmla="*/ 0 w 95"/>
                <a:gd name="T9" fmla="*/ 6 h 89"/>
                <a:gd name="T10" fmla="*/ 6 w 95"/>
                <a:gd name="T11" fmla="*/ 0 h 89"/>
                <a:gd name="T12" fmla="*/ 89 w 95"/>
                <a:gd name="T13" fmla="*/ 0 h 89"/>
                <a:gd name="T14" fmla="*/ 95 w 95"/>
                <a:gd name="T15" fmla="*/ 6 h 89"/>
                <a:gd name="T16" fmla="*/ 95 w 95"/>
                <a:gd name="T17" fmla="*/ 83 h 89"/>
                <a:gd name="T18" fmla="*/ 89 w 95"/>
                <a:gd name="T19" fmla="*/ 89 h 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95" h="89">
                  <a:moveTo>
                    <a:pt x="89" y="89"/>
                  </a:moveTo>
                  <a:cubicBezTo>
                    <a:pt x="86" y="89"/>
                    <a:pt x="83" y="87"/>
                    <a:pt x="83" y="83"/>
                  </a:cubicBezTo>
                  <a:cubicBezTo>
                    <a:pt x="83" y="12"/>
                    <a:pt x="83" y="12"/>
                    <a:pt x="83" y="12"/>
                  </a:cubicBezTo>
                  <a:cubicBezTo>
                    <a:pt x="6" y="12"/>
                    <a:pt x="6" y="12"/>
                    <a:pt x="6" y="12"/>
                  </a:cubicBezTo>
                  <a:cubicBezTo>
                    <a:pt x="2" y="12"/>
                    <a:pt x="0" y="9"/>
                    <a:pt x="0" y="6"/>
                  </a:cubicBezTo>
                  <a:cubicBezTo>
                    <a:pt x="0" y="3"/>
                    <a:pt x="2" y="0"/>
                    <a:pt x="6" y="0"/>
                  </a:cubicBezTo>
                  <a:cubicBezTo>
                    <a:pt x="89" y="0"/>
                    <a:pt x="89" y="0"/>
                    <a:pt x="89" y="0"/>
                  </a:cubicBezTo>
                  <a:cubicBezTo>
                    <a:pt x="92" y="0"/>
                    <a:pt x="95" y="3"/>
                    <a:pt x="95" y="6"/>
                  </a:cubicBezTo>
                  <a:cubicBezTo>
                    <a:pt x="95" y="83"/>
                    <a:pt x="95" y="83"/>
                    <a:pt x="95" y="83"/>
                  </a:cubicBezTo>
                  <a:cubicBezTo>
                    <a:pt x="95" y="87"/>
                    <a:pt x="92" y="89"/>
                    <a:pt x="89" y="89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</p:grpSp>
      <p:grpSp>
        <p:nvGrpSpPr>
          <p:cNvPr id="32" name="Group 32">
            <a:extLst>
              <a:ext uri="{FF2B5EF4-FFF2-40B4-BE49-F238E27FC236}">
                <a16:creationId xmlns:a16="http://schemas.microsoft.com/office/drawing/2014/main" id="{31A7A87B-0937-BEE9-F0E2-CC4AE2ABF3E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6345950" y="1349288"/>
            <a:ext cx="319393" cy="324001"/>
            <a:chOff x="2603" y="672"/>
            <a:chExt cx="402" cy="416"/>
          </a:xfrm>
          <a:solidFill>
            <a:schemeClr val="accent2"/>
          </a:solidFill>
        </p:grpSpPr>
        <p:sp>
          <p:nvSpPr>
            <p:cNvPr id="33" name="Freeform 33">
              <a:extLst>
                <a:ext uri="{FF2B5EF4-FFF2-40B4-BE49-F238E27FC236}">
                  <a16:creationId xmlns:a16="http://schemas.microsoft.com/office/drawing/2014/main" id="{2350FAD0-665B-D2E8-7E1A-30359366B2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672"/>
              <a:ext cx="159" cy="159"/>
            </a:xfrm>
            <a:custGeom>
              <a:avLst/>
              <a:gdLst>
                <a:gd name="T0" fmla="*/ 102 w 104"/>
                <a:gd name="T1" fmla="*/ 93 h 106"/>
                <a:gd name="T2" fmla="*/ 104 w 104"/>
                <a:gd name="T3" fmla="*/ 98 h 106"/>
                <a:gd name="T4" fmla="*/ 102 w 104"/>
                <a:gd name="T5" fmla="*/ 103 h 106"/>
                <a:gd name="T6" fmla="*/ 92 w 104"/>
                <a:gd name="T7" fmla="*/ 103 h 106"/>
                <a:gd name="T8" fmla="*/ 52 w 104"/>
                <a:gd name="T9" fmla="*/ 63 h 106"/>
                <a:gd name="T10" fmla="*/ 12 w 104"/>
                <a:gd name="T11" fmla="*/ 103 h 106"/>
                <a:gd name="T12" fmla="*/ 2 w 104"/>
                <a:gd name="T13" fmla="*/ 103 h 106"/>
                <a:gd name="T14" fmla="*/ 0 w 104"/>
                <a:gd name="T15" fmla="*/ 98 h 106"/>
                <a:gd name="T16" fmla="*/ 2 w 104"/>
                <a:gd name="T17" fmla="*/ 93 h 106"/>
                <a:gd name="T18" fmla="*/ 42 w 104"/>
                <a:gd name="T19" fmla="*/ 53 h 106"/>
                <a:gd name="T20" fmla="*/ 2 w 104"/>
                <a:gd name="T21" fmla="*/ 13 h 106"/>
                <a:gd name="T22" fmla="*/ 0 w 104"/>
                <a:gd name="T23" fmla="*/ 8 h 106"/>
                <a:gd name="T24" fmla="*/ 2 w 104"/>
                <a:gd name="T25" fmla="*/ 3 h 106"/>
                <a:gd name="T26" fmla="*/ 12 w 104"/>
                <a:gd name="T27" fmla="*/ 3 h 106"/>
                <a:gd name="T28" fmla="*/ 52 w 104"/>
                <a:gd name="T29" fmla="*/ 42 h 106"/>
                <a:gd name="T30" fmla="*/ 92 w 104"/>
                <a:gd name="T31" fmla="*/ 3 h 106"/>
                <a:gd name="T32" fmla="*/ 102 w 104"/>
                <a:gd name="T33" fmla="*/ 3 h 106"/>
                <a:gd name="T34" fmla="*/ 104 w 104"/>
                <a:gd name="T35" fmla="*/ 8 h 106"/>
                <a:gd name="T36" fmla="*/ 102 w 104"/>
                <a:gd name="T37" fmla="*/ 13 h 106"/>
                <a:gd name="T38" fmla="*/ 62 w 104"/>
                <a:gd name="T39" fmla="*/ 53 h 106"/>
                <a:gd name="T40" fmla="*/ 102 w 104"/>
                <a:gd name="T41" fmla="*/ 93 h 10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</a:cxnLst>
              <a:rect l="0" t="0" r="r" b="b"/>
              <a:pathLst>
                <a:path w="104" h="106">
                  <a:moveTo>
                    <a:pt x="102" y="93"/>
                  </a:moveTo>
                  <a:cubicBezTo>
                    <a:pt x="104" y="94"/>
                    <a:pt x="104" y="96"/>
                    <a:pt x="104" y="98"/>
                  </a:cubicBezTo>
                  <a:cubicBezTo>
                    <a:pt x="104" y="100"/>
                    <a:pt x="104" y="102"/>
                    <a:pt x="102" y="103"/>
                  </a:cubicBezTo>
                  <a:cubicBezTo>
                    <a:pt x="99" y="106"/>
                    <a:pt x="95" y="106"/>
                    <a:pt x="92" y="103"/>
                  </a:cubicBezTo>
                  <a:cubicBezTo>
                    <a:pt x="52" y="63"/>
                    <a:pt x="52" y="63"/>
                    <a:pt x="52" y="63"/>
                  </a:cubicBezTo>
                  <a:cubicBezTo>
                    <a:pt x="12" y="103"/>
                    <a:pt x="12" y="103"/>
                    <a:pt x="12" y="103"/>
                  </a:cubicBezTo>
                  <a:cubicBezTo>
                    <a:pt x="9" y="106"/>
                    <a:pt x="5" y="106"/>
                    <a:pt x="2" y="103"/>
                  </a:cubicBezTo>
                  <a:cubicBezTo>
                    <a:pt x="0" y="102"/>
                    <a:pt x="0" y="100"/>
                    <a:pt x="0" y="98"/>
                  </a:cubicBezTo>
                  <a:cubicBezTo>
                    <a:pt x="0" y="96"/>
                    <a:pt x="0" y="94"/>
                    <a:pt x="2" y="93"/>
                  </a:cubicBezTo>
                  <a:cubicBezTo>
                    <a:pt x="42" y="53"/>
                    <a:pt x="42" y="53"/>
                    <a:pt x="42" y="53"/>
                  </a:cubicBezTo>
                  <a:cubicBezTo>
                    <a:pt x="2" y="13"/>
                    <a:pt x="2" y="13"/>
                    <a:pt x="2" y="13"/>
                  </a:cubicBezTo>
                  <a:cubicBezTo>
                    <a:pt x="0" y="11"/>
                    <a:pt x="0" y="10"/>
                    <a:pt x="0" y="8"/>
                  </a:cubicBezTo>
                  <a:cubicBezTo>
                    <a:pt x="0" y="6"/>
                    <a:pt x="0" y="4"/>
                    <a:pt x="2" y="3"/>
                  </a:cubicBezTo>
                  <a:cubicBezTo>
                    <a:pt x="5" y="0"/>
                    <a:pt x="9" y="0"/>
                    <a:pt x="12" y="3"/>
                  </a:cubicBezTo>
                  <a:cubicBezTo>
                    <a:pt x="52" y="42"/>
                    <a:pt x="52" y="42"/>
                    <a:pt x="52" y="42"/>
                  </a:cubicBezTo>
                  <a:cubicBezTo>
                    <a:pt x="92" y="3"/>
                    <a:pt x="92" y="3"/>
                    <a:pt x="92" y="3"/>
                  </a:cubicBezTo>
                  <a:cubicBezTo>
                    <a:pt x="95" y="0"/>
                    <a:pt x="99" y="0"/>
                    <a:pt x="102" y="3"/>
                  </a:cubicBezTo>
                  <a:cubicBezTo>
                    <a:pt x="104" y="4"/>
                    <a:pt x="104" y="6"/>
                    <a:pt x="104" y="8"/>
                  </a:cubicBezTo>
                  <a:cubicBezTo>
                    <a:pt x="104" y="10"/>
                    <a:pt x="104" y="11"/>
                    <a:pt x="102" y="13"/>
                  </a:cubicBezTo>
                  <a:cubicBezTo>
                    <a:pt x="62" y="53"/>
                    <a:pt x="62" y="53"/>
                    <a:pt x="62" y="53"/>
                  </a:cubicBezTo>
                  <a:lnTo>
                    <a:pt x="102" y="93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34" name="Freeform 34">
              <a:extLst>
                <a:ext uri="{FF2B5EF4-FFF2-40B4-BE49-F238E27FC236}">
                  <a16:creationId xmlns:a16="http://schemas.microsoft.com/office/drawing/2014/main" id="{2ECFDA32-A682-0051-C990-36A00069652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39" y="925"/>
              <a:ext cx="166" cy="163"/>
            </a:xfrm>
            <a:custGeom>
              <a:avLst/>
              <a:gdLst>
                <a:gd name="T0" fmla="*/ 55 w 109"/>
                <a:gd name="T1" fmla="*/ 0 h 109"/>
                <a:gd name="T2" fmla="*/ 0 w 109"/>
                <a:gd name="T3" fmla="*/ 54 h 109"/>
                <a:gd name="T4" fmla="*/ 55 w 109"/>
                <a:gd name="T5" fmla="*/ 109 h 109"/>
                <a:gd name="T6" fmla="*/ 109 w 109"/>
                <a:gd name="T7" fmla="*/ 54 h 109"/>
                <a:gd name="T8" fmla="*/ 55 w 109"/>
                <a:gd name="T9" fmla="*/ 0 h 109"/>
                <a:gd name="T10" fmla="*/ 55 w 109"/>
                <a:gd name="T11" fmla="*/ 94 h 109"/>
                <a:gd name="T12" fmla="*/ 15 w 109"/>
                <a:gd name="T13" fmla="*/ 54 h 109"/>
                <a:gd name="T14" fmla="*/ 55 w 109"/>
                <a:gd name="T15" fmla="*/ 14 h 109"/>
                <a:gd name="T16" fmla="*/ 95 w 109"/>
                <a:gd name="T17" fmla="*/ 54 h 109"/>
                <a:gd name="T18" fmla="*/ 55 w 109"/>
                <a:gd name="T19" fmla="*/ 94 h 10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109" h="109">
                  <a:moveTo>
                    <a:pt x="55" y="0"/>
                  </a:moveTo>
                  <a:cubicBezTo>
                    <a:pt x="25" y="0"/>
                    <a:pt x="0" y="24"/>
                    <a:pt x="0" y="54"/>
                  </a:cubicBezTo>
                  <a:cubicBezTo>
                    <a:pt x="0" y="84"/>
                    <a:pt x="25" y="109"/>
                    <a:pt x="55" y="109"/>
                  </a:cubicBezTo>
                  <a:cubicBezTo>
                    <a:pt x="85" y="109"/>
                    <a:pt x="109" y="84"/>
                    <a:pt x="109" y="54"/>
                  </a:cubicBezTo>
                  <a:cubicBezTo>
                    <a:pt x="109" y="24"/>
                    <a:pt x="85" y="0"/>
                    <a:pt x="55" y="0"/>
                  </a:cubicBezTo>
                  <a:close/>
                  <a:moveTo>
                    <a:pt x="55" y="94"/>
                  </a:moveTo>
                  <a:cubicBezTo>
                    <a:pt x="33" y="94"/>
                    <a:pt x="15" y="76"/>
                    <a:pt x="15" y="54"/>
                  </a:cubicBezTo>
                  <a:cubicBezTo>
                    <a:pt x="15" y="32"/>
                    <a:pt x="33" y="14"/>
                    <a:pt x="55" y="14"/>
                  </a:cubicBezTo>
                  <a:cubicBezTo>
                    <a:pt x="77" y="14"/>
                    <a:pt x="95" y="32"/>
                    <a:pt x="95" y="54"/>
                  </a:cubicBezTo>
                  <a:cubicBezTo>
                    <a:pt x="95" y="76"/>
                    <a:pt x="77" y="94"/>
                    <a:pt x="55" y="94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  <p:sp>
          <p:nvSpPr>
            <p:cNvPr id="35" name="Freeform 35">
              <a:extLst>
                <a:ext uri="{FF2B5EF4-FFF2-40B4-BE49-F238E27FC236}">
                  <a16:creationId xmlns:a16="http://schemas.microsoft.com/office/drawing/2014/main" id="{640BA810-4979-9847-7373-9F71926DF8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750"/>
              <a:ext cx="295" cy="276"/>
            </a:xfrm>
            <a:custGeom>
              <a:avLst/>
              <a:gdLst>
                <a:gd name="T0" fmla="*/ 193 w 193"/>
                <a:gd name="T1" fmla="*/ 22 h 185"/>
                <a:gd name="T2" fmla="*/ 193 w 193"/>
                <a:gd name="T3" fmla="*/ 23 h 185"/>
                <a:gd name="T4" fmla="*/ 192 w 193"/>
                <a:gd name="T5" fmla="*/ 24 h 185"/>
                <a:gd name="T6" fmla="*/ 192 w 193"/>
                <a:gd name="T7" fmla="*/ 25 h 185"/>
                <a:gd name="T8" fmla="*/ 192 w 193"/>
                <a:gd name="T9" fmla="*/ 25 h 185"/>
                <a:gd name="T10" fmla="*/ 164 w 193"/>
                <a:gd name="T11" fmla="*/ 87 h 185"/>
                <a:gd name="T12" fmla="*/ 154 w 193"/>
                <a:gd name="T13" fmla="*/ 90 h 185"/>
                <a:gd name="T14" fmla="*/ 150 w 193"/>
                <a:gd name="T15" fmla="*/ 86 h 185"/>
                <a:gd name="T16" fmla="*/ 151 w 193"/>
                <a:gd name="T17" fmla="*/ 81 h 185"/>
                <a:gd name="T18" fmla="*/ 172 w 193"/>
                <a:gd name="T19" fmla="*/ 35 h 185"/>
                <a:gd name="T20" fmla="*/ 161 w 193"/>
                <a:gd name="T21" fmla="*/ 40 h 185"/>
                <a:gd name="T22" fmla="*/ 15 w 193"/>
                <a:gd name="T23" fmla="*/ 180 h 185"/>
                <a:gd name="T24" fmla="*/ 5 w 193"/>
                <a:gd name="T25" fmla="*/ 183 h 185"/>
                <a:gd name="T26" fmla="*/ 2 w 193"/>
                <a:gd name="T27" fmla="*/ 173 h 185"/>
                <a:gd name="T28" fmla="*/ 147 w 193"/>
                <a:gd name="T29" fmla="*/ 30 h 185"/>
                <a:gd name="T30" fmla="*/ 160 w 193"/>
                <a:gd name="T31" fmla="*/ 24 h 185"/>
                <a:gd name="T32" fmla="*/ 113 w 193"/>
                <a:gd name="T33" fmla="*/ 14 h 185"/>
                <a:gd name="T34" fmla="*/ 109 w 193"/>
                <a:gd name="T35" fmla="*/ 11 h 185"/>
                <a:gd name="T36" fmla="*/ 108 w 193"/>
                <a:gd name="T37" fmla="*/ 6 h 185"/>
                <a:gd name="T38" fmla="*/ 111 w 193"/>
                <a:gd name="T39" fmla="*/ 1 h 185"/>
                <a:gd name="T40" fmla="*/ 115 w 193"/>
                <a:gd name="T41" fmla="*/ 0 h 185"/>
                <a:gd name="T42" fmla="*/ 116 w 193"/>
                <a:gd name="T43" fmla="*/ 0 h 185"/>
                <a:gd name="T44" fmla="*/ 187 w 193"/>
                <a:gd name="T45" fmla="*/ 15 h 185"/>
                <a:gd name="T46" fmla="*/ 187 w 193"/>
                <a:gd name="T47" fmla="*/ 15 h 185"/>
                <a:gd name="T48" fmla="*/ 188 w 193"/>
                <a:gd name="T49" fmla="*/ 15 h 185"/>
                <a:gd name="T50" fmla="*/ 189 w 193"/>
                <a:gd name="T51" fmla="*/ 15 h 185"/>
                <a:gd name="T52" fmla="*/ 191 w 193"/>
                <a:gd name="T53" fmla="*/ 17 h 185"/>
                <a:gd name="T54" fmla="*/ 191 w 193"/>
                <a:gd name="T55" fmla="*/ 18 h 185"/>
                <a:gd name="T56" fmla="*/ 192 w 193"/>
                <a:gd name="T57" fmla="*/ 19 h 185"/>
                <a:gd name="T58" fmla="*/ 192 w 193"/>
                <a:gd name="T59" fmla="*/ 19 h 185"/>
                <a:gd name="T60" fmla="*/ 192 w 193"/>
                <a:gd name="T61" fmla="*/ 19 h 185"/>
                <a:gd name="T62" fmla="*/ 192 w 193"/>
                <a:gd name="T63" fmla="*/ 20 h 185"/>
                <a:gd name="T64" fmla="*/ 193 w 193"/>
                <a:gd name="T65" fmla="*/ 21 h 185"/>
                <a:gd name="T66" fmla="*/ 193 w 193"/>
                <a:gd name="T67" fmla="*/ 22 h 185"/>
                <a:gd name="T68" fmla="*/ 193 w 193"/>
                <a:gd name="T69" fmla="*/ 22 h 18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193" h="185">
                  <a:moveTo>
                    <a:pt x="193" y="22"/>
                  </a:moveTo>
                  <a:cubicBezTo>
                    <a:pt x="193" y="22"/>
                    <a:pt x="193" y="23"/>
                    <a:pt x="193" y="23"/>
                  </a:cubicBezTo>
                  <a:cubicBezTo>
                    <a:pt x="192" y="24"/>
                    <a:pt x="192" y="24"/>
                    <a:pt x="192" y="24"/>
                  </a:cubicBezTo>
                  <a:cubicBezTo>
                    <a:pt x="192" y="24"/>
                    <a:pt x="192" y="24"/>
                    <a:pt x="192" y="25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64" y="87"/>
                    <a:pt x="164" y="87"/>
                    <a:pt x="164" y="87"/>
                  </a:cubicBezTo>
                  <a:cubicBezTo>
                    <a:pt x="162" y="90"/>
                    <a:pt x="158" y="92"/>
                    <a:pt x="154" y="90"/>
                  </a:cubicBezTo>
                  <a:cubicBezTo>
                    <a:pt x="152" y="90"/>
                    <a:pt x="151" y="88"/>
                    <a:pt x="150" y="86"/>
                  </a:cubicBezTo>
                  <a:cubicBezTo>
                    <a:pt x="150" y="84"/>
                    <a:pt x="150" y="83"/>
                    <a:pt x="151" y="81"/>
                  </a:cubicBezTo>
                  <a:cubicBezTo>
                    <a:pt x="172" y="35"/>
                    <a:pt x="172" y="35"/>
                    <a:pt x="172" y="35"/>
                  </a:cubicBezTo>
                  <a:cubicBezTo>
                    <a:pt x="161" y="40"/>
                    <a:pt x="161" y="40"/>
                    <a:pt x="161" y="40"/>
                  </a:cubicBezTo>
                  <a:cubicBezTo>
                    <a:pt x="97" y="68"/>
                    <a:pt x="46" y="118"/>
                    <a:pt x="15" y="180"/>
                  </a:cubicBezTo>
                  <a:cubicBezTo>
                    <a:pt x="13" y="183"/>
                    <a:pt x="9" y="185"/>
                    <a:pt x="5" y="183"/>
                  </a:cubicBezTo>
                  <a:cubicBezTo>
                    <a:pt x="2" y="181"/>
                    <a:pt x="0" y="177"/>
                    <a:pt x="2" y="173"/>
                  </a:cubicBezTo>
                  <a:cubicBezTo>
                    <a:pt x="33" y="111"/>
                    <a:pt x="85" y="60"/>
                    <a:pt x="147" y="30"/>
                  </a:cubicBezTo>
                  <a:cubicBezTo>
                    <a:pt x="160" y="24"/>
                    <a:pt x="160" y="24"/>
                    <a:pt x="160" y="24"/>
                  </a:cubicBezTo>
                  <a:cubicBezTo>
                    <a:pt x="113" y="14"/>
                    <a:pt x="113" y="14"/>
                    <a:pt x="113" y="14"/>
                  </a:cubicBezTo>
                  <a:cubicBezTo>
                    <a:pt x="111" y="14"/>
                    <a:pt x="110" y="13"/>
                    <a:pt x="109" y="11"/>
                  </a:cubicBezTo>
                  <a:cubicBezTo>
                    <a:pt x="108" y="10"/>
                    <a:pt x="107" y="8"/>
                    <a:pt x="108" y="6"/>
                  </a:cubicBezTo>
                  <a:cubicBezTo>
                    <a:pt x="108" y="4"/>
                    <a:pt x="109" y="2"/>
                    <a:pt x="111" y="1"/>
                  </a:cubicBezTo>
                  <a:cubicBezTo>
                    <a:pt x="112" y="1"/>
                    <a:pt x="113" y="0"/>
                    <a:pt x="115" y="0"/>
                  </a:cubicBezTo>
                  <a:cubicBezTo>
                    <a:pt x="115" y="0"/>
                    <a:pt x="116" y="0"/>
                    <a:pt x="116" y="0"/>
                  </a:cubicBezTo>
                  <a:cubicBezTo>
                    <a:pt x="187" y="15"/>
                    <a:pt x="187" y="15"/>
                    <a:pt x="187" y="15"/>
                  </a:cubicBezTo>
                  <a:cubicBezTo>
                    <a:pt x="187" y="15"/>
                    <a:pt x="187" y="15"/>
                    <a:pt x="187" y="15"/>
                  </a:cubicBezTo>
                  <a:cubicBezTo>
                    <a:pt x="187" y="15"/>
                    <a:pt x="188" y="15"/>
                    <a:pt x="188" y="15"/>
                  </a:cubicBezTo>
                  <a:cubicBezTo>
                    <a:pt x="189" y="15"/>
                    <a:pt x="189" y="15"/>
                    <a:pt x="189" y="15"/>
                  </a:cubicBezTo>
                  <a:cubicBezTo>
                    <a:pt x="189" y="16"/>
                    <a:pt x="190" y="17"/>
                    <a:pt x="191" y="17"/>
                  </a:cubicBezTo>
                  <a:cubicBezTo>
                    <a:pt x="191" y="18"/>
                    <a:pt x="191" y="18"/>
                    <a:pt x="191" y="18"/>
                  </a:cubicBezTo>
                  <a:cubicBezTo>
                    <a:pt x="191" y="18"/>
                    <a:pt x="192" y="18"/>
                    <a:pt x="192" y="19"/>
                  </a:cubicBezTo>
                  <a:cubicBezTo>
                    <a:pt x="192" y="19"/>
                    <a:pt x="192" y="19"/>
                    <a:pt x="192" y="19"/>
                  </a:cubicBezTo>
                  <a:cubicBezTo>
                    <a:pt x="192" y="19"/>
                    <a:pt x="192" y="19"/>
                    <a:pt x="192" y="19"/>
                  </a:cubicBezTo>
                  <a:cubicBezTo>
                    <a:pt x="192" y="20"/>
                    <a:pt x="192" y="20"/>
                    <a:pt x="192" y="20"/>
                  </a:cubicBezTo>
                  <a:cubicBezTo>
                    <a:pt x="192" y="20"/>
                    <a:pt x="192" y="20"/>
                    <a:pt x="193" y="21"/>
                  </a:cubicBezTo>
                  <a:cubicBezTo>
                    <a:pt x="193" y="21"/>
                    <a:pt x="193" y="21"/>
                    <a:pt x="193" y="22"/>
                  </a:cubicBezTo>
                  <a:cubicBezTo>
                    <a:pt x="193" y="22"/>
                    <a:pt x="193" y="22"/>
                    <a:pt x="193" y="22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defTabSz="914355"/>
              <a:endParaRPr lang="en-US" sz="1600">
                <a:solidFill>
                  <a:srgbClr val="000000"/>
                </a:solidFill>
                <a:latin typeface="Graphik" panose="020B0503030202060203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431236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249</Words>
  <Application>Microsoft Office PowerPoint</Application>
  <PresentationFormat>Widescreen</PresentationFormat>
  <Paragraphs>10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Aptos</vt:lpstr>
      <vt:lpstr>Aptos Display</vt:lpstr>
      <vt:lpstr>Arial</vt:lpstr>
      <vt:lpstr>Graphik</vt:lpstr>
      <vt:lpstr>Graphik (Body)</vt:lpstr>
      <vt:lpstr>Graphik (Body)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Vaz Ribeiro, Daniel</dc:creator>
  <cp:lastModifiedBy>Vaz Ribeiro, Daniel</cp:lastModifiedBy>
  <cp:revision>1</cp:revision>
  <dcterms:created xsi:type="dcterms:W3CDTF">2026-02-05T11:17:05Z</dcterms:created>
  <dcterms:modified xsi:type="dcterms:W3CDTF">2026-02-05T11:17:05Z</dcterms:modified>
</cp:coreProperties>
</file>