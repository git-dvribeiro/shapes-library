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0006-4E69-C8A5-8C01-C6FEDE4EC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B6D19-48B3-FF66-0129-C00F735FC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195C1-AB7C-FFDA-FEBE-F8447766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B0A75-026E-F833-2CEF-81FEA209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80C1-EF72-EED9-8191-4CE8EC1C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5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8B67-858B-A4B8-C3EE-0D3FF8A5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9F80-AB32-5618-97CD-12E61843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8AFF5-C84E-4C60-F0EF-CF8BB5BC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97E4E-9937-0553-9081-D5474B2A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0AD6-CE64-4D71-6A8D-2274324D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0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B7E3-B23F-DABA-FA09-585AD604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0FB08-EA03-7842-AC03-545039D79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E4E6-7388-455C-F956-9EA313E2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EA58-4649-004D-DCFA-FC0F6160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E7E1-6D06-474C-FACA-027C66FE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4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7B85-78D7-AEDF-D1A9-90312521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BEDD-A178-7D57-FF86-2B61C4C68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FA3E8-FA81-AC26-5457-1D5ECED1C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F795B-D8D4-EF11-57DF-92EE49CC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CD930-3761-32E6-7FD8-931CC021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FE9B8-4A60-2453-FF4C-6A3784B3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2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88E0-58EF-FA06-635A-F6EA1873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BAEB1-DC57-D27C-1DF5-BBC3DF911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363BE-F46E-5E6E-09FE-91599CBB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7CEE55-1098-66C3-8E7B-E87841CFD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BFCA9-3C79-EE0E-C8D5-80389932A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2C4BC-6FA1-C5C8-E028-5F564655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D9C65-939D-2F39-2F9B-162ABA83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24957-66AD-670A-2BBA-7DE0F056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9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7D12-E665-FC80-0A90-1F269522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07CCA-9B1C-96F9-92CD-0827C40A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CEB6C-03A2-6F4F-0B27-A1E5089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872AE-93FA-422A-2062-FCAAD5F0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7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6D480-42D3-1DFC-9506-624023B1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74E92-BEAB-A45F-DFB9-1EA11B570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C0C6E-5E60-F1D1-C91B-430B2EBE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9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7E2B-D19A-6B6F-A093-035E52F55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A19D2-4822-DF4A-E67E-8BAA673F0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BC6B4-B06E-7D9A-C455-79C19108F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DE8D6-E57E-A1A8-33BD-DE995931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F387A-0137-A567-799B-F0FAAE949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F5DE9-7E90-521A-0028-398C5188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2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C7B2-000D-0217-4418-36ABD3F1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D4509-E8E7-72DB-6DC0-2BE14FD3E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BFA3E-F784-350D-3966-55E884A1B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DCC20-3487-4F29-EB5C-3AE54473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95EF9-6C05-7F68-8B18-9F7B1531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ABD01-469B-2C1B-E1EF-7ABC4343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7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8ADB-CDC4-34EC-460D-627D6F2B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53F55-0E68-5415-1C51-BB18275DD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484E6-1EDF-6353-8BB0-87F81B38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8F0F8-69E1-A14A-5123-E3DF8799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B1065-472D-7F4E-AD6E-5C4696B1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9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E3E61-0925-FBDD-2A40-BA0C86D79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EDD9E-03A6-5F3F-C967-71495C381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5C74-EEA3-AB2C-69F2-EC07CA5A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E81F7-B5DC-7F96-71C5-3194CCEE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C9C7-6DF9-B6C6-150B-BB9E8D34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BC261-D6EF-DF81-1519-BBBE630B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62193-1631-7E8B-C01D-B11064DBE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7904E-BCAB-0BAC-2F4E-58CDF1740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BB112-5998-4F60-B42A-47FBB23D230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10A27-EB2E-8FA1-8D5E-DAEDFA6BB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FA101-7C26-F5E4-A7B9-8CA83002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DEDA6-126E-4094-A76A-0DE5E5A2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5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81AB242-A0A5-97B8-34CE-B1D9D4A14C88}"/>
              </a:ext>
            </a:extLst>
          </p:cNvPr>
          <p:cNvGrpSpPr/>
          <p:nvPr/>
        </p:nvGrpSpPr>
        <p:grpSpPr>
          <a:xfrm>
            <a:off x="380999" y="1637527"/>
            <a:ext cx="11430001" cy="4790654"/>
            <a:chOff x="380999" y="1637527"/>
            <a:chExt cx="11430001" cy="479065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63FBB38-7653-94D0-6459-AD1315893514}"/>
                </a:ext>
              </a:extLst>
            </p:cNvPr>
            <p:cNvCxnSpPr>
              <a:cxnSpLocks/>
            </p:cNvCxnSpPr>
            <p:nvPr/>
          </p:nvCxnSpPr>
          <p:spPr>
            <a:xfrm>
              <a:off x="8076000" y="1637527"/>
              <a:ext cx="0" cy="4234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5EDBB16-3154-24A3-C0B4-21E2694408F5}"/>
                </a:ext>
              </a:extLst>
            </p:cNvPr>
            <p:cNvSpPr txBox="1"/>
            <p:nvPr/>
          </p:nvSpPr>
          <p:spPr>
            <a:xfrm>
              <a:off x="381000" y="2064639"/>
              <a:ext cx="3510000" cy="293478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2"/>
                  </a:solidFill>
                </a:rPr>
                <a:t>Moment 1: </a:t>
              </a:r>
              <a:r>
                <a:rPr lang="en-US" sz="1600" dirty="0">
                  <a:solidFill>
                    <a:schemeClr val="accent2"/>
                  </a:solidFill>
                  <a:latin typeface="Graphik Medium" panose="020B0603030202060203" pitchFamily="34" charset="0"/>
                </a:rPr>
                <a:t>Design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0D8C0C-8688-6E84-3C7B-8E063B74A22A}"/>
                </a:ext>
              </a:extLst>
            </p:cNvPr>
            <p:cNvSpPr txBox="1"/>
            <p:nvPr/>
          </p:nvSpPr>
          <p:spPr>
            <a:xfrm>
              <a:off x="4341000" y="2064639"/>
              <a:ext cx="3510000" cy="293478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2"/>
                  </a:solidFill>
                </a:rPr>
                <a:t>Moment 2: </a:t>
              </a:r>
              <a:r>
                <a:rPr lang="en-US" sz="1600" dirty="0">
                  <a:solidFill>
                    <a:schemeClr val="accent2"/>
                  </a:solidFill>
                  <a:latin typeface="Graphik Medium" panose="020B0603030202060203" pitchFamily="34" charset="0"/>
                </a:rPr>
                <a:t>Develop &amp; Pilot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7793C9-C405-D3A7-040F-A94D73F5D85F}"/>
                </a:ext>
              </a:extLst>
            </p:cNvPr>
            <p:cNvSpPr txBox="1"/>
            <p:nvPr/>
          </p:nvSpPr>
          <p:spPr>
            <a:xfrm>
              <a:off x="8301000" y="2064639"/>
              <a:ext cx="3510000" cy="293478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2"/>
                  </a:solidFill>
                </a:rPr>
                <a:t>Moment 3: </a:t>
              </a:r>
              <a:r>
                <a:rPr lang="en-US" sz="1600" dirty="0">
                  <a:solidFill>
                    <a:schemeClr val="accent2"/>
                  </a:solidFill>
                  <a:latin typeface="Graphik Medium" panose="020B0603030202060203" pitchFamily="34" charset="0"/>
                </a:rPr>
                <a:t>Scale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8953B16-1831-EC37-D498-556DE2587422}"/>
                </a:ext>
              </a:extLst>
            </p:cNvPr>
            <p:cNvCxnSpPr/>
            <p:nvPr/>
          </p:nvCxnSpPr>
          <p:spPr>
            <a:xfrm>
              <a:off x="380999" y="2477983"/>
              <a:ext cx="1143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AD0959D-B267-A4B2-7E4E-4C7AB725FB72}"/>
                </a:ext>
              </a:extLst>
            </p:cNvPr>
            <p:cNvGrpSpPr/>
            <p:nvPr/>
          </p:nvGrpSpPr>
          <p:grpSpPr>
            <a:xfrm>
              <a:off x="7938737" y="2340720"/>
              <a:ext cx="274526" cy="274526"/>
              <a:chOff x="5823350" y="3950410"/>
              <a:chExt cx="274526" cy="274526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FB014E2-EA54-694C-6291-DE7266D702D8}"/>
                  </a:ext>
                </a:extLst>
              </p:cNvPr>
              <p:cNvSpPr/>
              <p:nvPr/>
            </p:nvSpPr>
            <p:spPr>
              <a:xfrm>
                <a:off x="5823350" y="3950410"/>
                <a:ext cx="274526" cy="274526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2036A292-FDCE-7BCA-2C76-58C02E27571C}"/>
                  </a:ext>
                </a:extLst>
              </p:cNvPr>
              <p:cNvSpPr/>
              <p:nvPr/>
            </p:nvSpPr>
            <p:spPr>
              <a:xfrm>
                <a:off x="5902605" y="4010464"/>
                <a:ext cx="116017" cy="154419"/>
              </a:xfrm>
              <a:prstGeom prst="chevron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1908B0-3F5B-549C-5353-9ED6325D507A}"/>
                </a:ext>
              </a:extLst>
            </p:cNvPr>
            <p:cNvGrpSpPr/>
            <p:nvPr/>
          </p:nvGrpSpPr>
          <p:grpSpPr>
            <a:xfrm>
              <a:off x="3978737" y="2340720"/>
              <a:ext cx="274526" cy="274526"/>
              <a:chOff x="5823350" y="3950410"/>
              <a:chExt cx="274526" cy="27452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4885A44-9C64-51E1-0AA3-484CD1233717}"/>
                  </a:ext>
                </a:extLst>
              </p:cNvPr>
              <p:cNvSpPr/>
              <p:nvPr/>
            </p:nvSpPr>
            <p:spPr>
              <a:xfrm>
                <a:off x="5823350" y="3950410"/>
                <a:ext cx="274526" cy="274526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7FAECE2F-7272-0A06-72E0-94D2544EF81F}"/>
                  </a:ext>
                </a:extLst>
              </p:cNvPr>
              <p:cNvSpPr/>
              <p:nvPr/>
            </p:nvSpPr>
            <p:spPr>
              <a:xfrm>
                <a:off x="5902605" y="4010464"/>
                <a:ext cx="116017" cy="154419"/>
              </a:xfrm>
              <a:prstGeom prst="chevron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AEFBA6-2606-73ED-E96F-F6B88E61608F}"/>
                </a:ext>
              </a:extLst>
            </p:cNvPr>
            <p:cNvSpPr txBox="1"/>
            <p:nvPr/>
          </p:nvSpPr>
          <p:spPr>
            <a:xfrm>
              <a:off x="381000" y="2693786"/>
              <a:ext cx="3510000" cy="478144"/>
            </a:xfrm>
            <a:prstGeom prst="rect">
              <a:avLst/>
            </a:prstGeom>
            <a:noFill/>
          </p:spPr>
          <p:txBody>
            <a:bodyPr wrap="square" lIns="0" tIns="0" rIns="90000" bIns="46800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T Sectra Fine Rg" panose="00000500000000000000" pitchFamily="2" charset="0"/>
                </a:rPr>
                <a:t>What is the right AI-first operating model for Nubank?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1C9EA3-09E8-E238-A6CC-DAD9F7B09159}"/>
                </a:ext>
              </a:extLst>
            </p:cNvPr>
            <p:cNvSpPr txBox="1"/>
            <p:nvPr/>
          </p:nvSpPr>
          <p:spPr>
            <a:xfrm>
              <a:off x="4341000" y="2693786"/>
              <a:ext cx="3510000" cy="262701"/>
            </a:xfrm>
            <a:prstGeom prst="rect">
              <a:avLst/>
            </a:prstGeom>
            <a:noFill/>
          </p:spPr>
          <p:txBody>
            <a:bodyPr wrap="square" lIns="0" tIns="0" rIns="90000" bIns="46800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T Sectra Fine Rg" panose="00000500000000000000" pitchFamily="2" charset="0"/>
                </a:rPr>
                <a:t>Does the model work in practice?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818BF6-8B11-9D92-30C7-E38F6DB6EE76}"/>
                </a:ext>
              </a:extLst>
            </p:cNvPr>
            <p:cNvSpPr txBox="1"/>
            <p:nvPr/>
          </p:nvSpPr>
          <p:spPr>
            <a:xfrm>
              <a:off x="8301000" y="2693786"/>
              <a:ext cx="3510000" cy="478144"/>
            </a:xfrm>
            <a:prstGeom prst="rect">
              <a:avLst/>
            </a:prstGeom>
            <a:noFill/>
          </p:spPr>
          <p:txBody>
            <a:bodyPr wrap="square" lIns="0" tIns="0" rIns="90000" bIns="46800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T Sectra Fine Rg" panose="00000500000000000000" pitchFamily="2" charset="0"/>
                </a:rPr>
                <a:t>How does Nubank scale it across the organization?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8B1431-273B-A67B-DD20-8D106A1BBFDD}"/>
                </a:ext>
              </a:extLst>
            </p:cNvPr>
            <p:cNvSpPr txBox="1"/>
            <p:nvPr/>
          </p:nvSpPr>
          <p:spPr>
            <a:xfrm>
              <a:off x="381000" y="3291797"/>
              <a:ext cx="3510000" cy="2117439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Define the strategic ambition, value chains, and mega-processes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Design the organizational architecture — pods, layers, and roles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Produce the AI-first operating model blueprint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Set the enterprise governance frame — AI standards and decision rights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37CBF7-8618-41AB-BA60-3CE9AACBBAD5}"/>
                </a:ext>
              </a:extLst>
            </p:cNvPr>
            <p:cNvSpPr txBox="1"/>
            <p:nvPr/>
          </p:nvSpPr>
          <p:spPr>
            <a:xfrm>
              <a:off x="4341000" y="3291797"/>
              <a:ext cx="3510000" cy="2117439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Develop the roles and capabilities the new model requires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Pilot 2–3 pod types across business and platform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Refine the model with evidence from the pilots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Equip leaders and teams to run the new model in practice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AE6120-2C43-B09A-5962-09F63E7C3363}"/>
                </a:ext>
              </a:extLst>
            </p:cNvPr>
            <p:cNvSpPr txBox="1"/>
            <p:nvPr/>
          </p:nvSpPr>
          <p:spPr>
            <a:xfrm>
              <a:off x="8301000" y="3291797"/>
              <a:ext cx="3510000" cy="1711174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Roll out across all four existing markets — BR, CO, MX, US and other developing ones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Adapt the model to each market's context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Sustain organization development as a continuous discipline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sz="1200" dirty="0"/>
                <a:t>Track and capture value as the rollout scales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CF5206-3B1F-E190-F2E3-00D251892691}"/>
                </a:ext>
              </a:extLst>
            </p:cNvPr>
            <p:cNvCxnSpPr>
              <a:cxnSpLocks/>
            </p:cNvCxnSpPr>
            <p:nvPr/>
          </p:nvCxnSpPr>
          <p:spPr>
            <a:xfrm>
              <a:off x="426000" y="5664639"/>
              <a:ext cx="342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E268B75-354D-2BCF-1B45-E9D7D344923C}"/>
                </a:ext>
              </a:extLst>
            </p:cNvPr>
            <p:cNvCxnSpPr>
              <a:cxnSpLocks/>
            </p:cNvCxnSpPr>
            <p:nvPr/>
          </p:nvCxnSpPr>
          <p:spPr>
            <a:xfrm>
              <a:off x="4386000" y="5664639"/>
              <a:ext cx="342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C4D343-AB5F-F84F-A7E4-98434FFBBEE7}"/>
                </a:ext>
              </a:extLst>
            </p:cNvPr>
            <p:cNvCxnSpPr>
              <a:cxnSpLocks/>
            </p:cNvCxnSpPr>
            <p:nvPr/>
          </p:nvCxnSpPr>
          <p:spPr>
            <a:xfrm>
              <a:off x="8346000" y="5664639"/>
              <a:ext cx="342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CE19A7-77EA-A75C-8493-63C117FAEF39}"/>
                </a:ext>
              </a:extLst>
            </p:cNvPr>
            <p:cNvSpPr/>
            <p:nvPr/>
          </p:nvSpPr>
          <p:spPr>
            <a:xfrm>
              <a:off x="1596000" y="5545123"/>
              <a:ext cx="1080000" cy="201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Graphik Medium" panose="020B0603030202060203" pitchFamily="34" charset="0"/>
                </a:rPr>
                <a:t>8 weeks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F396AD2-9C6F-0D73-FFD7-DF96C530D20E}"/>
                </a:ext>
              </a:extLst>
            </p:cNvPr>
            <p:cNvSpPr/>
            <p:nvPr/>
          </p:nvSpPr>
          <p:spPr>
            <a:xfrm>
              <a:off x="5556000" y="5545123"/>
              <a:ext cx="1080000" cy="201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Graphik Medium" panose="020B0603030202060203" pitchFamily="34" charset="0"/>
                </a:rPr>
                <a:t>12 weeks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2B0F00-B5E2-97F9-0B3D-12527B2C3F5A}"/>
                </a:ext>
              </a:extLst>
            </p:cNvPr>
            <p:cNvSpPr/>
            <p:nvPr/>
          </p:nvSpPr>
          <p:spPr>
            <a:xfrm>
              <a:off x="9099358" y="5545123"/>
              <a:ext cx="1913286" cy="201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Graphik Medium" panose="020B0603030202060203" pitchFamily="34" charset="0"/>
                </a:rPr>
                <a:t>6~12 months full rollout</a:t>
              </a:r>
            </a:p>
          </p:txBody>
        </p:sp>
        <p:pic>
          <p:nvPicPr>
            <p:cNvPr id="22" name="Graphic 21" descr="Test Dummy with solid fill">
              <a:extLst>
                <a:ext uri="{FF2B5EF4-FFF2-40B4-BE49-F238E27FC236}">
                  <a16:creationId xmlns:a16="http://schemas.microsoft.com/office/drawing/2014/main" id="{702066D6-A5D7-322C-392B-CA5950D62B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41000" y="1637527"/>
              <a:ext cx="360000" cy="360000"/>
            </a:xfrm>
            <a:prstGeom prst="rect">
              <a:avLst/>
            </a:prstGeom>
          </p:spPr>
        </p:pic>
        <p:pic>
          <p:nvPicPr>
            <p:cNvPr id="23" name="Graphic 22" descr="Rocket with solid fill">
              <a:extLst>
                <a:ext uri="{FF2B5EF4-FFF2-40B4-BE49-F238E27FC236}">
                  <a16:creationId xmlns:a16="http://schemas.microsoft.com/office/drawing/2014/main" id="{F1B7C1BB-C633-0DE3-A93D-317367F079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01000" y="1637527"/>
              <a:ext cx="360000" cy="360000"/>
            </a:xfrm>
            <a:prstGeom prst="rect">
              <a:avLst/>
            </a:prstGeom>
          </p:spPr>
        </p:pic>
        <p:pic>
          <p:nvPicPr>
            <p:cNvPr id="24" name="Graphic 23" descr="Blueprint with solid fill">
              <a:extLst>
                <a:ext uri="{FF2B5EF4-FFF2-40B4-BE49-F238E27FC236}">
                  <a16:creationId xmlns:a16="http://schemas.microsoft.com/office/drawing/2014/main" id="{FA7469A5-3AC3-18EC-AAB4-B83C5F659A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" y="1637527"/>
              <a:ext cx="360000" cy="360000"/>
            </a:xfrm>
            <a:prstGeom prst="rect">
              <a:avLst/>
            </a:prstGeom>
          </p:spPr>
        </p:pic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75568CD-EF8E-0385-DB94-0C5144F7ADC8}"/>
                </a:ext>
              </a:extLst>
            </p:cNvPr>
            <p:cNvSpPr/>
            <p:nvPr/>
          </p:nvSpPr>
          <p:spPr>
            <a:xfrm>
              <a:off x="8007369" y="5872480"/>
              <a:ext cx="137263" cy="11833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FBB1CA-2D04-1601-9F37-A760B5C37D52}"/>
                </a:ext>
              </a:extLst>
            </p:cNvPr>
            <p:cNvSpPr txBox="1"/>
            <p:nvPr/>
          </p:nvSpPr>
          <p:spPr>
            <a:xfrm>
              <a:off x="7522788" y="6042370"/>
              <a:ext cx="1106424" cy="38581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1"/>
                  </a:solidFill>
                  <a:latin typeface="+mj-lt"/>
                </a:rPr>
                <a:t>Nubank AI-first Org</a:t>
              </a:r>
              <a:r>
                <a:rPr lang="en-US" sz="1100">
                  <a:solidFill>
                    <a:schemeClr val="accent1"/>
                  </a:solidFill>
                  <a:latin typeface="+mj-lt"/>
                </a:rPr>
                <a:t>. </a:t>
              </a:r>
              <a:r>
                <a:rPr lang="en-US" sz="1100" dirty="0">
                  <a:solidFill>
                    <a:schemeClr val="accent1"/>
                  </a:solidFill>
                  <a:latin typeface="+mj-lt"/>
                </a:rPr>
                <a:t>Rollout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111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Graphik Medium</vt:lpstr>
      <vt:lpstr>GT Sectra Fine Rg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2026-05-26T14:56:30Z</dcterms:created>
  <dcterms:modified xsi:type="dcterms:W3CDTF">2026-05-26T14:56:30Z</dcterms:modified>
</cp:coreProperties>
</file>