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087DD-8E09-9BD9-56B1-D52B876EE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784F6-D2B9-429D-9552-B3468F800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4509B-4D9B-149B-665B-59B5CB54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25964-6B0C-EDA9-088B-5387871D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77CA4-A213-60EE-500D-202DE026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26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23E9-AB3A-3E0A-52F7-7978E1D9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E7244-6F53-9A95-B653-4B6E7D143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B26B2-19FE-9381-23CF-0B83F46C6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D95FE-F56D-897C-6495-71B9B2D2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CB10D-628D-2D00-29D8-4311DD3C4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22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E629-1914-4D53-0E77-C5FDDDBDB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33DB3F-33EA-0E76-A098-6901D28FF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DF5F8-5CB2-9599-9FA5-A3D8F214B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B5ED1-D93A-5158-9B49-B731ED85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27D5D-F77E-4BC9-A4E7-065AE0F9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637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1C788-2587-A4E7-09C7-703E669A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785C-89C1-589A-7054-F086BF2FF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CADAA-4954-34B8-C807-0F57EA0C8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08939-DB43-9C88-ED08-1A0BFA93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7B79A7-2A8B-30B7-117C-38336974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290B5-4834-4D0C-2F8C-1B2E0277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13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B0404-CF21-E713-E270-EBFAD3D26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C6CDD-5B7C-9136-E847-9184DB3E0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21524-5B71-5419-CEDB-1794A9A4D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01B700-4E26-4E40-4DF3-9A9E2D9197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CB2DD-8627-DAC8-B79F-C79A8D387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F411E-9E0E-5E5F-F7E3-B3B38FEF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AF618A-E1E6-58F7-8C62-E644AA73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0E0EB5-BA18-B8CB-7BEC-2487FB03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182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CE003-F326-FD57-B83A-32FD2A81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7FEB6-66F9-E60E-6FC0-7EC975E4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B10D8-6346-340D-1B38-88A0E2C01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37FA4-6DB4-B092-5090-3C567026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82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F896FF-6474-B7B9-0134-3DBBC45B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009FB-288F-C427-AD6D-5B171454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C9C4A-15DE-42C5-C2A9-2A38C4760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5758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B8736-3B41-04BF-B77B-F8488964F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482C-D2D6-6DB1-0B3D-843E01057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600EA-416F-D025-E9F4-6AF935A33E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D23D8-CF22-429A-9232-A529A391F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CE2AB-DCB6-855E-14E5-365EBD1D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18DEF9-E044-292C-2B7C-D644380A7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0174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6F62-7B70-C3EC-1F7A-DCD525C98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9B8C58-326B-B8B6-75E3-7E1D60257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5A9B2-BA99-5815-E3AF-E4E9DCE0E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F3F17-7884-2AC8-9A69-40ED3E7A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9982E-85F2-ADB7-F58A-B18E1E52D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ED497-551D-20AC-6050-D8A878A5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761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040EE-0257-0A4C-E567-764CB6449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273C6-F69C-0BCF-1E96-B8CFC85CF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E88D-344C-D149-5CE8-1E360669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500C2-827B-3B90-7E8E-A090D62D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28878-D900-5AF8-DB13-C4D958D6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823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32A9DD-3769-40CA-E458-8E06CB31A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9B45-FB35-A4C3-F6D3-954945346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2FB72-910B-3014-E790-D6916190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55D4C-F270-AFC6-EA3E-044990E5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6745A-21B8-82B6-ADB9-3297842C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222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B1FDE-1D04-F139-4BDD-E6A835EAF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5AE2E-B2F3-C0BA-CED7-6079E1CA7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E475-AB5C-F5CB-6C6B-3266C30214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FF7C7F-6C2F-47AB-9718-0D0A19BB2725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B5E7B-D960-EC3A-9833-7841FDAA9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F83CA-66BD-66EB-2739-024D1CC5F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1DB3D-5A50-4FB0-8E68-D44CBA97635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589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1C4F9FA-F3D8-97A7-8AFE-5A3FA9D3103F}"/>
              </a:ext>
            </a:extLst>
          </p:cNvPr>
          <p:cNvGrpSpPr/>
          <p:nvPr/>
        </p:nvGrpSpPr>
        <p:grpSpPr>
          <a:xfrm>
            <a:off x="0" y="1309862"/>
            <a:ext cx="12192000" cy="5099133"/>
            <a:chOff x="0" y="1309862"/>
            <a:chExt cx="12192000" cy="509913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537E2BF-D8CB-800C-583F-AADFAE0E1EF4}"/>
                </a:ext>
              </a:extLst>
            </p:cNvPr>
            <p:cNvSpPr txBox="1"/>
            <p:nvPr/>
          </p:nvSpPr>
          <p:spPr>
            <a:xfrm>
              <a:off x="461710" y="1309862"/>
              <a:ext cx="2743200" cy="22467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100" noProof="0" dirty="0">
                  <a:solidFill>
                    <a:srgbClr val="5B16D6"/>
                  </a:solidFill>
                  <a:latin typeface="Graphik Semibold"/>
                </a:rPr>
                <a:t>PESSOA FÍSICA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35AD998-F0E1-0F68-C178-80ED1F749E92}"/>
                </a:ext>
              </a:extLst>
            </p:cNvPr>
            <p:cNvSpPr txBox="1"/>
            <p:nvPr/>
          </p:nvSpPr>
          <p:spPr>
            <a:xfrm>
              <a:off x="432765" y="3618327"/>
              <a:ext cx="2743200" cy="22467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100" noProof="0" dirty="0">
                  <a:solidFill>
                    <a:srgbClr val="5B16D6"/>
                  </a:solidFill>
                  <a:latin typeface="Graphik Semibold"/>
                </a:rPr>
                <a:t>PESSOA JURÍDICA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1EB5AA5-B1DA-D7CE-3A74-0F15D562EDB5}"/>
                </a:ext>
              </a:extLst>
            </p:cNvPr>
            <p:cNvSpPr/>
            <p:nvPr/>
          </p:nvSpPr>
          <p:spPr>
            <a:xfrm>
              <a:off x="465359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8DBFBC4-2A97-F83B-9C1D-83AC65E99333}"/>
                </a:ext>
              </a:extLst>
            </p:cNvPr>
            <p:cNvSpPr txBox="1"/>
            <p:nvPr/>
          </p:nvSpPr>
          <p:spPr>
            <a:xfrm>
              <a:off x="513848" y="1561115"/>
              <a:ext cx="1369182" cy="517065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com Garantia de Investimentos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E9EB89-9D83-722C-A90E-D25A765FA158}"/>
                </a:ext>
              </a:extLst>
            </p:cNvPr>
            <p:cNvSpPr txBox="1"/>
            <p:nvPr/>
          </p:nvSpPr>
          <p:spPr>
            <a:xfrm>
              <a:off x="441041" y="3000308"/>
              <a:ext cx="1514797" cy="332399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Empréstimos com garantia de investimentos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3817215-78BF-255B-D2F4-016198CD4F2E}"/>
                </a:ext>
              </a:extLst>
            </p:cNvPr>
            <p:cNvSpPr/>
            <p:nvPr/>
          </p:nvSpPr>
          <p:spPr>
            <a:xfrm>
              <a:off x="2060075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F533CE4-9C6A-14F9-310E-63799845D661}"/>
                </a:ext>
              </a:extLst>
            </p:cNvPr>
            <p:cNvSpPr txBox="1"/>
            <p:nvPr/>
          </p:nvSpPr>
          <p:spPr>
            <a:xfrm>
              <a:off x="2108564" y="1561115"/>
              <a:ext cx="1369182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Resgate Express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D3D8675-CBDE-FE9E-A6DB-D64002CE65FE}"/>
                </a:ext>
              </a:extLst>
            </p:cNvPr>
            <p:cNvSpPr txBox="1"/>
            <p:nvPr/>
          </p:nvSpPr>
          <p:spPr>
            <a:xfrm>
              <a:off x="2104611" y="3000308"/>
              <a:ext cx="1377088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Antecipação do valor de resgates de fundos com liberação imediata 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31B8501-2130-89CF-3FAB-7310EF84C1B9}"/>
                </a:ext>
              </a:extLst>
            </p:cNvPr>
            <p:cNvSpPr/>
            <p:nvPr/>
          </p:nvSpPr>
          <p:spPr>
            <a:xfrm>
              <a:off x="3654793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D69203F-FE00-A81C-C3E5-FDBA69F0C073}"/>
                </a:ext>
              </a:extLst>
            </p:cNvPr>
            <p:cNvSpPr txBox="1"/>
            <p:nvPr/>
          </p:nvSpPr>
          <p:spPr>
            <a:xfrm>
              <a:off x="3703282" y="1561115"/>
              <a:ext cx="1369182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Investimento Ampliado XP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0B3CCF-5B9A-172B-C3D1-B5A0EAAAEAC8}"/>
                </a:ext>
              </a:extLst>
            </p:cNvPr>
            <p:cNvSpPr txBox="1"/>
            <p:nvPr/>
          </p:nvSpPr>
          <p:spPr>
            <a:xfrm>
              <a:off x="3699329" y="3000308"/>
              <a:ext cx="1377088" cy="332399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Linha para operações alavancadas na Bolsa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EAC89D-2A68-B6ED-BE45-D56C3B3A8285}"/>
                </a:ext>
              </a:extLst>
            </p:cNvPr>
            <p:cNvSpPr/>
            <p:nvPr/>
          </p:nvSpPr>
          <p:spPr>
            <a:xfrm>
              <a:off x="5228083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776D46-15D5-47E9-3C3E-6BE80D90B622}"/>
                </a:ext>
              </a:extLst>
            </p:cNvPr>
            <p:cNvSpPr txBox="1"/>
            <p:nvPr/>
          </p:nvSpPr>
          <p:spPr>
            <a:xfrm>
              <a:off x="5276572" y="1561115"/>
              <a:ext cx="1369182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Home </a:t>
              </a:r>
              <a:r>
                <a:rPr lang="pt-BR" sz="1000" noProof="0" dirty="0" err="1">
                  <a:solidFill>
                    <a:srgbClr val="000000"/>
                  </a:solidFill>
                  <a:latin typeface="Graphik Semibold"/>
                </a:rPr>
                <a:t>Equity</a:t>
              </a:r>
              <a:endParaRPr lang="pt-BR" sz="1000" noProof="0" dirty="0">
                <a:solidFill>
                  <a:srgbClr val="000000"/>
                </a:solidFill>
                <a:latin typeface="Graphik Semibold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6F1305-F6C4-2A30-DBC8-61ADD8423ACC}"/>
                </a:ext>
              </a:extLst>
            </p:cNvPr>
            <p:cNvSpPr txBox="1"/>
            <p:nvPr/>
          </p:nvSpPr>
          <p:spPr>
            <a:xfrm>
              <a:off x="5272619" y="3000308"/>
              <a:ext cx="1377088" cy="332399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Empréstimo com garantia de imóvel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BFFEF68-D0EF-D0C2-5CFB-780718CF41F8}"/>
                </a:ext>
              </a:extLst>
            </p:cNvPr>
            <p:cNvSpPr/>
            <p:nvPr/>
          </p:nvSpPr>
          <p:spPr>
            <a:xfrm>
              <a:off x="6822801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2B1C7C-1F4D-78D0-8F00-15BF72B518D0}"/>
                </a:ext>
              </a:extLst>
            </p:cNvPr>
            <p:cNvSpPr txBox="1"/>
            <p:nvPr/>
          </p:nvSpPr>
          <p:spPr>
            <a:xfrm>
              <a:off x="6871290" y="1561115"/>
              <a:ext cx="1369182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Pessoal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7833432-1395-4521-F135-013CCFA309A0}"/>
                </a:ext>
              </a:extLst>
            </p:cNvPr>
            <p:cNvSpPr txBox="1"/>
            <p:nvPr/>
          </p:nvSpPr>
          <p:spPr>
            <a:xfrm>
              <a:off x="6867337" y="3000308"/>
              <a:ext cx="1377088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Empréstimo pessoal com contratação 100% digital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6C8C51-BBDE-C51A-53AD-F488A7B81B0E}"/>
                </a:ext>
              </a:extLst>
            </p:cNvPr>
            <p:cNvSpPr/>
            <p:nvPr/>
          </p:nvSpPr>
          <p:spPr>
            <a:xfrm>
              <a:off x="8417518" y="1525913"/>
              <a:ext cx="1466160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40FD864-DF50-CE59-6B26-C9E9E2D6648E}"/>
                </a:ext>
              </a:extLst>
            </p:cNvPr>
            <p:cNvSpPr txBox="1"/>
            <p:nvPr/>
          </p:nvSpPr>
          <p:spPr>
            <a:xfrm>
              <a:off x="8466007" y="1561115"/>
              <a:ext cx="1369182" cy="517065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Consignado Privado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225E439-3C91-9C61-63DF-BC4F6C7BD455}"/>
                </a:ext>
              </a:extLst>
            </p:cNvPr>
            <p:cNvSpPr txBox="1"/>
            <p:nvPr/>
          </p:nvSpPr>
          <p:spPr>
            <a:xfrm>
              <a:off x="8462054" y="3000308"/>
              <a:ext cx="1377088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Crédito com desconto em folha para trabalhadores CLT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901AE0F-765D-3D4E-C55F-FEC797665030}"/>
                </a:ext>
              </a:extLst>
            </p:cNvPr>
            <p:cNvSpPr/>
            <p:nvPr/>
          </p:nvSpPr>
          <p:spPr>
            <a:xfrm>
              <a:off x="465359" y="3885082"/>
              <a:ext cx="1795881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52EDC8-7C66-03B5-C885-4CBD219EB7DA}"/>
                </a:ext>
              </a:extLst>
            </p:cNvPr>
            <p:cNvSpPr txBox="1"/>
            <p:nvPr/>
          </p:nvSpPr>
          <p:spPr>
            <a:xfrm>
              <a:off x="481242" y="3920285"/>
              <a:ext cx="1764115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com Garantia de Investimentos (PJ)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B8D7F34-E91D-A8D7-9C46-45E701FBAE22}"/>
                </a:ext>
              </a:extLst>
            </p:cNvPr>
            <p:cNvSpPr txBox="1"/>
            <p:nvPr/>
          </p:nvSpPr>
          <p:spPr>
            <a:xfrm>
              <a:off x="556799" y="5329440"/>
              <a:ext cx="1613001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Empréstimos para empresas com garantia de investimentos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FE1930-7D1F-05A7-E11C-ADA2D854AACA}"/>
                </a:ext>
              </a:extLst>
            </p:cNvPr>
            <p:cNvSpPr/>
            <p:nvPr/>
          </p:nvSpPr>
          <p:spPr>
            <a:xfrm>
              <a:off x="2370968" y="3885082"/>
              <a:ext cx="1795881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C205CE5-D184-AD8E-5FE1-78034CEE7BB5}"/>
                </a:ext>
              </a:extLst>
            </p:cNvPr>
            <p:cNvSpPr txBox="1"/>
            <p:nvPr/>
          </p:nvSpPr>
          <p:spPr>
            <a:xfrm>
              <a:off x="2386851" y="3920285"/>
              <a:ext cx="1764115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Antecipação de Recebíveis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D28D927-AB45-51DA-E50B-0AD654415DBE}"/>
                </a:ext>
              </a:extLst>
            </p:cNvPr>
            <p:cNvSpPr txBox="1"/>
            <p:nvPr/>
          </p:nvSpPr>
          <p:spPr>
            <a:xfrm>
              <a:off x="2462408" y="5329440"/>
              <a:ext cx="1613001" cy="332399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Antecipação de recebíveis e duplicatas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53753A-CD87-0CB4-89A7-6D6EE8F8C0D0}"/>
                </a:ext>
              </a:extLst>
            </p:cNvPr>
            <p:cNvSpPr/>
            <p:nvPr/>
          </p:nvSpPr>
          <p:spPr>
            <a:xfrm>
              <a:off x="4276578" y="3885082"/>
              <a:ext cx="1795881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402F23-71F6-F3FA-9585-1B7679CB81F2}"/>
                </a:ext>
              </a:extLst>
            </p:cNvPr>
            <p:cNvSpPr txBox="1"/>
            <p:nvPr/>
          </p:nvSpPr>
          <p:spPr>
            <a:xfrm>
              <a:off x="4292461" y="3920285"/>
              <a:ext cx="1764115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para Operações de Investimento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E0D2B2-D24A-1752-EC09-389942256DCA}"/>
                </a:ext>
              </a:extLst>
            </p:cNvPr>
            <p:cNvSpPr txBox="1"/>
            <p:nvPr/>
          </p:nvSpPr>
          <p:spPr>
            <a:xfrm>
              <a:off x="4368018" y="5329440"/>
              <a:ext cx="1613001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Financiamento de operações e oportunidades de investimento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9984B1A-691F-8B3F-3BD5-19E45B05446C}"/>
                </a:ext>
              </a:extLst>
            </p:cNvPr>
            <p:cNvSpPr/>
            <p:nvPr/>
          </p:nvSpPr>
          <p:spPr>
            <a:xfrm>
              <a:off x="6182187" y="3885082"/>
              <a:ext cx="1795881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4BE5B82-78C5-7D06-CBD5-CE39F5315CBD}"/>
                </a:ext>
              </a:extLst>
            </p:cNvPr>
            <p:cNvSpPr txBox="1"/>
            <p:nvPr/>
          </p:nvSpPr>
          <p:spPr>
            <a:xfrm>
              <a:off x="6198070" y="3920285"/>
              <a:ext cx="1764115" cy="517065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Crédito Corporativo, Estruturado e Project Finance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01C269-1329-0280-4D43-A295F054EE7C}"/>
                </a:ext>
              </a:extLst>
            </p:cNvPr>
            <p:cNvSpPr txBox="1"/>
            <p:nvPr/>
          </p:nvSpPr>
          <p:spPr>
            <a:xfrm>
              <a:off x="6192977" y="5329440"/>
              <a:ext cx="1774301" cy="6093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Soluções de crédito sob medida para empresas, projetos e estruturas complexas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ACADDA9-7A3C-05FB-61F0-AE10AD4F34C0}"/>
                </a:ext>
              </a:extLst>
            </p:cNvPr>
            <p:cNvSpPr/>
            <p:nvPr/>
          </p:nvSpPr>
          <p:spPr>
            <a:xfrm>
              <a:off x="8087797" y="3885082"/>
              <a:ext cx="1795881" cy="2015011"/>
            </a:xfrm>
            <a:prstGeom prst="rect">
              <a:avLst/>
            </a:prstGeom>
            <a:noFill/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9E4ED1A-8503-56BD-8500-659DA67A2D93}"/>
                </a:ext>
              </a:extLst>
            </p:cNvPr>
            <p:cNvSpPr txBox="1"/>
            <p:nvPr/>
          </p:nvSpPr>
          <p:spPr>
            <a:xfrm>
              <a:off x="8103680" y="3920285"/>
              <a:ext cx="1764115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Cessão e Securitização de Carteiras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D7AC82D-94E8-C222-2CFB-5EAD3A143E21}"/>
                </a:ext>
              </a:extLst>
            </p:cNvPr>
            <p:cNvSpPr txBox="1"/>
            <p:nvPr/>
          </p:nvSpPr>
          <p:spPr>
            <a:xfrm>
              <a:off x="8179237" y="5329440"/>
              <a:ext cx="1613001" cy="470898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900" noProof="0" dirty="0">
                  <a:solidFill>
                    <a:srgbClr val="000000"/>
                  </a:solidFill>
                  <a:latin typeface="Graphik"/>
                </a:rPr>
                <a:t>Estratégias para monetização de carteiras e gestão ativa de capital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3EA7FA25-70EE-648C-DB03-8B9862651F22}"/>
                </a:ext>
              </a:extLst>
            </p:cNvPr>
            <p:cNvSpPr/>
            <p:nvPr/>
          </p:nvSpPr>
          <p:spPr>
            <a:xfrm>
              <a:off x="10157999" y="2117054"/>
              <a:ext cx="1874519" cy="2851762"/>
            </a:xfrm>
            <a:prstGeom prst="roundRect">
              <a:avLst>
                <a:gd name="adj" fmla="val 7463"/>
              </a:avLst>
            </a:prstGeom>
            <a:solidFill>
              <a:srgbClr val="FDFBFF"/>
            </a:solidFill>
            <a:ln w="889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9F3C119-830B-67E5-85A7-2F21A93B5A4E}"/>
                </a:ext>
              </a:extLst>
            </p:cNvPr>
            <p:cNvSpPr txBox="1"/>
            <p:nvPr/>
          </p:nvSpPr>
          <p:spPr>
            <a:xfrm>
              <a:off x="10260869" y="2252964"/>
              <a:ext cx="165963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/>
              <a:r>
                <a:rPr lang="pt-BR" sz="1000" noProof="0" dirty="0">
                  <a:solidFill>
                    <a:srgbClr val="5B16D6"/>
                  </a:solidFill>
                  <a:latin typeface="Graphik Semibold"/>
                </a:rPr>
                <a:t>Características do Portfólio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0717BB-01A7-BDD5-4E2B-AC15350B77E2}"/>
                </a:ext>
              </a:extLst>
            </p:cNvPr>
            <p:cNvSpPr txBox="1"/>
            <p:nvPr/>
          </p:nvSpPr>
          <p:spPr>
            <a:xfrm>
              <a:off x="10252951" y="2754329"/>
              <a:ext cx="1648040" cy="2076707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noAutofit/>
            </a:bodyPr>
            <a:lstStyle/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pt-BR" sz="900" noProof="0" dirty="0">
                  <a:solidFill>
                    <a:srgbClr val="000000"/>
                  </a:solidFill>
                  <a:latin typeface="Graphik" panose="020B0503030202060203" pitchFamily="34" charset="0"/>
                </a:rPr>
                <a:t>Foco no cliente investidor</a:t>
              </a: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pt-BR" sz="900" noProof="0" dirty="0">
                  <a:solidFill>
                    <a:srgbClr val="000000"/>
                  </a:solidFill>
                  <a:latin typeface="Graphik" panose="020B0503030202060203" pitchFamily="34" charset="0"/>
                </a:rPr>
                <a:t>Predominância de operações com garantia</a:t>
              </a: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pt-BR" sz="900" noProof="0" dirty="0">
                  <a:solidFill>
                    <a:srgbClr val="000000"/>
                  </a:solidFill>
                  <a:latin typeface="Graphik" panose="020B0503030202060203" pitchFamily="34" charset="0"/>
                </a:rPr>
                <a:t>Experiência digital e assessorada</a:t>
              </a: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pt-BR" sz="900" noProof="0" dirty="0">
                  <a:solidFill>
                    <a:srgbClr val="000000"/>
                  </a:solidFill>
                  <a:latin typeface="Graphik" panose="020B0503030202060203" pitchFamily="34" charset="0"/>
                </a:rPr>
                <a:t>Soluções para PF e PJ em um só ecossistema</a:t>
              </a:r>
            </a:p>
            <a:p>
              <a:pPr marL="171450" indent="-17145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pt-BR" sz="900" noProof="0" dirty="0">
                  <a:solidFill>
                    <a:srgbClr val="000000"/>
                  </a:solidFill>
                  <a:latin typeface="Graphik" panose="020B0503030202060203" pitchFamily="34" charset="0"/>
                </a:rPr>
                <a:t>Portfólio em expansão e diversificação</a:t>
              </a:r>
            </a:p>
          </p:txBody>
        </p:sp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E462A6D3-8935-70A1-8E06-B996057D1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3098" y="2217597"/>
              <a:ext cx="680141" cy="591427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6E1CC2F-F6B5-7851-BF6C-1EA20DB68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0212" y="2185068"/>
              <a:ext cx="857569" cy="6564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41C6D572-35FC-64B8-9BED-F0E585C3D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3393" y="2131840"/>
              <a:ext cx="940369" cy="76294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6F72B15-9F6C-D553-1986-13A11607B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03555" y="2193940"/>
              <a:ext cx="1005426" cy="638741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5DFFA6E-1FE4-A4FB-36CC-602E5EF26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05489" y="2117053"/>
              <a:ext cx="1011341" cy="792514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5EF4262D-3C17-CD56-2950-7C04FC8A2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18351" y="2205768"/>
              <a:ext cx="792514" cy="615085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2429041-3935-45AC-7F40-F307560DF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AF7FE"/>
                </a:clrFrom>
                <a:clrTo>
                  <a:srgbClr val="FAF7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89573" y="4561072"/>
              <a:ext cx="940369" cy="567771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7FD6FDB2-804E-53A7-E17C-D9AA412B1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BF9FE"/>
                </a:clrFrom>
                <a:clrTo>
                  <a:srgbClr val="FBF9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007711" y="4546286"/>
              <a:ext cx="680141" cy="597342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98CE242D-A1D8-1718-EDA9-660057A2A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BF7FD"/>
                </a:clrFrom>
                <a:clrTo>
                  <a:srgbClr val="FBF7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68908" y="4546286"/>
              <a:ext cx="863484" cy="597342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25A8332E-DD71-2F79-E1AC-8149C73AD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BF7FD"/>
                </a:clrFrom>
                <a:clrTo>
                  <a:srgbClr val="FBF7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06312" y="4578815"/>
              <a:ext cx="999513" cy="532285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3108102A-BDA9-CF57-0061-7414D36A7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BF8FE"/>
                </a:clrFrom>
                <a:clrTo>
                  <a:srgbClr val="FBF8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574207" y="4564029"/>
              <a:ext cx="822085" cy="561856"/>
            </a:xfrm>
            <a:prstGeom prst="rect">
              <a:avLst/>
            </a:prstGeom>
          </p:spPr>
        </p:pic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339232D-A4C5-1240-E6FB-37B56522BABB}"/>
                </a:ext>
              </a:extLst>
            </p:cNvPr>
            <p:cNvSpPr/>
            <p:nvPr/>
          </p:nvSpPr>
          <p:spPr>
            <a:xfrm>
              <a:off x="0" y="6057900"/>
              <a:ext cx="12192000" cy="35109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400" b="1" dirty="0">
                  <a:solidFill>
                    <a:schemeClr val="bg1"/>
                  </a:solidFill>
                </a:rPr>
                <a:t>Como evoluir tecnicamente a arquitetura de crédito para evoluir o portfolio com melhor time-</a:t>
              </a:r>
              <a:r>
                <a:rPr lang="pt-BR" sz="1400" b="1" dirty="0" err="1">
                  <a:solidFill>
                    <a:schemeClr val="bg1"/>
                  </a:solidFill>
                </a:rPr>
                <a:t>to</a:t>
              </a:r>
              <a:r>
                <a:rPr lang="pt-BR" sz="1400" b="1" dirty="0">
                  <a:solidFill>
                    <a:schemeClr val="bg1"/>
                  </a:solidFill>
                </a:rPr>
                <a:t>-</a:t>
              </a:r>
              <a:r>
                <a:rPr lang="pt-BR" sz="1400" b="1" dirty="0" err="1">
                  <a:solidFill>
                    <a:schemeClr val="bg1"/>
                  </a:solidFill>
                </a:rPr>
                <a:t>market</a:t>
              </a:r>
              <a:r>
                <a:rPr lang="pt-BR" sz="1400" b="1" dirty="0">
                  <a:solidFill>
                    <a:schemeClr val="bg1"/>
                  </a:solidFill>
                </a:rPr>
                <a:t>, eficiência e mais resultados?</a:t>
              </a:r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9408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</vt:lpstr>
      <vt:lpstr>Graphik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2026-08-18T11:07:54Z</dcterms:created>
  <dcterms:modified xsi:type="dcterms:W3CDTF">2026-08-18T11:07:54Z</dcterms:modified>
</cp:coreProperties>
</file>